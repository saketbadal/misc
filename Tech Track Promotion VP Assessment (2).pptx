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minute (no Q&amp;A). Clock at end: 0:01. Thank the panel. Introduce yourself with both titles: AVP (corporate) and Senior Engineer &amp; Technical Lead for Fabric Platform Engineering (functional). Say the deck follows the eight ECDF parameters, then the Leadership Kompass behaviours, and closes with why you are ready for VP. Mention that every achievement has a linked evidence item they already have access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minutes (no Q&amp;A). Clock at end: 0:03. Set the scale before the evidence: 8-person team across three locations, Fabric as the bank's strategic Hybrid Cloud PaaS, 600+ applications and 200+ business teams (~30% of the estate). The point to land: decisions on this platform have bank-wide consequences, which is why the following evidence is divisional in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talk + 3 min Q&amp;A = 7 minutes. Clock at end: 0:10. Lead with ACM Segregation: the single shared hub managed Dev, UAT and Prod together, so any non-production change implemented on ACM-Prod put the 15+ production clusters (of 36 managed) at risk. You challenged that model and created separate ACM-Dev and ACM-UAT hubs. Then MLA (namespace-level visibility, move to GCP Cloud Logging, alerting and logging fixes) and Policy Standardization (70+ non-compliant policies, GitOps declarative workflow). Do not open evidence unless asked; when asked, the design doc shows the whole document here, the branching strategy section under Policy, and the evolved architecture under Designs. Close on the amber band: that is the Level 4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talk + 2.5 min Q&amp;A = 5 minutes. Clock at end: 0:15. Six achievements, so do not read them all. Tell one in depth (Developing Atharva, or the 5-day Ops training) and give one line each to the rest. Show the widening reach: own team, Business/Product/Architecture through demand ownership, Operations, graduates, and other divisions through the AI community. The "Team appreciation" email here is your own email appreciating the team; the Director's reply is the evidence under Operates.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talk + 2.5 min Q&amp;A = 5 minutes. Clock at end: 0:20. Tell the MD/Director briefing as a short story: who the stakeholders were, what the friction was, how you explained the OCP4 certificate workflow, and what changed. Then one line each on the 3-month degcpp1 escalation and the Prisma false-positive analysis, where you influenced the Architect to adopt both tracks (the platform default change is agreed but not yet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talk + 2.5 min Q&amp;A = 5 minutes. Clock at end: 0:25. For each item, name the obstacle and the business outcome it unlocked. NPA4: change freeze, 3-day window, 2-week Sentinel grace period secured by setting out the business risk, then blockers fixed (module downgrades, IP mapping logic, GitHub workflow failures). Vertex AI: AI development made possible inside regulatory constraints. Grafana: central monitoring achieved despite network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talk + 2.5 min Q&amp;A = 5 minutes. Clock at end: 0:30. CHECKPOINT: you should be finishing this slide at 0:30. If you are more than 3 minutes behind, plan to take Kompass 1-4 and 5-8 in 1 minute each. Here, talk about the technical design: independent control planes per hub, repo-level RBAC and merge validation pipelines, and ADR templates across 36 clusters. The strategic decision to segregate was covered under Thinks; if asked, open the design doc at the evolved architecture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talk + 3 min Q&amp;A = 7 minutes. Clock at end: 0:37. Spend most of the time on Bafir. It is your strongest hands-on story: the issue had persisted for 5 years and caused a 1% transaction drop rate. Explain what you personally did: mapped the full transaction path, ran tcpdump packet captures, compared the two network routes, found that the connection pool was exhausted under load, then recommended and validated the fix with the Bafir team. Then India Payments (compliant Fabric 2.0 in 4 months) and OCP4 (15+ production clusters, with the full plan-to-validation trail as evidence). Close on the amber band; that is the Level 4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talk + 2.5 min Q&amp;A = 5 minutes. Clock at end: 0:42. CHECKPOINT: you should be finishing this slide at 0:42. Structure it as restore, then prevent. Restore: the Artifactory secrets P1 (50+ applications) and the 2-day inonpp1a rebuild. Prevent: the Python regression modules that remove 6-8 hours of manual validation per cluster. If asked which appreciation relates to which incident, be ready to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2.5 min talk + 2.5 min Q&amp;A = 5 minutes. Clock at end: 0:47. Lead with CyberArk: shared root keys replaced with individual, auditable access. Then Ingress TLS hardening and port blocking: analysis, design and PoC are complete for all 600+ tenant applications, and the production rollout is in progress (say this plainly). Then credential monitoring remediation with coaching so the problem does not recur.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talk + 1 min Q&amp;A = 3 minutes. Clock at end: 0:50. If you are running behind, cover this slide in 1 minute: read the four behaviour names and give one example. Best example to tell: owning the inonpp1a incident and running a transparent post-mortem.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talk + 1 min Q&amp;A = 3 minutes. Clock at end: 0:53. If you are running behind, cover this slide in 1 minute. Best example to tell: silo breaking through the operations handover and hands-on training. Never cut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minutes (no Q&amp;A). Clock at end: 0:55. The remaining 5 minutes are buffer for overflow questions. Slow down. Name the three pillars, then deliver the closing statement word for word and stop. Thank the panel and invite any final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7FA"/>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822920"/>
            <a:ext cx="10769600" cy="292100"/>
          </a:xfrm>
          <a:prstGeom prst="rect">
            <a:avLst/>
          </a:prstGeom>
          <a:noFill/>
          <a:ln/>
        </p:spPr>
        <p:txBody>
          <a:bodyPr wrap="square" lIns="0" tIns="0" rIns="0" bIns="0" rtlCol="0" anchor="t"/>
          <a:lstStyle>
            <a:lvl1pPr algn="l" indent="0" marL="0">
              <a:lnSpc>
                <a:spcPct val="115000"/>
              </a:lnSpc>
              <a:buNone/>
              <a:defRPr lang="en-US" sz="2000" dirty="0">
                <a:solidFill>
                  <a:srgbClr val="0F4C81"/>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000" dirty="0"/>
          </a:p>
        </p:txBody>
      </p:sp>
      <p:sp>
        <p:nvSpPr>
          <p:cNvPr id="3" name="Text Placeholder 2"/>
          <p:cNvSpPr/>
          <p:nvPr>
            <p:ph idx="101" type="body"/>
          </p:nvPr>
        </p:nvSpPr>
        <p:spPr>
          <a:xfrm>
            <a:off x="711200" y="1419820"/>
            <a:ext cx="10668000" cy="4625380"/>
          </a:xfrm>
          <a:prstGeom prst="rect">
            <a:avLst/>
          </a:prstGeom>
          <a:noFill/>
          <a:ln/>
        </p:spPr>
        <p:txBody>
          <a:bodyPr wrap="square" lIns="0" tIns="0" rIns="0" bIns="0" rtlCol="0" anchor="t"/>
          <a:lstStyle>
            <a:lvl1pPr algn="l" indent="0" marL="0">
              <a:lnSpc>
                <a:spcPct val="140000"/>
              </a:lnSpc>
              <a:buNone/>
              <a:defRPr lang="en-US" sz="1600" dirty="0">
                <a:solidFill>
                  <a:srgbClr val="0F4C81"/>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7FA"/>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822920"/>
            <a:ext cx="10769600" cy="292100"/>
          </a:xfrm>
          <a:prstGeom prst="rect">
            <a:avLst/>
          </a:prstGeom>
          <a:noFill/>
          <a:ln/>
        </p:spPr>
        <p:txBody>
          <a:bodyPr wrap="square" lIns="0" tIns="0" rIns="0" bIns="0" rtlCol="0" anchor="t"/>
          <a:lstStyle>
            <a:lvl1pPr algn="l" indent="0" marL="0">
              <a:lnSpc>
                <a:spcPct val="115000"/>
              </a:lnSpc>
              <a:buNone/>
              <a:defRPr lang="en-US" sz="2000" dirty="0">
                <a:solidFill>
                  <a:srgbClr val="0F4C81"/>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000" dirty="0"/>
          </a:p>
        </p:txBody>
      </p:sp>
      <p:sp>
        <p:nvSpPr>
          <p:cNvPr id="3" name="Text Placeholder 2"/>
          <p:cNvSpPr/>
          <p:nvPr>
            <p:ph idx="101" type="body"/>
          </p:nvPr>
        </p:nvSpPr>
        <p:spPr>
          <a:xfrm>
            <a:off x="711200" y="1419820"/>
            <a:ext cx="10668000" cy="4625380"/>
          </a:xfrm>
          <a:prstGeom prst="rect">
            <a:avLst/>
          </a:prstGeom>
          <a:noFill/>
          <a:ln/>
        </p:spPr>
        <p:txBody>
          <a:bodyPr wrap="square" lIns="0" tIns="0" rIns="0" bIns="0" rtlCol="0" anchor="t"/>
          <a:lstStyle>
            <a:lvl1pPr algn="l" indent="0" marL="0">
              <a:lnSpc>
                <a:spcPct val="140000"/>
              </a:lnSpc>
              <a:buNone/>
              <a:defRPr lang="en-US" sz="1600" dirty="0">
                <a:solidFill>
                  <a:srgbClr val="0F4C81"/>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dbatlas.db.com/jira02/browse/HCLPDRM-35789" TargetMode="External"/><Relationship Id="rId2" Type="http://schemas.openxmlformats.org/officeDocument/2006/relationships/hyperlink" Target="https://confluence.intranet.db.com/spaces/Paas/pages/2075648241/Environment+Segregated+Multi-ACM+Design+Document" TargetMode="External"/><Relationship Id="rId3" Type="http://schemas.openxmlformats.org/officeDocument/2006/relationships/hyperlink" Target="https://deutschebank-my.sharepoint.com/:b:/r/personal/saket_badal_db_com/Documents/Saket/Other/Promotion%20Process/2026/ECDF/Thinks/ACM%20Segregation%20Strategy%20%28Phase-1%29/Multi%20ACM%20Setup.pdf?d=w96bf7f6fddcb4e269905107999257a00&amp;csf=1&amp;web=1&amp;e=N3DUgX" TargetMode="External"/><Relationship Id="rId4" Type="http://schemas.openxmlformats.org/officeDocument/2006/relationships/hyperlink" Target="https://deutschebank-my.sharepoint.com/:u:/r/personal/saket_badal_db_com/Documents/Saket/Other/Promotion%20Process/2026/ECDF/Thinks/ACM%20Segregation%20Strategy%20%28Phase-1%29/RE_%20Proposed%20ACM%20Segregation%20and%20ArgoCD%20Pipeline%20Improvements.eml?d=wf2a39e971ad4492d94fa28e8dc0c60d1&amp;csf=1&amp;web=1&amp;e=luQ0Uk" TargetMode="External"/><Relationship Id="rId5" Type="http://schemas.openxmlformats.org/officeDocument/2006/relationships/hyperlink" Target="https://dbatlas.db.com/jira02/browse/HCLPDRM-28931" TargetMode="External"/><Relationship Id="rId6" Type="http://schemas.openxmlformats.org/officeDocument/2006/relationships/hyperlink" Target="https://confluence.intranet.db.com/spaces/Paas/pages/1982025615/OpenShift+MELT+-+Metrics+Events+Logging+and+Tracing+AS-IS+Strategy" TargetMode="External"/><Relationship Id="rId7" Type="http://schemas.openxmlformats.org/officeDocument/2006/relationships/hyperlink" Target="https://dbatlas.db.com/jira02/browse/HCLPDRM-30786" TargetMode="External"/><Relationship Id="rId8" Type="http://schemas.openxmlformats.org/officeDocument/2006/relationships/hyperlink" Target="https://stash.gto.intranet.db.com:8081/projects/PAAS/repos/fabric-ocp4-policies-project-config/pull-requests/237/overview" TargetMode="External"/><Relationship Id="rId9" Type="http://schemas.openxmlformats.org/officeDocument/2006/relationships/hyperlink" Target="https://dbatlas.db.com/jira02/browse/HCLPDRM-39291" TargetMode="External"/><Relationship Id="rId10" Type="http://schemas.openxmlformats.org/officeDocument/2006/relationships/hyperlink" Target="https://dbatlas.db.com/jira02/browse/HCLPDRM-37732" TargetMode="External"/><Relationship Id="rId11" Type="http://schemas.openxmlformats.org/officeDocument/2006/relationships/hyperlink" Target="https://dbatlas.db.com/jira02/browse/HCLPDRM-40525" TargetMode="External"/><Relationship Id="rId12" Type="http://schemas.openxmlformats.org/officeDocument/2006/relationships/hyperlink" Target="https://dbatlas.db.com/jira02/browse/HCLPDRM-43232" TargetMode="External"/><Relationship Id="rId13" Type="http://schemas.openxmlformats.org/officeDocument/2006/relationships/hyperlink" Target="https://deutschebank-my.sharepoint.com/:u:/r/personal/saket_badal_db_com/Documents/Saket/Other/Promotion%20Process/2026/ECDF/Thinks/ACM%20Policy%20Reconcile%20and%20Platform%20Standardization/ACM-PRD%20Policy%20Reconciliation%20-%20Status%20Update%20and%20Next%20Steps.eml?d=wc565b549e14949839b55aae492eeccc9&amp;csf=1&amp;web=1&amp;e=WvPCAE" TargetMode="External"/><Relationship Id="rId14" Type="http://schemas.openxmlformats.org/officeDocument/2006/relationships/hyperlink" Target="https://dbatlas.db.com/jira02/browse/HCLPDRM-31204" TargetMode="External"/><Relationship Id="rId15" Type="http://schemas.openxmlformats.org/officeDocument/2006/relationships/hyperlink" Target="https://dbatlas.db.com/jira02/browse/HCLPDRM-31205" TargetMode="External"/><Relationship Id="rId16" Type="http://schemas.openxmlformats.org/officeDocument/2006/relationships/hyperlink" Target="https://dbatlas.db.com/jira02/browse/HCLPDRM-34144" TargetMode="External"/><Relationship Id="rId17" Type="http://schemas.openxmlformats.org/officeDocument/2006/relationships/hyperlink" Target="https://dbatlas.db.com/jira02/browse/HCLPDRM-28740" TargetMode="External"/><Relationship Id="rId18" Type="http://schemas.openxmlformats.org/officeDocument/2006/relationships/hyperlink" Target="https://dbatlas.db.com/jira02/browse/HCLPDRM-28733" TargetMode="External"/><Relationship Id="rId19" Type="http://schemas.openxmlformats.org/officeDocument/2006/relationships/hyperlink" Target="https://dbatlas.db.com/jira02/browse/HCLPDRM-28729" TargetMode="External"/><Relationship Id="rId20" Type="http://schemas.openxmlformats.org/officeDocument/2006/relationships/hyperlink" Target="https://dbatlas.db.com/jira02/browse/HCLPDRM-37179" TargetMode="External"/><Relationship Id="rId21" Type="http://schemas.openxmlformats.org/officeDocument/2006/relationships/hyperlink" Target="https://dbatlas.db.com/jira02/browse/HCLPDRM-37629" TargetMode="External"/><Relationship Id="rId22" Type="http://schemas.openxmlformats.org/officeDocument/2006/relationships/hyperlink" Target="https://confluence.intranet.db.com/spaces/Paas/pages/2075648241/Environment+Segregated+Multi-ACM+Design+Document" TargetMode="External"/><Relationship Id="rId23" Type="http://schemas.openxmlformats.org/officeDocument/2006/relationships/slideLayout" Target="../slideLayouts/slideLayout2.xml"/><Relationship Id="rId2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deutschebank-my.sharepoint.com/:b:/r/personal/saket_badal_db_com/Documents/Saket/Other/Promotion%20Process/2026/ECDF/Engages/Technical%20Leadership%20of%20Fabric%20Engineering%20Team/Sprint%20Velocity%20Chart%20-%20Fabric%20Team%20Board%20-%20Agile%20Board%20-%20Enterprise%20JIRA%20DataCenter.pdf?d=we0db573e24f1454cb520defc0e0fd359&amp;csf=1&amp;web=1&amp;e=6YMMp3" TargetMode="External"/><Relationship Id="rId2" Type="http://schemas.openxmlformats.org/officeDocument/2006/relationships/hyperlink" Target="https://deutschebank-my.sharepoint.com/:b:/r/personal/saket_badal_db_com/Documents/Saket/Other/Promotion%20Process/2026/ECDF/Engages/Technical%20Leadership%20of%20Fabric%20Engineering%20Team/Backlog%20Management%20-%20Fabric%20Team%20Board%20-%20Agile%20Board%20-%20Enterprise%20JIRA%20DataCenter.pdf?d=w58402246c6044a73a37dfd8be1b3c88b&amp;csf=1&amp;web=1&amp;e=nMjFQK" TargetMode="External"/><Relationship Id="rId3" Type="http://schemas.openxmlformats.org/officeDocument/2006/relationships/hyperlink" Target="https://deutschebank-my.sharepoint.com/:i:/r/personal/saket_badal_db_com/Documents/Saket/Other/Promotion%20Process/2026/ECDF/Engages/Technical%20Leadership%20of%20Fabric%20Engineering%20Team/Screenshot_6-10-2026_16546_whiteboard.cloud.microsoft.jpeg?d=w0ac2898e7b134f7aabaf97f2505620d&amp;csf=1&amp;web=1&amp;e=uHlTCB" TargetMode="External"/><Relationship Id="rId4" Type="http://schemas.openxmlformats.org/officeDocument/2006/relationships/hyperlink" Target="https://deutschebank-my.sharepoint.com/:u:/r/personal/saket_badal_db_com/Documents/Saket/Other/Promotion%20Process/2026/ECDF/Engages/Technical%20Leadership%20of%20Fabric%20Engineering%20Team/RE_%20Kudos%20to%20the%20team%21%20Sincere%20thanks%20for%20restoring%20the%20inonpp1a%20cluster.eml?d=w5e0ee3ff375d4eaf9df90a0789aa5829&amp;csf=1&amp;web=1&amp;e=y1X5hz" TargetMode="External"/><Relationship Id="rId5" Type="http://schemas.openxmlformats.org/officeDocument/2006/relationships/hyperlink" Target="https://deutschebank-my.sharepoint.com/:u:/r/personal/saket_badal_db_com/Documents/Saket/Other/Promotion%20Process/2026/ECDF/Engages/Technical%20Leadership%20of%20Fabric%20Engineering%20Team/FW_%20%5BTraining%20Opportunity%20Open%20for%20Everyone%5D%20Google%20Launchpad%20for%20Women%20-%20Generative%20AI%20Leader.eml?d=w5bb7bbde52ad46dd83518bd7f949cd78&amp;csf=1&amp;web=1&amp;e=TztAif" TargetMode="External"/><Relationship Id="rId6" Type="http://schemas.openxmlformats.org/officeDocument/2006/relationships/hyperlink" Target="https://deutschebank-my.sharepoint.com/:b:/r/personal/saket_badal_db_com/Documents/Saket/Other/Promotion%20Process/2026/ECDF/Engages/Engineering%20Demand%20Management%20Ownership/Fabric%20Demand%20Board%20-%20Aisyah%20-%20Agile%20Board%20-%20Enterprise%20JIRA%20DataCenter.pdf?d=w65f41197eacb4c01a619acc47ab1e153&amp;csf=1&amp;web=1&amp;e=oqLvwM" TargetMode="External"/><Relationship Id="rId7" Type="http://schemas.openxmlformats.org/officeDocument/2006/relationships/hyperlink" Target="https://deutschebank-my.sharepoint.com/:i:/r/personal/saket_badal_db_com/Documents/Saket/Other/Promotion%20Process/2026/ECDF/Engages/Engineering%20Demand%20Management%20Ownership/Meeting%20Invite.png?d=wb7d50d9e96fd4ec9bbd6e4bc21945358&amp;csf=1&amp;web=1&amp;e=4jAbYo" TargetMode="External"/><Relationship Id="rId8" Type="http://schemas.openxmlformats.org/officeDocument/2006/relationships/hyperlink" Target="https://deutschebank-my.sharepoint.com/:u:/r/personal/saket_badal_db_com/Documents/Saket/Other/Promotion%20Process/2026/ECDF/Engages/Engineering%20Demand%20Management%20Ownership/Re_%20__%20Dan%20-%20Your%20attention%20please%20__%20INC0030655524%20-%20Escalation.eml?d=wc813b4b4189e455583f2754f6656cb59&amp;csf=1&amp;web=1&amp;e=NjVyeL" TargetMode="External"/><Relationship Id="rId9" Type="http://schemas.openxmlformats.org/officeDocument/2006/relationships/hyperlink" Target="https://confluence.intranet.db.com/spaces/AIENABLED/pages/1921441993/AI+Community+Mentors" TargetMode="External"/><Relationship Id="rId10" Type="http://schemas.openxmlformats.org/officeDocument/2006/relationships/hyperlink" Target="https://deutschebank-my.sharepoint.com/:u:/r/personal/saket_badal_db_com/Documents/Saket/Other/Promotion%20Process/2026/ECDF/Engages/AI%20Community%20Mentor/Welcome%20New%20Community%20Mentors%21.eml?d=w560e6161ba994e63a320db497c3bc722&amp;csf=1&amp;web=1&amp;e=SgjYaC" TargetMode="External"/><Relationship Id="rId11" Type="http://schemas.openxmlformats.org/officeDocument/2006/relationships/hyperlink" Target="https://deutschebank-my.sharepoint.com/:u:/r/personal/saket_badal_db_com/Documents/Saket/Other/Promotion%20Process/2026/ECDF/Engages/AI%20Community%20Mentor/Welcome%20to%20the%20DB%20AI%20Engineer%20Mentors%20Program%20-%20Overview%20Call.eml?d=w66cf338ccb974651bc5a49177e9491e2&amp;csf=1&amp;web=1&amp;e=1AsUXA" TargetMode="External"/><Relationship Id="rId12" Type="http://schemas.openxmlformats.org/officeDocument/2006/relationships/hyperlink" Target="https://deutschebank-my.sharepoint.com/:u:/r/personal/saket_badal_db_com/Documents/Saket/Other/Promotion%20Process/2026/ECDF/Engages/AI%20Community%20Mentor/Re_%20DB%20AI%20Engineer%20Week%203%20Lab%20Issue%20-%20Claim%20Credentials%20Greyed%20Out.eml?d=w0163275b2272434c9c81117a0adf408b&amp;csf=1&amp;web=1&amp;e=yGU3sl" TargetMode="External"/><Relationship Id="rId13" Type="http://schemas.openxmlformats.org/officeDocument/2006/relationships/hyperlink" Target="https://deutschebank-my.sharepoint.com/:i:/r/personal/saket_badal_db_com/Documents/Saket/Other/Promotion%20Process/2026/ECDF/Engages/AI%20Community%20Mentor/Host%20-%20AI%20Community%20Mentor.png?d=w9a07375002844bdab3b7327b4600a65a&amp;csf=1&amp;web=1&amp;e=LfZMYy" TargetMode="External"/><Relationship Id="rId14" Type="http://schemas.openxmlformats.org/officeDocument/2006/relationships/hyperlink" Target="https://deutschebank-my.sharepoint.com/:p:/r/personal/saket_badal_db_com/Documents/Saket/Other/Promotion%20Process/2026/ECDF/Graduate%20%26%20Intern%20Hiring%20and%20Mentorship/DB%20GCP%20Landing%20Zone.pptx?d=w71ee138f8a4d4009bd6f1d8f87879f1b&amp;csf=1&amp;web=1&amp;e=q9euWa" TargetMode="External"/><Relationship Id="rId15" Type="http://schemas.openxmlformats.org/officeDocument/2006/relationships/hyperlink" Target="https://confluence.intranet.db.com/pages/diffpagesbyversion.action?pageId=1022386601&amp;selectedPageVersions=21&amp;selectedPageVersions=22" TargetMode="External"/><Relationship Id="rId16" Type="http://schemas.openxmlformats.org/officeDocument/2006/relationships/hyperlink" Target="https://confluence.intranet.db.com/spaces/AIPM/pages/1173057137/Global+Grad+Program+2023+-+Cloud+Architecture+GCP" TargetMode="External"/><Relationship Id="rId17" Type="http://schemas.openxmlformats.org/officeDocument/2006/relationships/hyperlink" Target="https://deutschebank-my.sharepoint.com/:u:/r/personal/saket_badal_db_com/Documents/Saket/Other/Promotion%20Process/2026/ECDF/Engages/Hands-on%20Training%20Session%20on%20Terraform%20,%20GitOps%20and%20argoCD/Training%20Session%20on%20Terraform,%20GitOps,%20and%20ArgoCD.eml?d=w38eedf503da444418cd316d54e48581b&amp;csf=1&amp;web=1&amp;e=VSM1wp" TargetMode="External"/><Relationship Id="rId18" Type="http://schemas.openxmlformats.org/officeDocument/2006/relationships/hyperlink" Target="https://deutschebank-my.sharepoint.com/:b:/r/personal/saket_badal_db_com/Documents/Saket/Other/Promotion%20Process/2026/ECDF/Engages/Hands-on%20Training%20Session%20on%20Terraform%20,%20GitOps%20and%20argoCD/Feedback%20Received.pdf?d=w44901f29152d4007bc5e4dbb06e81e07&amp;csf=1&amp;web=1&amp;e=evgJAx" TargetMode="External"/><Relationship Id="rId19" Type="http://schemas.openxmlformats.org/officeDocument/2006/relationships/hyperlink" Target="https://deutschebank-my.sharepoint.com/:x:/r/personal/saket_badal_db_com/Documents/Saket/Other/Promotion%20Process/2026/ECDF/Engages/Developing%20Graduate%20into%20Emerging%20Engineer/1-1%20%20Atharva.xlsx?d=w3be3c52c66394003a35b72f52d3e0585&amp;csf=1&amp;web=1&amp;e=YjuafZ" TargetMode="External"/><Relationship Id="rId20" Type="http://schemas.openxmlformats.org/officeDocument/2006/relationships/hyperlink" Target="https://deutschebank-my.sharepoint.com/:b:/r/personal/saket_badal_db_com/Documents/Saket/Other/Promotion%20Process/2026/ECDF/Engages/Developing%20Graduate%20into%20Emerging%20Engineer/Atharva%20-%20Enterprise%20JIRA%20DataCenter.pdf?d=w9be94686c8fb4fd58883e464b38741ac&amp;csf=1&amp;web=1&amp;e=i7kMFF" TargetMode="External"/><Relationship Id="rId21" Type="http://schemas.openxmlformats.org/officeDocument/2006/relationships/hyperlink" Target="https://deutschebank-my.sharepoint.com/:i:/r/personal/saket_badal_db_com/Documents/Saket/Other/Promotion%20Process/2026/ECDF/Engages/Developing%20Graduate%20into%20Emerging%20Engineer/Promotion%20Recommendation.png?d=w3c5ff8062f6840949b76205ef709da78&amp;csf=1&amp;web=1&amp;e=lAMALI" TargetMode="External"/><Relationship Id="rId22" Type="http://schemas.openxmlformats.org/officeDocument/2006/relationships/slideLayout" Target="../slideLayouts/slideLayout2.xml"/><Relationship Id="rId2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eutschebank-my.sharepoint.com/:u:/r/personal/saket_badal_db_com/Documents/Saket/Other/Promotion%20Process/2026/ECDF%20-%20Saket%20Badal/Influences/P1%20Certificate%20Workflow%20%E2%80%93%20MD%26%23x3a;Director%20Conflict%20Resolution%20During%20Critical%20Payment%20Incident/dbSIS%20Fabric%20certificate%20configuration.eml?d=w4b10ef0b757d4f79b88066a5629ed05d&amp;csf=1&amp;web=1&amp;e=p0v6ch" TargetMode="External"/><Relationship Id="rId2" Type="http://schemas.openxmlformats.org/officeDocument/2006/relationships/hyperlink" Target="https://deutschebank-my.sharepoint.com/:b:/r/personal/saket_badal_db_com/Documents/Saket/Other/Promotion%20Process/2026/ECDF%20-%20Saket%20Badal/Influences/P1%20Certificate%20Workflow%20%E2%80%93%20MD%26%23x3a;Director%20Conflict%20Resolution%20During%20Critical%20Payment%20Incident/Certificates%20in%20OCP4%20-%20Saket%20Badal%20-%20Confluence.pdf?d=wde7f7b16dd81485ba4ec38078d57bb04&amp;csf=1&amp;web=1&amp;e=mplCfL" TargetMode="External"/><Relationship Id="rId3" Type="http://schemas.openxmlformats.org/officeDocument/2006/relationships/hyperlink" Target="https://deutschebank-my.sharepoint.com/:u:/r/personal/saket_badal_db_com/Documents/Saket/Other/Promotion%20Process/2026/ECDF/Influences/P1%20Certificate%20Workflow%20%E2%80%93%20MD%26%23x3a;Director%20Conflict%20Resolution%20During%20Critical%20Payment%20Incident/Priority%201%20-%20PRB0152626_%20%5BParent%5D%20CB_Cash%20Management_Payments%20%26%20Cheques__%20MTNA%20US%20client%20payments%20to%20clearing%20missed%20FED%20cut-off%20deadline%2024%20April%202026%20-%20Root%20C.eml?d=w9875090cab024fb387adae11a53a3f74&amp;csf=1&amp;web=1&amp;e=xiRoOt" TargetMode="External"/><Relationship Id="rId4" Type="http://schemas.openxmlformats.org/officeDocument/2006/relationships/hyperlink" Target="https://deutschebank-my.sharepoint.com/:u:/r/personal/saket_badal_db_com/Documents/Saket/Other/Promotion%20Process/2026/ECDF/Influences/IPSec%20Production%20Remediation/Problem%20Call%239%20P3Cs%20INC0030255303_INC0030252469_INC0030252299-%20PRB0152671%20sDDA%20Data%20and%20sStatements%20impacted%20by%20Fabric%20degcpp1%20issue%20after%20platform%20change..eml?d=w4c0a8ba26dfe474a8c34bc39b7b1a2a4&amp;csf=1&amp;web=1&amp;e=m3RHA7" TargetMode="External"/><Relationship Id="rId5" Type="http://schemas.openxmlformats.org/officeDocument/2006/relationships/hyperlink" Target="https://deutschebank-my.sharepoint.com/:u:/r/personal/saket_badal_db_com/Documents/Saket/Other/Promotion%20Process/2026/ECDF%20-%20Saket%20Badal/Influences/IPSec%20Production%20Remediation/RE_%20---_%20Escalation_%20PRB0152671%20%E2%80%93%20Outstanding%20IPSec%20Remediation%20and%20Increasing%20Risk%20Exposure%20on%20degcpp1.eml?d=w410b9bbde5ac496cbaa6dcd0ef065f8c&amp;csf=1&amp;web=1&amp;e=gmNvSl" TargetMode="External"/><Relationship Id="rId6" Type="http://schemas.openxmlformats.org/officeDocument/2006/relationships/hyperlink" Target="https://dbatlas.db.com/jira02/browse/HCLPDRM-39680" TargetMode="External"/><Relationship Id="rId7" Type="http://schemas.openxmlformats.org/officeDocument/2006/relationships/hyperlink" Target="https://dbatlas.db.com/jira02/browse/HCLPDRM-39682" TargetMode="External"/><Relationship Id="rId8" Type="http://schemas.openxmlformats.org/officeDocument/2006/relationships/hyperlink" Target="https://dbatlas.db.com/jira02/browse/HCLPDRM-39709" TargetMode="External"/><Relationship Id="rId9" Type="http://schemas.openxmlformats.org/officeDocument/2006/relationships/hyperlink" Target="https://dbatlas.db.com/jira02/browse/HCLPDRM-39712" TargetMode="External"/><Relationship Id="rId10" Type="http://schemas.openxmlformats.org/officeDocument/2006/relationships/hyperlink" Target="https://deutschebank-my.sharepoint.com/:u:/r/personal/saket_badal_db_com/Documents/Saket/Other/Promotion%20Process/2026/ECDF/Influences/Prisma%20False%20Positive%20Guidance/Re_%20INC0030777772%20-%20Guidance%20Required-%20IPT%20Ticket%20dbwings_173181-1.eml?d=w2ad59982f0504c7cae38fd1140ce08be&amp;csf=1&amp;web=1&amp;e=Y0MqoX" TargetMode="External"/><Relationship Id="rId11" Type="http://schemas.openxmlformats.org/officeDocument/2006/relationships/slideLayout" Target="../slideLayouts/slideLayout2.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deutschebank-my.sharepoint.com/:u:/r/personal/saket_badal_db_com/Documents/Saket/Other/Promotion%20Process/2026/ECDF/Achieves/NPA4%20Landing%20Zone%20Migration/RE_%20Urgent_%20Landing%20Zone%20Migration%20Issue%20%E2%80%93%20Exception%20Required.eml?d=w671d7651001345d9a261b65b3dcf5ded&amp;csf=1&amp;web=1&amp;e=LB9nvZ" TargetMode="External"/><Relationship Id="rId2" Type="http://schemas.openxmlformats.org/officeDocument/2006/relationships/hyperlink" Target="https://dbunity.service-now.com/nav_to.do?uri=%2Fsc_task.do%3Fsys_id%3D599c316247183e104aacfd5a436d4375%26sysparm_stack%3D%26sysparm_view%3Dgenericworkrequest%26sysparm_view_forced%3Dtrue" TargetMode="External"/><Relationship Id="rId3" Type="http://schemas.openxmlformats.org/officeDocument/2006/relationships/hyperlink" Target="https://github.com/hr43-rsaw/lz-firewall-manual-gov-plugin/pull/71" TargetMode="External"/><Relationship Id="rId4" Type="http://schemas.openxmlformats.org/officeDocument/2006/relationships/hyperlink" Target="https://github.com/hr43-rsaw/lz-firewall-manual-gov-plugin/pull/64" TargetMode="External"/><Relationship Id="rId5" Type="http://schemas.openxmlformats.org/officeDocument/2006/relationships/hyperlink" Target="https://dbatlas.db.com/jira02/browse/HCLPDRM-24412" TargetMode="External"/><Relationship Id="rId6" Type="http://schemas.openxmlformats.org/officeDocument/2006/relationships/hyperlink" Target="https://dbatlas.db.com/jira02/browse/HCLPDRM-24129" TargetMode="External"/><Relationship Id="rId7" Type="http://schemas.openxmlformats.org/officeDocument/2006/relationships/hyperlink" Target="https://dbatlas.db.com/jira02/browse/HCLPDRM-27282" TargetMode="External"/><Relationship Id="rId8" Type="http://schemas.openxmlformats.org/officeDocument/2006/relationships/hyperlink" Target="https://grafana-open-cluster-management-observability.apps.ukgcpacm.acm-prd.fabric.gcp.db.com/d/2b679d600f3b9e7676a7c5ac3643d448/acm-clusters-overview?orgId=1&amp;from=now-3h&amp;to=now&amp;timezone=browser&amp;var-datasource=000000001&amp;var-acm_label_names=name&amp;var-value=$__all&amp;var-cluster=$__all&amp;refresh=5m" TargetMode="External"/><Relationship Id="rId9" Type="http://schemas.openxmlformats.org/officeDocument/2006/relationships/hyperlink" Target="https://deutschebank-my.sharepoint.com/:b:/r/personal/saket_badal_db_com/Documents/Saket/Other/Promotion%20Process/2026/ECDF/Achieves/Centralized%20Grafana%20Dashboard/ACM%20-%20Clusters%20Overview%20-%20Dashboards%20-%20Grafana.pdf?d=w94e75a0c37234772ab2a209b65c73a58&amp;csf=1&amp;web=1&amp;e=PG06ip" TargetMode="External"/><Relationship Id="rId10" Type="http://schemas.openxmlformats.org/officeDocument/2006/relationships/hyperlink" Target="https://dbatlas.db.com/jira02/browse/FABRIC-136" TargetMode="External"/><Relationship Id="rId11" Type="http://schemas.openxmlformats.org/officeDocument/2006/relationships/hyperlink" Target="https://dbatlas.db.com/jira02/browse/FABRIC-163" TargetMode="External"/><Relationship Id="rId12" Type="http://schemas.openxmlformats.org/officeDocument/2006/relationships/hyperlink" Target="https://dbatlas.db.com/jira02/browse/FABRIC-301" TargetMode="External"/><Relationship Id="rId13" Type="http://schemas.openxmlformats.org/officeDocument/2006/relationships/hyperlink" Target="https://dbatlas.db.com/jira02/browse/FABRIC-416" TargetMode="External"/><Relationship Id="rId14" Type="http://schemas.openxmlformats.org/officeDocument/2006/relationships/hyperlink" Target="https://github.com/hr43-rsaw/lz-156822-1-003-gcs-plugin/pull/3" TargetMode="External"/><Relationship Id="rId15" Type="http://schemas.openxmlformats.org/officeDocument/2006/relationships/hyperlink" Target="https://github.com/hr43-rsaw/lz-156822-1-003-kms-plugin/pull/8" TargetMode="External"/><Relationship Id="rId16" Type="http://schemas.openxmlformats.org/officeDocument/2006/relationships/slideLayout" Target="../slideLayouts/slideLayout2.xml"/><Relationship Id="rId1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onfluence.intranet.db.com/spaces/Paas/pages/2075648241/Environment+Segregated+Multi-ACM+Design+Document" TargetMode="External"/><Relationship Id="rId2" Type="http://schemas.openxmlformats.org/officeDocument/2006/relationships/hyperlink" Target="https://deutschebank-my.sharepoint.com/:p:/r/personal/saket_badal_db_com/Documents/Saket/Other/Promotion%20Process/2026/ECDF/Designs/Fabric%20Landing%20Zone%20Multi%20Repo%20Model/Sprint%201%20-%20MVP%20on%20GCP.pptx?d=w68fd181301ba4709b77882c0e7c0614a&amp;csf=1&amp;web=1&amp;e=VedNlS" TargetMode="External"/><Relationship Id="rId3" Type="http://schemas.openxmlformats.org/officeDocument/2006/relationships/hyperlink" Target="https://dbatlas.db.com/jira02/browse/FABRIC-76" TargetMode="External"/><Relationship Id="rId4" Type="http://schemas.openxmlformats.org/officeDocument/2006/relationships/hyperlink" Target="https://dbatlas.db.com/jira02/browse/FABRIC-110" TargetMode="External"/><Relationship Id="rId5" Type="http://schemas.openxmlformats.org/officeDocument/2006/relationships/hyperlink" Target="https://confluence.intranet.db.com/spaces/Paas/pages/1098924023/GCP+Projects" TargetMode="External"/><Relationship Id="rId6" Type="http://schemas.openxmlformats.org/officeDocument/2006/relationships/hyperlink" Target="https://dbatlas.db.com/jira02/browse/HCLPDRM-27951" TargetMode="External"/><Relationship Id="rId7" Type="http://schemas.openxmlformats.org/officeDocument/2006/relationships/hyperlink" Target="https://db-catalogue.intranet.db.com/docs/default/component/architecture-decision-record/infrastructure-adrs/content/service-adr/s-adr-fabric-on-gcp/" TargetMode="External"/><Relationship Id="rId8" Type="http://schemas.openxmlformats.org/officeDocument/2006/relationships/hyperlink" Target="https://deutschebank-my.sharepoint.com/:b:/r/personal/saket_badal_db_com/Documents/Saket/Other/Promotion%20Process/2026/ECDF/Designs/Fabric%20ADR%20Updates/S-ADR.pdf?d=wafe34161c0c94672a50591dd0226cd82&amp;csf=1&amp;web=1&amp;e=TAfjbQ" TargetMode="External"/><Relationship Id="rId9" Type="http://schemas.openxmlformats.org/officeDocument/2006/relationships/hyperlink" Target="https://db-catalogue.intranet.db.com/docs/default/component/architecture-decision-record/infrastructure-adrs/content/gti-telda/compute-and-storage-telda/foundation-adr/f-adr-fabric-on-gcp/" TargetMode="External"/><Relationship Id="rId10" Type="http://schemas.openxmlformats.org/officeDocument/2006/relationships/hyperlink" Target="https://deutschebank-my.sharepoint.com/:b:/r/personal/saket_badal_db_com/Documents/Saket/Other/Promotion%20Process/2026/ECDF/Designs/Fabric%20ADR%20Updates/F-ADR.pdf?d=wbc3ae855fb46462aaf2665de323f45a4&amp;csf=1&amp;web=1&amp;e=NiyzcE" TargetMode="External"/><Relationship Id="rId11" Type="http://schemas.openxmlformats.org/officeDocument/2006/relationships/slideLayout" Target="../slideLayouts/slideLayout2.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deutschebank-my.sharepoint.com/:i:/r/personal/saket_badal_db_com/Documents/Saket/Other/Promotion%20Process/2026/ECDF/Delivers/India%20Payments%20Data%20Localization/SDLC%20and%20India%20Payments%20Cluster%20Delivery-1.png?d=w1f74c0203d4a460bb3b950f1c0e55469&amp;csf=1&amp;web=1&amp;e=eK9xOb" TargetMode="External"/><Relationship Id="rId2" Type="http://schemas.openxmlformats.org/officeDocument/2006/relationships/hyperlink" Target="https://deutschebank-my.sharepoint.com/:i:/r/personal/saket_badal_db_com/Documents/Saket/Other/Promotion%20Process/2026/ECDF/Delivers/India%20Payments%20Data%20Localization/SDLC%20and%20India%20Payments%20Cluster%20Delivery-2.png?d=w59348decfe0d4bcfb5d6318a8460bcf4&amp;csf=1&amp;web=1&amp;e=sl0hmP" TargetMode="External"/><Relationship Id="rId3" Type="http://schemas.openxmlformats.org/officeDocument/2006/relationships/hyperlink" Target="https://deutschebank-my.sharepoint.com/:i:/r/personal/saket_badal_db_com/Documents/Saket/Other/Promotion%20Process/2026/ECDF/Delivers/India%20Payments%20Data%20Localization/SDLC%20and%20India%20Payments%20cluster%20delivery.png?d=wd340422a4af64fc6bbb0d15311523f07&amp;csf=1&amp;web=1&amp;e=qbVq4E" TargetMode="External"/><Relationship Id="rId4" Type="http://schemas.openxmlformats.org/officeDocument/2006/relationships/hyperlink" Target="https://deutschebank-my.sharepoint.com/:u:/r/personal/saket_badal_db_com/Documents/Saket/Other/Promotion%20Process/2026/ECDF/Delivers/5-Year%20Payment%20App%20Performance%20Resolution/FW_%20Above%20and%20beyond%20attitude%20-%20INC0029371826%20-%20Urgent%20Action%20Required_%20TCP%20Session%20Management%20Issue%20Impacting%20Bafir%20Application%20Performance%20-.eml?d=wd8e2e0e18106477b9a50de01b233be22&amp;csf=1&amp;web=1&amp;e=DvqBX3" TargetMode="External"/><Relationship Id="rId5" Type="http://schemas.openxmlformats.org/officeDocument/2006/relationships/hyperlink" Target="https://deutschebank-my.sharepoint.com/:u:/r/personal/saket_badal_db_com/Documents/Saket/Other/Promotion%20Process/2026/ECDF/Delivers/5-Year%20Payment%20App%20Performance%20Resolution/Re_%20ESCALATION%20-%20Re_%20%5BDB-CORP%5D-%20INC0029371826%20-Urgent%20Action%20Required_%20TCP%20Session%20Management%20Issue%20Impacting%20Bafir%20Application%20Performance.eml?d=w22bcf2631e6e477381580aac91405781&amp;csf=1&amp;web=1&amp;e=yJggLu" TargetMode="External"/><Relationship Id="rId6" Type="http://schemas.openxmlformats.org/officeDocument/2006/relationships/hyperlink" Target="https://deutschebank-my.sharepoint.com/:b:/r/personal/saket_badal_db_com/Documents/Saket/Other/Promotion%20Process/2026/ECDF/Delivers/OCP4%20Migration/On-premise%20OCP4%20Clusters%20-%20Red%20Hat%20OpenShift.pdf?d=w8ce0e36f48b14ca69eba07162eb90e99&amp;csf=1&amp;web=1&amp;e=vcQu7f" TargetMode="External"/><Relationship Id="rId7" Type="http://schemas.openxmlformats.org/officeDocument/2006/relationships/hyperlink" Target="https://confluence.intranet.db.com/spaces/Paas/pages/1157608608/Pre-requisites+for+Cluster+Build+On+Prem" TargetMode="External"/><Relationship Id="rId8" Type="http://schemas.openxmlformats.org/officeDocument/2006/relationships/hyperlink" Target="https://confluence.intranet.db.com/spaces/Paas/pages/1101156367/Cluster+Post-Build+Checklist" TargetMode="External"/><Relationship Id="rId9" Type="http://schemas.openxmlformats.org/officeDocument/2006/relationships/hyperlink" Target="https://confluence.intranet.db.com/pages/viewpage.action?spaceKey=Paas&amp;title=OCP4+Cluster+Build+-+On+Premises" TargetMode="External"/><Relationship Id="rId10" Type="http://schemas.openxmlformats.org/officeDocument/2006/relationships/hyperlink" Target="https://confluence.intranet.db.com/spaces/Paas/pages/1098930259/OCP+Clusters" TargetMode="External"/><Relationship Id="rId11" Type="http://schemas.openxmlformats.org/officeDocument/2006/relationships/hyperlink" Target="https://deutschebank-my.sharepoint.com/:u:/r/personal/saket_badal_db_com/Documents/Saket/Other/Promotion%20Process/2026/ECDF/Delivers/OCP4%20Migration/RE_%20Cluster%20Delivery%20Plan%20-%20ukonpd3a.eml?d=w83eed6701f944d68a748945755e7fb1d&amp;csf=1&amp;web=1&amp;e=HYXtPk" TargetMode="External"/><Relationship Id="rId12" Type="http://schemas.openxmlformats.org/officeDocument/2006/relationships/hyperlink" Target="https://deutschebank-my.sharepoint.com/:u:/r/personal/saket_badal_db_com/Documents/Saket/Other/Promotion%20Process/2026/ECDF/Delivers/OCP4%20Migration/RE_%20Cluster%20Status%20Update%20_%20deonpu1b.eml?d=w3edde8d51d06440cbb63d35031787574&amp;csf=1&amp;web=1&amp;e=6XGUhA" TargetMode="External"/><Relationship Id="rId13" Type="http://schemas.openxmlformats.org/officeDocument/2006/relationships/hyperlink" Target="https://deutschebank-my.sharepoint.com/:u:/r/personal/saket_badal_db_com/Documents/Saket/Other/Promotion%20Process/2026/ECDF/Delivers/OCP4%20Migration/RE_%20DE%20ONP%20PRD%20OCP4%20Prerequisites%20and%20Task%20Plan.eml?d=wab3d44757cba45e984482c5164f8ca31&amp;csf=1&amp;web=1&amp;e=XsbOik" TargetMode="External"/><Relationship Id="rId14" Type="http://schemas.openxmlformats.org/officeDocument/2006/relationships/hyperlink" Target="https://deutschebank-my.sharepoint.com/:u:/r/personal/saket_badal_db_com/Documents/Saket/Other/Promotion%20Process/2026/ECDF/Delivers/OCP4%20Migration/RE_%20Project%20Delivery%20Plan%20and%20Blockers%20%20-%20Regarding%20deonpd1a,%20deonpu1a%20and%20deonpu1b%20Clusters%20delivery.eml?d=wb7f84a4d1aef4137a3dfcf3f2bb9d019&amp;csf=1&amp;web=1&amp;e=rTaDZX" TargetMode="External"/><Relationship Id="rId15" Type="http://schemas.openxmlformats.org/officeDocument/2006/relationships/hyperlink" Target="https://deutschebank-my.sharepoint.com/:u:/r/personal/saket_badal_db_com/Documents/Saket/Other/Promotion%20Process/2026/ECDF/Delivers/OCP4%20Migration/RE_%20Status%20update%20for%20the%206%20on-prem%20clusters.eml?d=wc508935bcfd9427fa87d4cdda56f68c4&amp;csf=1&amp;web=1&amp;e=cOErnd" TargetMode="External"/><Relationship Id="rId16" Type="http://schemas.openxmlformats.org/officeDocument/2006/relationships/hyperlink" Target="https://deutschebank-my.sharepoint.com/:u:/r/personal/saket_badal_db_com/Documents/Saket/Other/Promotion%20Process/2026/ECDF/Delivers/OCP4%20Migration/Re_%20Appreciation%20for%20Saket%20.eml?d=w7b0f39f37fb747a1bfbdd95ca8e62446&amp;csf=1&amp;web=1&amp;e=St9KoH" TargetMode="External"/><Relationship Id="rId17" Type="http://schemas.openxmlformats.org/officeDocument/2006/relationships/hyperlink" Target="https://deutschebank-my.sharepoint.com/:i:/r/personal/saket_badal_db_com/Documents/Saket/Other/Promotion%20Process/2026/ECDF/Delivers/OCP4%20Migration/Feedback-Danny%20Lim.png?d=we9cfbddcb29043188947fbe8fe1f1e68&amp;csf=1&amp;web=1&amp;e=lbCJYA" TargetMode="External"/><Relationship Id="rId18" Type="http://schemas.openxmlformats.org/officeDocument/2006/relationships/hyperlink" Target="https://deutschebank-my.sharepoint.com/:i:/r/personal/saket_badal_db_com/Documents/Saket/Other/Promotion%20Process/2026/ECDF/Delivers/OCP4%20Migration/Feedback-Pallavi.png?d=wd664eadef80842bd9dc548a4688f31ce&amp;csf=1&amp;web=1&amp;e=MBKLIn" TargetMode="External"/><Relationship Id="rId19" Type="http://schemas.openxmlformats.org/officeDocument/2006/relationships/slideLayout" Target="../slideLayouts/slideLayout2.xml"/><Relationship Id="rId2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eutschebank-my.sharepoint.com/:u:/r/personal/saket_badal_db_com/Documents/Saket/Other/Promotion%20Process/2026/ECDF/Operates/P1%20Incident%20Management/A%20heartfelt%20thank%20you%20for%20your%20outstanding%20effort%20over%20the%20weekend.eml?d=wa8214bd3d1dd40fab849621390ee3c2a&amp;csf=1&amp;web=1&amp;e=c9hgCg" TargetMode="External"/><Relationship Id="rId2" Type="http://schemas.openxmlformats.org/officeDocument/2006/relationships/hyperlink" Target="https://deutschebank-my.sharepoint.com/:u:/r/personal/saket_badal_db_com/Documents/Saket/Other/Promotion%20Process/2026/ECDF/Operates/P1%20Incident%20Management/Re_%20Good%20work%20team-%20Appreciation%20.eml?d=we95ad49d20484e2294f700c30ca0894d&amp;csf=1&amp;web=1&amp;e=bViNTh" TargetMode="External"/><Relationship Id="rId3" Type="http://schemas.openxmlformats.org/officeDocument/2006/relationships/hyperlink" Target="https://deutschebank-my.sharepoint.com/:i:/r/personal/saket_badal_db_com/Documents/Saket/Other/Promotion%20Process/2026/ECDF/Operates/P1%20Incident%20Management/Appreciation%20-%20Danny.png?d=w947c8caa79504bb4be09347b9f665e85&amp;csf=1&amp;web=1&amp;e=qVB104" TargetMode="External"/><Relationship Id="rId4" Type="http://schemas.openxmlformats.org/officeDocument/2006/relationships/hyperlink" Target="https://deutschebank-my.sharepoint.com/:i:/r/personal/saket_badal_db_com/Documents/Saket/Other/Promotion%20Process/2026/ECDF/Operates/P1%20Incident%20Management/Appreciation%20-%20Paul.png?d=wcf15fe907a2f437fb3a696c29e6993e7&amp;csf=1&amp;web=1&amp;e=SpcMMQ" TargetMode="External"/><Relationship Id="rId5" Type="http://schemas.openxmlformats.org/officeDocument/2006/relationships/hyperlink" Target="https://deutschebank-my.sharepoint.com/:u:/r/personal/saket_badal_db_com/Documents/Saket/Other/Promotion%20Process/2026/ECDF/Operates/Emergency%20Cluster%20Redeployment/RE_%20Kudos%20to%20the%20team%21%20Sincere%20thanks%20for%20restoring%20the%20inonpp1a%20cluster.eml?d=w8bf882a7a4c6488e8652717827276743&amp;csf=1&amp;web=1&amp;e=XR9cIu" TargetMode="External"/><Relationship Id="rId6" Type="http://schemas.openxmlformats.org/officeDocument/2006/relationships/hyperlink" Target="https://dbatlas.db.com/jira02/browse/FABRIC-2234" TargetMode="External"/><Relationship Id="rId7" Type="http://schemas.openxmlformats.org/officeDocument/2006/relationships/hyperlink" Target="https://dbatlas.db.com/jira02/browse/FABRIC-2237" TargetMode="External"/><Relationship Id="rId8" Type="http://schemas.openxmlformats.org/officeDocument/2006/relationships/hyperlink" Target="https://dbatlas.db.com/jira02/browse/FABRIC-2254" TargetMode="External"/><Relationship Id="rId9" Type="http://schemas.openxmlformats.org/officeDocument/2006/relationships/hyperlink" Target="https://dbatlas.db.com/jira02/browse/FABRIC-2236" TargetMode="External"/><Relationship Id="rId10" Type="http://schemas.openxmlformats.org/officeDocument/2006/relationships/hyperlink" Target="https://dbatlas.db.com/jira02/browse/FABRIC-2238" TargetMode="External"/><Relationship Id="rId11" Type="http://schemas.openxmlformats.org/officeDocument/2006/relationships/hyperlink" Target="https://stash.gto.intranet.db.com:8081/projects/PAAS/repos/fabric-ocp4-regression-tests/pull-requests/31/overview" TargetMode="External"/><Relationship Id="rId12" Type="http://schemas.openxmlformats.org/officeDocument/2006/relationships/slideLayout" Target="../slideLayouts/slideLayout2.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eutschebank-my.sharepoint.com/:i:/r/personal/saket_badal_db_com/Documents/Saket/Other/Promotion%20Process/2026/ECDF/Controls/ACM%20Remediation/Coaching%20Screenshot_7-10-2026_122649_whiteboard.cloud.microsoft.jpeg?d=wa2a0f142492347fd89710251489a3a2a&amp;csf=1&amp;web=1&amp;e=u4UjOg" TargetMode="External"/><Relationship Id="rId2" Type="http://schemas.openxmlformats.org/officeDocument/2006/relationships/hyperlink" Target="https://deutschebank-my.sharepoint.com/:i:/r/personal/saket_badal_db_com/Documents/Saket/Other/Promotion%20Process/2026/ECDF/Controls/ACM%20Remediation/ACM%20Remediation%20-%20Screenshot%202026-10-07%20at%2012.29.45%E2%80%AFPM.png?d=w88a2a5d25ce14a58a475cf582e4df004&amp;csf=1&amp;web=1&amp;e=EdK8L7" TargetMode="External"/><Relationship Id="rId3" Type="http://schemas.openxmlformats.org/officeDocument/2006/relationships/hyperlink" Target="https://dbatlas.db.com/jira02/browse/HCLPDRM-38126" TargetMode="External"/><Relationship Id="rId4" Type="http://schemas.openxmlformats.org/officeDocument/2006/relationships/hyperlink" Target="https://dbatlas.db.com/jira02/browse/HCLPDRM-29405" TargetMode="External"/><Relationship Id="rId5" Type="http://schemas.openxmlformats.org/officeDocument/2006/relationships/hyperlink" Target="https://dbatlas.db.com/jira02/browse/FABRIC-627" TargetMode="External"/><Relationship Id="rId6" Type="http://schemas.openxmlformats.org/officeDocument/2006/relationships/hyperlink" Target="https://dbatlas.db.com/jira02/browse/FABRIC-753" TargetMode="External"/><Relationship Id="rId7" Type="http://schemas.openxmlformats.org/officeDocument/2006/relationships/hyperlink" Target="https://confluence.intranet.db.com/spaces/Paas/pages/1473979250/How+to+ssh+on+VM+through+cyberark+process+for+OCP+4+clusters" TargetMode="External"/><Relationship Id="rId8" Type="http://schemas.openxmlformats.org/officeDocument/2006/relationships/hyperlink" Target="https://deutschebank-my.sharepoint.com/:u:/r/personal/saket_badal_db_com/Documents/Saket/Other/Promotion%20Process/2026/ECDF/Controls/APT%20Security%20Findings/RE_%20Technical%20Guidance%20Required_%20TLS%20Configuration%20%26%20Open%20Ports%20Findings%20%28UAT%20APT%20Test%29%20-%20Versana.eml?d=wbc55e29c67f246feac6ce6788370f80c&amp;csf=1&amp;web=1&amp;e=oxT8Kf" TargetMode="External"/><Relationship Id="rId9" Type="http://schemas.openxmlformats.org/officeDocument/2006/relationships/hyperlink" Target="https://dbatlas.db.com/jira02/browse/HCLPDRM-41763" TargetMode="External"/><Relationship Id="rId10" Type="http://schemas.openxmlformats.org/officeDocument/2006/relationships/hyperlink" Target="https://dbatlas.db.com/jira02/browse/HCLPDRM-41765" TargetMode="External"/><Relationship Id="rId11" Type="http://schemas.openxmlformats.org/officeDocument/2006/relationships/hyperlink" Target="https://dbatlas.db.com/jira02/browse/HCLPDRM-41766" TargetMode="External"/><Relationship Id="rId12" Type="http://schemas.openxmlformats.org/officeDocument/2006/relationships/hyperlink" Target="https://dbatlas.db.com/jira02/browse/HCLPDRM-41767" TargetMode="External"/><Relationship Id="rId13" Type="http://schemas.openxmlformats.org/officeDocument/2006/relationships/hyperlink" Target="https://dbatlas.db.com/jira02/browse/HCLPDRM-40223" TargetMode="External"/><Relationship Id="rId14" Type="http://schemas.openxmlformats.org/officeDocument/2006/relationships/hyperlink" Target="https://dbatlas.db.com/jira02/browse/HCLPDRM-40514" TargetMode="External"/><Relationship Id="rId15" Type="http://schemas.openxmlformats.org/officeDocument/2006/relationships/hyperlink" Target="https://dbatlas.db.com/jira02/browse/HCLPDRM-40515" TargetMode="External"/><Relationship Id="rId16" Type="http://schemas.openxmlformats.org/officeDocument/2006/relationships/hyperlink" Target="https://dbatlas.db.com/jira02/browse/HCLPDRM-40516" TargetMode="External"/><Relationship Id="rId17" Type="http://schemas.openxmlformats.org/officeDocument/2006/relationships/hyperlink" Target="https://dbatlas.db.com/jira02/browse/HCLPDRM-40517" TargetMode="External"/><Relationship Id="rId18" Type="http://schemas.openxmlformats.org/officeDocument/2006/relationships/slideLayout" Target="../slideLayouts/slideLayout2.xml"/><Relationship Id="rId1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deutschebank-my.sharepoint.com/:u:/r/personal/saket_badal_db_com/Documents/Saket/Other/Promotion%20Process/2026/ECDF/Engages/Technical%20Leadership%20of%20Fabric%20Engineering%20Team/RE_%20Kudos%20to%20the%20team%21%20Sincere%20thanks%20for%20restoring%20the%20inonpp1a%20cluster.eml?d=w5e0ee3ff375d4eaf9df90a0789aa5829&amp;csf=1&amp;web=1&amp;e=y1X5hz" TargetMode="External"/><Relationship Id="rId2" Type="http://schemas.openxmlformats.org/officeDocument/2006/relationships/hyperlink" Target="https://deutschebank-my.sharepoint.com/:x:/r/personal/saket_badal_db_com/Documents/Saket/Other/Promotion%20Process/2026/ECDF/Engages/Developing%20Graduate%20into%20Emerging%20Engineer/1-1%20%20Atharva.xlsx?d=w3be3c52c66394003a35b72f52d3e0585&amp;csf=1&amp;web=1&amp;e=YjuafZ" TargetMode="External"/><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deutschebank-my.sharepoint.com/:b:/r/personal/saket_badal_db_com/Documents/Saket/Other/Promotion%20Process/2026/ECDF/Engages/Engineering%20Demand%20Management%20Ownership/Fabric%20Demand%20Board%20-%20Aisyah%20-%20Agile%20Board%20-%20Enterprise%20JIRA%20DataCenter.pdf?d=w65f41197eacb4c01a619acc47ab1e153&amp;csf=1&amp;web=1&amp;e=oqLvwM" TargetMode="External"/><Relationship Id="rId2" Type="http://schemas.openxmlformats.org/officeDocument/2006/relationships/hyperlink" Target="https://deutschebank-my.sharepoint.com/:b:/r/personal/saket_badal_db_com/Documents/Saket/Other/Promotion%20Process/2026/ECDF/Engages/Hands-on%20Training%20Session%20on%20Terraform%20,%20GitOps%20and%20argoCD/Feedback%20Received.pdf?d=w44901f29152d4007bc5e4dbb06e81e07&amp;csf=1&amp;web=1&amp;e=evgJAx" TargetMode="External"/><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81"/>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0A458"/>
          </a:solidFill>
          <a:ln/>
        </p:spPr>
      </p:sp>
      <p:sp>
        <p:nvSpPr>
          <p:cNvPr id="3" name="Text 1"/>
          <p:cNvSpPr/>
          <p:nvPr/>
        </p:nvSpPr>
        <p:spPr>
          <a:xfrm>
            <a:off x="1016000" y="812800"/>
            <a:ext cx="10674096"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0A458"/>
                </a:solidFill>
                <a:latin typeface="IBM Plex Sans" pitchFamily="34" charset="0"/>
                <a:ea typeface="IBM Plex Sans" pitchFamily="34" charset="-122"/>
                <a:cs typeface="IBM Plex Sans" pitchFamily="34" charset="-120"/>
              </a:rPr>
              <a:t>TECH TRACK PROMOTION</a:t>
            </a:r>
            <a:endParaRPr lang="en-US" sz="1200" dirty="0"/>
          </a:p>
        </p:txBody>
      </p:sp>
      <p:sp>
        <p:nvSpPr>
          <p:cNvPr id="4" name="Text 2"/>
          <p:cNvSpPr/>
          <p:nvPr>
            <p:ph type="title"/>
          </p:nvPr>
        </p:nvSpPr>
        <p:spPr>
          <a:xfrm>
            <a:off x="1016000" y="2257227"/>
            <a:ext cx="10674096" cy="612114"/>
          </a:xfrm>
          <a:prstGeom prst="rect">
            <a:avLst/>
          </a:prstGeom>
          <a:noFill/>
          <a:ln/>
        </p:spPr>
        <p:txBody>
          <a:bodyPr wrap="square" lIns="0" tIns="0" rIns="0" bIns="0" rtlCol="0" anchor="t">
            <a:normAutofit/>
          </a:bodyPr>
          <a:lstStyle/>
          <a:p>
            <a:pPr algn="l" indent="0" marL="0">
              <a:lnSpc>
                <a:spcPts val="4620"/>
              </a:lnSpc>
              <a:buNone/>
            </a:pPr>
            <a:r>
              <a:rPr lang="en-US" sz="4400" b="1" i="0" dirty="0">
                <a:solidFill>
                  <a:srgbClr val="F5F7FA"/>
                </a:solidFill>
                <a:latin typeface="IBM Plex Sans" pitchFamily="34" charset="0"/>
                <a:ea typeface="IBM Plex Sans" pitchFamily="34" charset="-122"/>
                <a:cs typeface="IBM Plex Sans" pitchFamily="34" charset="-120"/>
              </a:rPr>
              <a:t>VP Assessment</a:t>
            </a:r>
            <a:endParaRPr lang="en-US" sz="4400" dirty="0"/>
          </a:p>
        </p:txBody>
      </p:sp>
      <p:sp>
        <p:nvSpPr>
          <p:cNvPr id="5" name="Text 3"/>
          <p:cNvSpPr/>
          <p:nvPr/>
        </p:nvSpPr>
        <p:spPr>
          <a:xfrm>
            <a:off x="1016000" y="3047140"/>
            <a:ext cx="10674096"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D6E2EE"/>
                </a:solidFill>
                <a:latin typeface="IBM Plex Sans" pitchFamily="34" charset="0"/>
                <a:ea typeface="IBM Plex Sans" pitchFamily="34" charset="-122"/>
                <a:cs typeface="IBM Plex Sans" pitchFamily="34" charset="-120"/>
              </a:rPr>
              <a:t>Candidate: </a:t>
            </a:r>
            <a:r>
              <a:rPr lang="en-US" sz="2000" b="1" dirty="0">
                <a:solidFill>
                  <a:srgbClr val="D6E2EE"/>
                </a:solidFill>
                <a:latin typeface="IBM Plex Sans" pitchFamily="34" charset="0"/>
                <a:ea typeface="IBM Plex Sans" pitchFamily="34" charset="-122"/>
                <a:cs typeface="IBM Plex Sans" pitchFamily="34" charset="-120"/>
              </a:rPr>
              <a:t>Saket Badal</a:t>
            </a:r>
            <a:endParaRPr lang="en-US" sz="2000" dirty="0"/>
          </a:p>
        </p:txBody>
      </p:sp>
      <p:sp>
        <p:nvSpPr>
          <p:cNvPr id="6" name="Shape 4"/>
          <p:cNvSpPr/>
          <p:nvPr/>
        </p:nvSpPr>
        <p:spPr>
          <a:xfrm>
            <a:off x="1016000" y="4611688"/>
            <a:ext cx="10363200" cy="0"/>
          </a:xfrm>
          <a:prstGeom prst="line">
            <a:avLst/>
          </a:prstGeom>
          <a:noFill/>
          <a:ln w="6350">
            <a:solidFill>
              <a:srgbClr val="4A7AA6"/>
            </a:solidFill>
            <a:prstDash val="solid"/>
          </a:ln>
        </p:spPr>
      </p:sp>
      <p:sp>
        <p:nvSpPr>
          <p:cNvPr id="7" name="Text 5"/>
          <p:cNvSpPr/>
          <p:nvPr/>
        </p:nvSpPr>
        <p:spPr>
          <a:xfrm>
            <a:off x="1016000" y="4815946"/>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0A458"/>
                </a:solidFill>
                <a:latin typeface="IBM Plex Sans" pitchFamily="34" charset="0"/>
                <a:ea typeface="IBM Plex Sans" pitchFamily="34" charset="-122"/>
                <a:cs typeface="IBM Plex Sans" pitchFamily="34" charset="-120"/>
              </a:rPr>
              <a:t>CORPORATE TITLE</a:t>
            </a:r>
            <a:endParaRPr lang="en-US" sz="1200" dirty="0"/>
          </a:p>
        </p:txBody>
      </p:sp>
      <p:sp>
        <p:nvSpPr>
          <p:cNvPr id="8" name="Text 6"/>
          <p:cNvSpPr/>
          <p:nvPr/>
        </p:nvSpPr>
        <p:spPr>
          <a:xfrm>
            <a:off x="1016000" y="5080066"/>
            <a:ext cx="523240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7FA"/>
                </a:solidFill>
                <a:latin typeface="IBM Plex Sans" pitchFamily="34" charset="0"/>
                <a:ea typeface="IBM Plex Sans" pitchFamily="34" charset="-122"/>
                <a:cs typeface="IBM Plex Sans" pitchFamily="34" charset="-120"/>
              </a:rPr>
              <a:t>Assistant Vice President (AVP)</a:t>
            </a:r>
            <a:endParaRPr lang="en-US" sz="1400" dirty="0"/>
          </a:p>
        </p:txBody>
      </p:sp>
      <p:sp>
        <p:nvSpPr>
          <p:cNvPr id="9" name="Text 7"/>
          <p:cNvSpPr/>
          <p:nvPr/>
        </p:nvSpPr>
        <p:spPr>
          <a:xfrm>
            <a:off x="6299200" y="4815946"/>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0A458"/>
                </a:solidFill>
                <a:latin typeface="IBM Plex Sans" pitchFamily="34" charset="0"/>
                <a:ea typeface="IBM Plex Sans" pitchFamily="34" charset="-122"/>
                <a:cs typeface="IBM Plex Sans" pitchFamily="34" charset="-120"/>
              </a:rPr>
              <a:t>FUNCTIONAL ROLE</a:t>
            </a:r>
            <a:endParaRPr lang="en-US" sz="1200" dirty="0"/>
          </a:p>
        </p:txBody>
      </p:sp>
      <p:sp>
        <p:nvSpPr>
          <p:cNvPr id="10" name="Text 8"/>
          <p:cNvSpPr/>
          <p:nvPr/>
        </p:nvSpPr>
        <p:spPr>
          <a:xfrm>
            <a:off x="6299200" y="5080066"/>
            <a:ext cx="523240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7FA"/>
                </a:solidFill>
                <a:latin typeface="IBM Plex Sans" pitchFamily="34" charset="0"/>
                <a:ea typeface="IBM Plex Sans" pitchFamily="34" charset="-122"/>
                <a:cs typeface="IBM Plex Sans" pitchFamily="34" charset="-120"/>
              </a:rPr>
              <a:t>Senior Engineer &amp; Technical Lead, Fabric Platform Engineering</a:t>
            </a:r>
            <a:endParaRPr lang="en-US" sz="1400" dirty="0"/>
          </a:p>
        </p:txBody>
      </p:sp>
      <p:sp>
        <p:nvSpPr>
          <p:cNvPr id="11" name="Text 9"/>
          <p:cNvSpPr/>
          <p:nvPr/>
        </p:nvSpPr>
        <p:spPr>
          <a:xfrm>
            <a:off x="1016000" y="5532173"/>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0A458"/>
                </a:solidFill>
                <a:latin typeface="IBM Plex Sans" pitchFamily="34" charset="0"/>
                <a:ea typeface="IBM Plex Sans" pitchFamily="34" charset="-122"/>
                <a:cs typeface="IBM Plex Sans" pitchFamily="34" charset="-120"/>
              </a:rPr>
              <a:t>TARGET ROLE</a:t>
            </a:r>
            <a:endParaRPr lang="en-US" sz="1200" dirty="0"/>
          </a:p>
        </p:txBody>
      </p:sp>
      <p:sp>
        <p:nvSpPr>
          <p:cNvPr id="12" name="Text 10"/>
          <p:cNvSpPr/>
          <p:nvPr/>
        </p:nvSpPr>
        <p:spPr>
          <a:xfrm>
            <a:off x="1016000" y="5796293"/>
            <a:ext cx="523240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7FA"/>
                </a:solidFill>
                <a:latin typeface="IBM Plex Sans" pitchFamily="34" charset="0"/>
                <a:ea typeface="IBM Plex Sans" pitchFamily="34" charset="-122"/>
                <a:cs typeface="IBM Plex Sans" pitchFamily="34" charset="-120"/>
              </a:rPr>
              <a:t>Vice President (VP)</a:t>
            </a:r>
            <a:endParaRPr lang="en-US" sz="1400" dirty="0"/>
          </a:p>
        </p:txBody>
      </p:sp>
      <p:sp>
        <p:nvSpPr>
          <p:cNvPr id="13" name="Text 11"/>
          <p:cNvSpPr/>
          <p:nvPr/>
        </p:nvSpPr>
        <p:spPr>
          <a:xfrm>
            <a:off x="6299200" y="5532173"/>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0A458"/>
                </a:solidFill>
                <a:latin typeface="IBM Plex Sans" pitchFamily="34" charset="0"/>
                <a:ea typeface="IBM Plex Sans" pitchFamily="34" charset="-122"/>
                <a:cs typeface="IBM Plex Sans" pitchFamily="34" charset="-120"/>
              </a:rPr>
              <a:t>DATE</a:t>
            </a:r>
            <a:endParaRPr lang="en-US" sz="1200" dirty="0"/>
          </a:p>
        </p:txBody>
      </p:sp>
      <p:sp>
        <p:nvSpPr>
          <p:cNvPr id="14" name="Text 12"/>
          <p:cNvSpPr/>
          <p:nvPr/>
        </p:nvSpPr>
        <p:spPr>
          <a:xfrm>
            <a:off x="6299200" y="5796293"/>
            <a:ext cx="523240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7FA"/>
                </a:solidFill>
                <a:latin typeface="IBM Plex Sans" pitchFamily="34" charset="0"/>
                <a:ea typeface="IBM Plex Sans" pitchFamily="34" charset="-122"/>
                <a:cs typeface="IBM Plex Sans" pitchFamily="34" charset="-120"/>
              </a:rPr>
              <a:t>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000257"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PROFILE</a:t>
            </a:r>
            <a:endParaRPr lang="en-US" sz="1200" dirty="0"/>
          </a:p>
        </p:txBody>
      </p:sp>
      <p:sp>
        <p:nvSpPr>
          <p:cNvPr id="3" name="Text 1"/>
          <p:cNvSpPr/>
          <p:nvPr/>
        </p:nvSpPr>
        <p:spPr>
          <a:xfrm>
            <a:off x="1838457" y="444500"/>
            <a:ext cx="178371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573"/>
                </a:solidFill>
                <a:latin typeface="IBM Plex Sans" pitchFamily="34" charset="0"/>
                <a:ea typeface="IBM Plex Sans" pitchFamily="34" charset="-122"/>
                <a:cs typeface="IBM Plex Sans" pitchFamily="34" charset="-120"/>
              </a:rPr>
              <a:t>Context for the panel</a:t>
            </a:r>
            <a:endParaRPr lang="en-US" sz="1200" dirty="0"/>
          </a:p>
        </p:txBody>
      </p:sp>
      <p:sp>
        <p:nvSpPr>
          <p:cNvPr id="4" name="Text 2"/>
          <p:cNvSpPr/>
          <p:nvPr>
            <p:ph type="title"/>
          </p:nvPr>
        </p:nvSpPr>
        <p:spPr>
          <a:xfrm>
            <a:off x="711200" y="848320"/>
            <a:ext cx="11092688"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Candidate Profile &amp; Scope of Impact</a:t>
            </a:r>
            <a:endParaRPr lang="en-US" sz="2400" dirty="0"/>
          </a:p>
        </p:txBody>
      </p:sp>
      <p:sp>
        <p:nvSpPr>
          <p:cNvPr id="5" name="Shape 3"/>
          <p:cNvSpPr/>
          <p:nvPr/>
        </p:nvSpPr>
        <p:spPr>
          <a:xfrm>
            <a:off x="714375" y="1354403"/>
            <a:ext cx="10763250" cy="3135445"/>
          </a:xfrm>
          <a:prstGeom prst="roundRect">
            <a:avLst>
              <a:gd name="adj" fmla="val 2329"/>
            </a:avLst>
          </a:prstGeom>
          <a:solidFill>
            <a:srgbClr val="FBFCFD"/>
          </a:solidFill>
          <a:ln w="6350">
            <a:solidFill>
              <a:srgbClr val="D5DCE4"/>
            </a:solidFill>
            <a:prstDash val="solid"/>
          </a:ln>
        </p:spPr>
      </p:sp>
      <p:sp>
        <p:nvSpPr>
          <p:cNvPr id="6" name="Text 4"/>
          <p:cNvSpPr/>
          <p:nvPr/>
        </p:nvSpPr>
        <p:spPr>
          <a:xfrm>
            <a:off x="893233" y="1545961"/>
            <a:ext cx="2066798"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4C81"/>
                </a:solidFill>
                <a:latin typeface="IBM Plex Sans" pitchFamily="34" charset="0"/>
                <a:ea typeface="IBM Plex Sans" pitchFamily="34" charset="-122"/>
                <a:cs typeface="IBM Plex Sans" pitchFamily="34" charset="-120"/>
              </a:rPr>
              <a:t>Tenure</a:t>
            </a:r>
            <a:endParaRPr lang="en-US" sz="1300" dirty="0"/>
          </a:p>
        </p:txBody>
      </p:sp>
      <p:sp>
        <p:nvSpPr>
          <p:cNvPr id="7" name="Text 5"/>
          <p:cNvSpPr/>
          <p:nvPr/>
        </p:nvSpPr>
        <p:spPr>
          <a:xfrm>
            <a:off x="3052233" y="1545961"/>
            <a:ext cx="84939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Joined March 14, 2022 (4 years 7 months as AVP) with 24+ years of technology leadership.</a:t>
            </a:r>
            <a:endParaRPr lang="en-US" sz="1300" dirty="0"/>
          </a:p>
        </p:txBody>
      </p:sp>
      <p:sp>
        <p:nvSpPr>
          <p:cNvPr id="8" name="Shape 6"/>
          <p:cNvSpPr/>
          <p:nvPr/>
        </p:nvSpPr>
        <p:spPr>
          <a:xfrm>
            <a:off x="893233" y="1919949"/>
            <a:ext cx="2159000" cy="0"/>
          </a:xfrm>
          <a:prstGeom prst="line">
            <a:avLst/>
          </a:prstGeom>
          <a:noFill/>
          <a:ln w="6350">
            <a:solidFill>
              <a:srgbClr val="D5DCE4"/>
            </a:solidFill>
            <a:prstDash val="solid"/>
          </a:ln>
        </p:spPr>
      </p:sp>
      <p:sp>
        <p:nvSpPr>
          <p:cNvPr id="9" name="Text 7"/>
          <p:cNvSpPr/>
          <p:nvPr/>
        </p:nvSpPr>
        <p:spPr>
          <a:xfrm>
            <a:off x="893233" y="2060708"/>
            <a:ext cx="2066798"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4C81"/>
                </a:solidFill>
                <a:latin typeface="IBM Plex Sans" pitchFamily="34" charset="0"/>
                <a:ea typeface="IBM Plex Sans" pitchFamily="34" charset="-122"/>
                <a:cs typeface="IBM Plex Sans" pitchFamily="34" charset="-120"/>
              </a:rPr>
              <a:t>Leadership</a:t>
            </a:r>
            <a:endParaRPr lang="en-US" sz="1300" dirty="0"/>
          </a:p>
        </p:txBody>
      </p:sp>
      <p:sp>
        <p:nvSpPr>
          <p:cNvPr id="10" name="Shape 8"/>
          <p:cNvSpPr/>
          <p:nvPr/>
        </p:nvSpPr>
        <p:spPr>
          <a:xfrm>
            <a:off x="3052233" y="1919949"/>
            <a:ext cx="8246534" cy="0"/>
          </a:xfrm>
          <a:prstGeom prst="line">
            <a:avLst/>
          </a:prstGeom>
          <a:noFill/>
          <a:ln w="6350">
            <a:solidFill>
              <a:srgbClr val="D5DCE4"/>
            </a:solidFill>
            <a:prstDash val="solid"/>
          </a:ln>
        </p:spPr>
      </p:sp>
      <p:sp>
        <p:nvSpPr>
          <p:cNvPr id="11" name="Text 9"/>
          <p:cNvSpPr/>
          <p:nvPr/>
        </p:nvSpPr>
        <p:spPr>
          <a:xfrm>
            <a:off x="3052233" y="2060708"/>
            <a:ext cx="84939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Manages 1 direct report; leads an 8-person distributed engineering team in Pune, Bangalore and London.</a:t>
            </a:r>
            <a:endParaRPr lang="en-US" sz="1300" dirty="0"/>
          </a:p>
        </p:txBody>
      </p:sp>
      <p:sp>
        <p:nvSpPr>
          <p:cNvPr id="12" name="Shape 10"/>
          <p:cNvSpPr/>
          <p:nvPr/>
        </p:nvSpPr>
        <p:spPr>
          <a:xfrm>
            <a:off x="893233" y="2434696"/>
            <a:ext cx="2159000" cy="0"/>
          </a:xfrm>
          <a:prstGeom prst="line">
            <a:avLst/>
          </a:prstGeom>
          <a:noFill/>
          <a:ln w="6350">
            <a:solidFill>
              <a:srgbClr val="D5DCE4"/>
            </a:solidFill>
            <a:prstDash val="solid"/>
          </a:ln>
        </p:spPr>
      </p:sp>
      <p:sp>
        <p:nvSpPr>
          <p:cNvPr id="13" name="Text 11"/>
          <p:cNvSpPr/>
          <p:nvPr/>
        </p:nvSpPr>
        <p:spPr>
          <a:xfrm>
            <a:off x="893233" y="2575454"/>
            <a:ext cx="2066798"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4C81"/>
                </a:solidFill>
                <a:latin typeface="IBM Plex Sans" pitchFamily="34" charset="0"/>
                <a:ea typeface="IBM Plex Sans" pitchFamily="34" charset="-122"/>
                <a:cs typeface="IBM Plex Sans" pitchFamily="34" charset="-120"/>
              </a:rPr>
              <a:t>Scale</a:t>
            </a:r>
            <a:endParaRPr lang="en-US" sz="1300" dirty="0"/>
          </a:p>
        </p:txBody>
      </p:sp>
      <p:sp>
        <p:nvSpPr>
          <p:cNvPr id="14" name="Shape 12"/>
          <p:cNvSpPr/>
          <p:nvPr/>
        </p:nvSpPr>
        <p:spPr>
          <a:xfrm>
            <a:off x="3052233" y="2434696"/>
            <a:ext cx="8246534" cy="0"/>
          </a:xfrm>
          <a:prstGeom prst="line">
            <a:avLst/>
          </a:prstGeom>
          <a:noFill/>
          <a:ln w="6350">
            <a:solidFill>
              <a:srgbClr val="D5DCE4"/>
            </a:solidFill>
            <a:prstDash val="solid"/>
          </a:ln>
        </p:spPr>
      </p:sp>
      <p:sp>
        <p:nvSpPr>
          <p:cNvPr id="15" name="Text 13"/>
          <p:cNvSpPr/>
          <p:nvPr/>
        </p:nvSpPr>
        <p:spPr>
          <a:xfrm>
            <a:off x="3052233" y="2575454"/>
            <a:ext cx="84939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Architect and evolve Fabric, the bank's strategic Hybrid Cloud PaaS platform.</a:t>
            </a:r>
            <a:endParaRPr lang="en-US" sz="1300" dirty="0"/>
          </a:p>
        </p:txBody>
      </p:sp>
      <p:sp>
        <p:nvSpPr>
          <p:cNvPr id="16" name="Shape 14"/>
          <p:cNvSpPr/>
          <p:nvPr/>
        </p:nvSpPr>
        <p:spPr>
          <a:xfrm>
            <a:off x="893233" y="2949443"/>
            <a:ext cx="2159000" cy="0"/>
          </a:xfrm>
          <a:prstGeom prst="line">
            <a:avLst/>
          </a:prstGeom>
          <a:noFill/>
          <a:ln w="6350">
            <a:solidFill>
              <a:srgbClr val="D5DCE4"/>
            </a:solidFill>
            <a:prstDash val="solid"/>
          </a:ln>
        </p:spPr>
      </p:sp>
      <p:sp>
        <p:nvSpPr>
          <p:cNvPr id="17" name="Text 15"/>
          <p:cNvSpPr/>
          <p:nvPr/>
        </p:nvSpPr>
        <p:spPr>
          <a:xfrm>
            <a:off x="893233" y="3090201"/>
            <a:ext cx="2066798"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4C81"/>
                </a:solidFill>
                <a:latin typeface="IBM Plex Sans" pitchFamily="34" charset="0"/>
                <a:ea typeface="IBM Plex Sans" pitchFamily="34" charset="-122"/>
                <a:cs typeface="IBM Plex Sans" pitchFamily="34" charset="-120"/>
              </a:rPr>
              <a:t>Impact</a:t>
            </a:r>
            <a:endParaRPr lang="en-US" sz="1300" dirty="0"/>
          </a:p>
        </p:txBody>
      </p:sp>
      <p:sp>
        <p:nvSpPr>
          <p:cNvPr id="18" name="Shape 16"/>
          <p:cNvSpPr/>
          <p:nvPr/>
        </p:nvSpPr>
        <p:spPr>
          <a:xfrm>
            <a:off x="3052233" y="2949443"/>
            <a:ext cx="8246534" cy="0"/>
          </a:xfrm>
          <a:prstGeom prst="line">
            <a:avLst/>
          </a:prstGeom>
          <a:noFill/>
          <a:ln w="6350">
            <a:solidFill>
              <a:srgbClr val="D5DCE4"/>
            </a:solidFill>
            <a:prstDash val="solid"/>
          </a:ln>
        </p:spPr>
      </p:sp>
      <p:sp>
        <p:nvSpPr>
          <p:cNvPr id="19" name="Text 17"/>
          <p:cNvSpPr/>
          <p:nvPr/>
        </p:nvSpPr>
        <p:spPr>
          <a:xfrm>
            <a:off x="3052233" y="3090201"/>
            <a:ext cx="849393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Foundational infrastructure for 600+ applications across 200+ business teams (~30% of the application estate).</a:t>
            </a:r>
            <a:endParaRPr lang="en-US" sz="1300" dirty="0"/>
          </a:p>
        </p:txBody>
      </p:sp>
      <p:sp>
        <p:nvSpPr>
          <p:cNvPr id="20" name="Shape 18"/>
          <p:cNvSpPr/>
          <p:nvPr/>
        </p:nvSpPr>
        <p:spPr>
          <a:xfrm>
            <a:off x="893233" y="3695303"/>
            <a:ext cx="2159000" cy="0"/>
          </a:xfrm>
          <a:prstGeom prst="line">
            <a:avLst/>
          </a:prstGeom>
          <a:noFill/>
          <a:ln w="6350">
            <a:solidFill>
              <a:srgbClr val="D5DCE4"/>
            </a:solidFill>
            <a:prstDash val="solid"/>
          </a:ln>
        </p:spPr>
      </p:sp>
      <p:sp>
        <p:nvSpPr>
          <p:cNvPr id="21" name="Text 19"/>
          <p:cNvSpPr/>
          <p:nvPr/>
        </p:nvSpPr>
        <p:spPr>
          <a:xfrm>
            <a:off x="893233" y="3836062"/>
            <a:ext cx="2066798"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4C81"/>
                </a:solidFill>
                <a:latin typeface="IBM Plex Sans" pitchFamily="34" charset="0"/>
                <a:ea typeface="IBM Plex Sans" pitchFamily="34" charset="-122"/>
                <a:cs typeface="IBM Plex Sans" pitchFamily="34" charset="-120"/>
              </a:rPr>
              <a:t>Mission-critical</a:t>
            </a:r>
            <a:endParaRPr lang="en-US" sz="1300" dirty="0"/>
          </a:p>
        </p:txBody>
      </p:sp>
      <p:sp>
        <p:nvSpPr>
          <p:cNvPr id="22" name="Shape 20"/>
          <p:cNvSpPr/>
          <p:nvPr/>
        </p:nvSpPr>
        <p:spPr>
          <a:xfrm>
            <a:off x="3052233" y="3695303"/>
            <a:ext cx="8246534" cy="0"/>
          </a:xfrm>
          <a:prstGeom prst="line">
            <a:avLst/>
          </a:prstGeom>
          <a:noFill/>
          <a:ln w="6350">
            <a:solidFill>
              <a:srgbClr val="D5DCE4"/>
            </a:solidFill>
            <a:prstDash val="solid"/>
          </a:ln>
        </p:spPr>
      </p:sp>
      <p:sp>
        <p:nvSpPr>
          <p:cNvPr id="23" name="Text 21"/>
          <p:cNvSpPr/>
          <p:nvPr/>
        </p:nvSpPr>
        <p:spPr>
          <a:xfrm>
            <a:off x="3052233" y="3836062"/>
            <a:ext cx="849393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Platform decisions directly impact production stability, cross-geography operations, regulatory compliance and cloud-first strategy.</a:t>
            </a:r>
            <a:endParaRPr lang="en-US" sz="1300" dirty="0"/>
          </a:p>
        </p:txBody>
      </p:sp>
      <p:sp>
        <p:nvSpPr>
          <p:cNvPr id="24" name="Text 22"/>
          <p:cNvSpPr/>
          <p:nvPr/>
        </p:nvSpPr>
        <p:spPr>
          <a:xfrm>
            <a:off x="711200" y="6289080"/>
            <a:ext cx="23866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VP Assessment</a:t>
            </a:r>
            <a:endParaRPr lang="en-US" sz="1200" dirty="0"/>
          </a:p>
        </p:txBody>
      </p:sp>
      <p:sp>
        <p:nvSpPr>
          <p:cNvPr id="25" name="Text 23"/>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02 / 13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918104"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THINKS</a:t>
            </a:r>
            <a:endParaRPr lang="en-US" sz="1200" dirty="0"/>
          </a:p>
        </p:txBody>
      </p:sp>
      <p:sp>
        <p:nvSpPr>
          <p:cNvPr id="3" name="Text 1"/>
          <p:cNvSpPr/>
          <p:nvPr/>
        </p:nvSpPr>
        <p:spPr>
          <a:xfrm>
            <a:off x="1756304" y="444500"/>
            <a:ext cx="13279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20F"/>
                </a:solidFill>
                <a:latin typeface="IBM Plex Sans" pitchFamily="34" charset="0"/>
                <a:ea typeface="IBM Plex Sans" pitchFamily="34" charset="-122"/>
                <a:cs typeface="IBM Plex Sans" pitchFamily="34" charset="-120"/>
              </a:rPr>
              <a:t>Level 4 · Expert</a:t>
            </a:r>
            <a:endParaRPr lang="en-US" sz="1200" dirty="0"/>
          </a:p>
        </p:txBody>
      </p:sp>
      <p:sp>
        <p:nvSpPr>
          <p:cNvPr id="4" name="Text 2"/>
          <p:cNvSpPr/>
          <p:nvPr>
            <p:ph type="title"/>
          </p:nvPr>
        </p:nvSpPr>
        <p:spPr>
          <a:xfrm>
            <a:off x="711200" y="822920"/>
            <a:ext cx="11092688" cy="317500"/>
          </a:xfrm>
          <a:prstGeom prst="rect">
            <a:avLst/>
          </a:prstGeom>
          <a:noFill/>
          <a:ln/>
        </p:spPr>
        <p:txBody>
          <a:bodyPr wrap="square" lIns="0" tIns="0" rIns="0" bIns="0" rtlCol="0" anchor="t">
            <a:normAutofit/>
          </a:bodyPr>
          <a:lstStyle/>
          <a:p>
            <a:pPr algn="l" indent="0" marL="0">
              <a:lnSpc>
                <a:spcPts val="2300"/>
              </a:lnSpc>
              <a:buNone/>
            </a:pPr>
            <a:r>
              <a:rPr lang="en-US" sz="2000" b="1" i="0" dirty="0">
                <a:solidFill>
                  <a:srgbClr val="0F4C81"/>
                </a:solidFill>
                <a:latin typeface="IBM Plex Sans" pitchFamily="34" charset="0"/>
                <a:ea typeface="IBM Plex Sans" pitchFamily="34" charset="-122"/>
                <a:cs typeface="IBM Plex Sans" pitchFamily="34" charset="-120"/>
              </a:rPr>
              <a:t>Strategic Problem Solving, Diverse Perspectives, and Architectural Evolution</a:t>
            </a:r>
            <a:endParaRPr lang="en-US" sz="2000" dirty="0"/>
          </a:p>
        </p:txBody>
      </p:sp>
      <p:sp>
        <p:nvSpPr>
          <p:cNvPr id="5" name="Shape 3"/>
          <p:cNvSpPr/>
          <p:nvPr/>
        </p:nvSpPr>
        <p:spPr>
          <a:xfrm>
            <a:off x="714375" y="1245195"/>
            <a:ext cx="10763250" cy="2836400"/>
          </a:xfrm>
          <a:prstGeom prst="roundRect">
            <a:avLst>
              <a:gd name="adj" fmla="val 2575"/>
            </a:avLst>
          </a:prstGeom>
          <a:solidFill>
            <a:srgbClr val="FBFCFD"/>
          </a:solidFill>
          <a:ln w="6350">
            <a:solidFill>
              <a:srgbClr val="D5DCE4"/>
            </a:solidFill>
            <a:prstDash val="solid"/>
          </a:ln>
        </p:spPr>
      </p:sp>
      <p:sp>
        <p:nvSpPr>
          <p:cNvPr id="6" name="Text 4"/>
          <p:cNvSpPr/>
          <p:nvPr/>
        </p:nvSpPr>
        <p:spPr>
          <a:xfrm>
            <a:off x="893233" y="1335154"/>
            <a:ext cx="180517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2798233" y="1335154"/>
            <a:ext cx="493589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7742767" y="1335154"/>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615149"/>
            <a:ext cx="1905000" cy="0"/>
          </a:xfrm>
          <a:prstGeom prst="line">
            <a:avLst/>
          </a:prstGeom>
          <a:noFill/>
          <a:ln w="6350">
            <a:solidFill>
              <a:srgbClr val="D5DCE4"/>
            </a:solidFill>
            <a:prstDash val="solid"/>
          </a:ln>
        </p:spPr>
      </p:sp>
      <p:sp>
        <p:nvSpPr>
          <p:cNvPr id="10" name="Text 8"/>
          <p:cNvSpPr/>
          <p:nvPr/>
        </p:nvSpPr>
        <p:spPr>
          <a:xfrm>
            <a:off x="893233" y="1705108"/>
            <a:ext cx="1805178"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ACM Segregation Strategy</a:t>
            </a:r>
            <a:endParaRPr lang="en-US" sz="1300" dirty="0"/>
          </a:p>
        </p:txBody>
      </p:sp>
      <p:sp>
        <p:nvSpPr>
          <p:cNvPr id="11" name="Shape 9"/>
          <p:cNvSpPr/>
          <p:nvPr/>
        </p:nvSpPr>
        <p:spPr>
          <a:xfrm>
            <a:off x="2798233" y="1615149"/>
            <a:ext cx="4944533" cy="0"/>
          </a:xfrm>
          <a:prstGeom prst="line">
            <a:avLst/>
          </a:prstGeom>
          <a:noFill/>
          <a:ln w="6350">
            <a:solidFill>
              <a:srgbClr val="D5DCE4"/>
            </a:solidFill>
            <a:prstDash val="solid"/>
          </a:ln>
        </p:spPr>
      </p:sp>
      <p:sp>
        <p:nvSpPr>
          <p:cNvPr id="12" name="Text 10"/>
          <p:cNvSpPr/>
          <p:nvPr/>
        </p:nvSpPr>
        <p:spPr>
          <a:xfrm>
            <a:off x="2798233" y="1705108"/>
            <a:ext cx="4935897"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Designed a segregated topology with separate ACM-Dev and ACM-UAT hub clusters, removing the risk of non-production changes reaching the 15+ production clusters.</a:t>
            </a:r>
            <a:endParaRPr lang="en-US" sz="1200" dirty="0"/>
          </a:p>
        </p:txBody>
      </p:sp>
      <p:sp>
        <p:nvSpPr>
          <p:cNvPr id="13" name="Shape 11"/>
          <p:cNvSpPr/>
          <p:nvPr/>
        </p:nvSpPr>
        <p:spPr>
          <a:xfrm>
            <a:off x="7742767" y="1615149"/>
            <a:ext cx="3556000" cy="0"/>
          </a:xfrm>
          <a:prstGeom prst="line">
            <a:avLst/>
          </a:prstGeom>
          <a:noFill/>
          <a:ln w="6350">
            <a:solidFill>
              <a:srgbClr val="D5DCE4"/>
            </a:solidFill>
            <a:prstDash val="solid"/>
          </a:ln>
        </p:spPr>
      </p:sp>
      <p:sp>
        <p:nvSpPr>
          <p:cNvPr id="14" name="Text 12"/>
          <p:cNvSpPr/>
          <p:nvPr/>
        </p:nvSpPr>
        <p:spPr>
          <a:xfrm>
            <a:off x="7742767" y="1705108"/>
            <a:ext cx="3662680" cy="452041"/>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Jira 35789</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Design doc</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Strategy deck</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Proposal email</a:t>
            </a:r>
            <a:endParaRPr lang="en-US" sz="1200" dirty="0"/>
          </a:p>
        </p:txBody>
      </p:sp>
      <p:sp>
        <p:nvSpPr>
          <p:cNvPr id="15" name="Shape 13"/>
          <p:cNvSpPr/>
          <p:nvPr/>
        </p:nvSpPr>
        <p:spPr>
          <a:xfrm>
            <a:off x="893233" y="2414324"/>
            <a:ext cx="1905000" cy="0"/>
          </a:xfrm>
          <a:prstGeom prst="line">
            <a:avLst/>
          </a:prstGeom>
          <a:noFill/>
          <a:ln w="6350">
            <a:solidFill>
              <a:srgbClr val="D5DCE4"/>
            </a:solidFill>
            <a:prstDash val="solid"/>
          </a:ln>
        </p:spPr>
      </p:sp>
      <p:sp>
        <p:nvSpPr>
          <p:cNvPr id="16" name="Text 14"/>
          <p:cNvSpPr/>
          <p:nvPr/>
        </p:nvSpPr>
        <p:spPr>
          <a:xfrm>
            <a:off x="893233" y="2504281"/>
            <a:ext cx="1805178"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Observability Modernization (MLA)</a:t>
            </a:r>
            <a:endParaRPr lang="en-US" sz="1300" dirty="0"/>
          </a:p>
        </p:txBody>
      </p:sp>
      <p:sp>
        <p:nvSpPr>
          <p:cNvPr id="17" name="Shape 15"/>
          <p:cNvSpPr/>
          <p:nvPr/>
        </p:nvSpPr>
        <p:spPr>
          <a:xfrm>
            <a:off x="2798233" y="2414324"/>
            <a:ext cx="4944533" cy="0"/>
          </a:xfrm>
          <a:prstGeom prst="line">
            <a:avLst/>
          </a:prstGeom>
          <a:noFill/>
          <a:ln w="6350">
            <a:solidFill>
              <a:srgbClr val="D5DCE4"/>
            </a:solidFill>
            <a:prstDash val="solid"/>
          </a:ln>
        </p:spPr>
      </p:sp>
      <p:sp>
        <p:nvSpPr>
          <p:cNvPr id="18" name="Text 16"/>
          <p:cNvSpPr/>
          <p:nvPr/>
        </p:nvSpPr>
        <p:spPr>
          <a:xfrm>
            <a:off x="2798233" y="2504281"/>
            <a:ext cx="4935897"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Formed namespace-level visibility models, led the migration of logging to GCP Cloud Logging, and fixed platform alerting and logging gaps.</a:t>
            </a:r>
            <a:endParaRPr lang="en-US" sz="1200" dirty="0"/>
          </a:p>
        </p:txBody>
      </p:sp>
      <p:sp>
        <p:nvSpPr>
          <p:cNvPr id="19" name="Shape 17"/>
          <p:cNvSpPr/>
          <p:nvPr/>
        </p:nvSpPr>
        <p:spPr>
          <a:xfrm>
            <a:off x="7742767" y="2414324"/>
            <a:ext cx="3556000" cy="0"/>
          </a:xfrm>
          <a:prstGeom prst="line">
            <a:avLst/>
          </a:prstGeom>
          <a:noFill/>
          <a:ln w="6350">
            <a:solidFill>
              <a:srgbClr val="D5DCE4"/>
            </a:solidFill>
            <a:prstDash val="solid"/>
          </a:ln>
        </p:spPr>
      </p:sp>
      <p:sp>
        <p:nvSpPr>
          <p:cNvPr id="20" name="Text 18"/>
          <p:cNvSpPr/>
          <p:nvPr/>
        </p:nvSpPr>
        <p:spPr>
          <a:xfrm>
            <a:off x="7742767" y="2504281"/>
            <a:ext cx="3662680" cy="665361"/>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Feature Jira 28931</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MELT strategy</a:t>
            </a:r>
            <a:r>
              <a:rPr lang="en-US" sz="1200" dirty="0">
                <a:solidFill>
                  <a:srgbClr val="2B2F36"/>
                </a:solidFill>
                <a:latin typeface="IBM Plex Sans" pitchFamily="34" charset="0"/>
                <a:ea typeface="IBM Plex Sans" pitchFamily="34" charset="-122"/>
                <a:cs typeface="IBM Plex Sans" pitchFamily="34" charset="-120"/>
              </a:rPr>
              <a:t> · Policy: </a:t>
            </a:r>
            <a:r>
              <a:rPr lang="en-US" sz="1200" u="sng" dirty="0">
                <a:solidFill>
                  <a:srgbClr val="2B2F36"/>
                </a:solidFill>
                <a:latin typeface="IBM Plex Sans" pitchFamily="34" charset="0"/>
                <a:ea typeface="IBM Plex Sans" pitchFamily="34" charset="-122"/>
                <a:cs typeface="IBM Plex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Jira 30786</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8" invalidUrl="" action="" tgtFrame="" tooltip="" history="1" highlightClick="0" endSnd="0">
                  <a:extLst>
                    <a:ext uri="{A12FA001-AC4F-418D-AE19-62706E023703}">
                      <ahyp:hlinkClr xmlns:ahyp="http://schemas.microsoft.com/office/drawing/2018/hyperlinkcolor" val="tx"/>
                    </a:ext>
                  </a:extLst>
                </a:hlinkClick>
              </a:rPr>
              <a:t>PR 237</a:t>
            </a:r>
            <a:r>
              <a:rPr lang="en-US" sz="1200" dirty="0">
                <a:solidFill>
                  <a:srgbClr val="2B2F36"/>
                </a:solidFill>
                <a:latin typeface="IBM Plex Sans" pitchFamily="34" charset="0"/>
                <a:ea typeface="IBM Plex Sans" pitchFamily="34" charset="-122"/>
                <a:cs typeface="IBM Plex Sans" pitchFamily="34" charset="-120"/>
              </a:rPr>
              <a:t> · Alerting: </a:t>
            </a:r>
            <a:r>
              <a:rPr lang="en-US" sz="1200" u="sng" dirty="0">
                <a:solidFill>
                  <a:srgbClr val="2B2F36"/>
                </a:solidFill>
                <a:latin typeface="IBM Plex Sans" pitchFamily="34" charset="0"/>
                <a:ea typeface="IBM Plex Sans" pitchFamily="34" charset="-122"/>
                <a:cs typeface="IBM Plex Sans" pitchFamily="34" charset="-120"/>
                <a:hlinkClick r:id="rId9" invalidUrl="" action="" tgtFrame="" tooltip="" history="1" highlightClick="0" endSnd="0">
                  <a:extLst>
                    <a:ext uri="{A12FA001-AC4F-418D-AE19-62706E023703}">
                      <ahyp:hlinkClr xmlns:ahyp="http://schemas.microsoft.com/office/drawing/2018/hyperlinkcolor" val="tx"/>
                    </a:ext>
                  </a:extLst>
                </a:hlinkClick>
              </a:rPr>
              <a:t>39291</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37732</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40525</a:t>
            </a:r>
            <a:r>
              <a:rPr lang="en-US" sz="1200" dirty="0">
                <a:solidFill>
                  <a:srgbClr val="2B2F36"/>
                </a:solidFill>
                <a:latin typeface="IBM Plex Sans" pitchFamily="34" charset="0"/>
                <a:ea typeface="IBM Plex Sans" pitchFamily="34" charset="-122"/>
                <a:cs typeface="IBM Plex Sans" pitchFamily="34" charset="-120"/>
              </a:rPr>
              <a:t> · Logging: </a:t>
            </a:r>
            <a:r>
              <a:rPr lang="en-US" sz="1200" u="sng" dirty="0">
                <a:solidFill>
                  <a:srgbClr val="2B2F36"/>
                </a:solidFill>
                <a:latin typeface="IBM Plex Sans" pitchFamily="34" charset="0"/>
                <a:ea typeface="IBM Plex Sans" pitchFamily="34" charset="-122"/>
                <a:cs typeface="IBM Plex Sans" pitchFamily="34" charset="-120"/>
                <a:hlinkClick r:id="rId12" invalidUrl="" action="" tgtFrame="" tooltip="" history="1" highlightClick="0" endSnd="0">
                  <a:extLst>
                    <a:ext uri="{A12FA001-AC4F-418D-AE19-62706E023703}">
                      <ahyp:hlinkClr xmlns:ahyp="http://schemas.microsoft.com/office/drawing/2018/hyperlinkcolor" val="tx"/>
                    </a:ext>
                  </a:extLst>
                </a:hlinkClick>
              </a:rPr>
              <a:t>43232</a:t>
            </a:r>
            <a:endParaRPr lang="en-US" sz="1200" dirty="0"/>
          </a:p>
        </p:txBody>
      </p:sp>
      <p:sp>
        <p:nvSpPr>
          <p:cNvPr id="21" name="Shape 19"/>
          <p:cNvSpPr/>
          <p:nvPr/>
        </p:nvSpPr>
        <p:spPr>
          <a:xfrm>
            <a:off x="893233" y="3236317"/>
            <a:ext cx="1905000" cy="0"/>
          </a:xfrm>
          <a:prstGeom prst="line">
            <a:avLst/>
          </a:prstGeom>
          <a:noFill/>
          <a:ln w="6350">
            <a:solidFill>
              <a:srgbClr val="D5DCE4"/>
            </a:solidFill>
            <a:prstDash val="solid"/>
          </a:ln>
        </p:spPr>
      </p:sp>
      <p:sp>
        <p:nvSpPr>
          <p:cNvPr id="22" name="Text 20"/>
          <p:cNvSpPr/>
          <p:nvPr/>
        </p:nvSpPr>
        <p:spPr>
          <a:xfrm>
            <a:off x="893233" y="3326276"/>
            <a:ext cx="1805178" cy="64452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Policy Standardization &amp; Governance</a:t>
            </a:r>
            <a:endParaRPr lang="en-US" sz="1300" dirty="0"/>
          </a:p>
        </p:txBody>
      </p:sp>
      <p:sp>
        <p:nvSpPr>
          <p:cNvPr id="23" name="Shape 21"/>
          <p:cNvSpPr/>
          <p:nvPr/>
        </p:nvSpPr>
        <p:spPr>
          <a:xfrm>
            <a:off x="2798233" y="3236317"/>
            <a:ext cx="4944533" cy="0"/>
          </a:xfrm>
          <a:prstGeom prst="line">
            <a:avLst/>
          </a:prstGeom>
          <a:noFill/>
          <a:ln w="6350">
            <a:solidFill>
              <a:srgbClr val="D5DCE4"/>
            </a:solidFill>
            <a:prstDash val="solid"/>
          </a:ln>
        </p:spPr>
      </p:sp>
      <p:sp>
        <p:nvSpPr>
          <p:cNvPr id="24" name="Text 22"/>
          <p:cNvSpPr/>
          <p:nvPr/>
        </p:nvSpPr>
        <p:spPr>
          <a:xfrm>
            <a:off x="2798233" y="3326276"/>
            <a:ext cx="49358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Audited and consolidated 70+ non-compliant policies, establishing a GitOps-based declarative policy workflow and branching strategy.</a:t>
            </a:r>
            <a:endParaRPr lang="en-US" sz="1200" dirty="0"/>
          </a:p>
        </p:txBody>
      </p:sp>
      <p:sp>
        <p:nvSpPr>
          <p:cNvPr id="25" name="Shape 23"/>
          <p:cNvSpPr/>
          <p:nvPr/>
        </p:nvSpPr>
        <p:spPr>
          <a:xfrm>
            <a:off x="7742767" y="3236317"/>
            <a:ext cx="3556000" cy="0"/>
          </a:xfrm>
          <a:prstGeom prst="line">
            <a:avLst/>
          </a:prstGeom>
          <a:noFill/>
          <a:ln w="6350">
            <a:solidFill>
              <a:srgbClr val="D5DCE4"/>
            </a:solidFill>
            <a:prstDash val="solid"/>
          </a:ln>
        </p:spPr>
      </p:sp>
      <p:sp>
        <p:nvSpPr>
          <p:cNvPr id="26" name="Text 24"/>
          <p:cNvSpPr/>
          <p:nvPr/>
        </p:nvSpPr>
        <p:spPr>
          <a:xfrm>
            <a:off x="7742767" y="3326276"/>
            <a:ext cx="3662680" cy="665361"/>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3" invalidUrl="" action="" tgtFrame="" tooltip="" history="1" highlightClick="0" endSnd="0">
                  <a:extLst>
                    <a:ext uri="{A12FA001-AC4F-418D-AE19-62706E023703}">
                      <ahyp:hlinkClr xmlns:ahyp="http://schemas.microsoft.com/office/drawing/2018/hyperlinkcolor" val="tx"/>
                    </a:ext>
                  </a:extLst>
                </a:hlinkClick>
              </a:rPr>
              <a:t>Status email</a:t>
            </a:r>
            <a:r>
              <a:rPr lang="en-US" sz="1200" dirty="0">
                <a:solidFill>
                  <a:srgbClr val="2B2F36"/>
                </a:solidFill>
                <a:latin typeface="IBM Plex Sans" pitchFamily="34" charset="0"/>
                <a:ea typeface="IBM Plex Sans" pitchFamily="34" charset="-122"/>
                <a:cs typeface="IBM Plex Sans" pitchFamily="34" charset="-120"/>
              </a:rPr>
              <a:t> · Jira: </a:t>
            </a:r>
            <a:r>
              <a:rPr lang="en-US" sz="1200" u="sng" dirty="0">
                <a:solidFill>
                  <a:srgbClr val="2B2F36"/>
                </a:solidFill>
                <a:latin typeface="IBM Plex Sans" pitchFamily="34" charset="0"/>
                <a:ea typeface="IBM Plex Sans" pitchFamily="34" charset="-122"/>
                <a:cs typeface="IBM Plex Sans" pitchFamily="34" charset="-120"/>
                <a:hlinkClick r:id="rId14" invalidUrl="" action="" tgtFrame="" tooltip="" history="1" highlightClick="0" endSnd="0">
                  <a:extLst>
                    <a:ext uri="{A12FA001-AC4F-418D-AE19-62706E023703}">
                      <ahyp:hlinkClr xmlns:ahyp="http://schemas.microsoft.com/office/drawing/2018/hyperlinkcolor" val="tx"/>
                    </a:ext>
                  </a:extLst>
                </a:hlinkClick>
              </a:rPr>
              <a:t>31204</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5" invalidUrl="" action="" tgtFrame="" tooltip="" history="1" highlightClick="0" endSnd="0">
                  <a:extLst>
                    <a:ext uri="{A12FA001-AC4F-418D-AE19-62706E023703}">
                      <ahyp:hlinkClr xmlns:ahyp="http://schemas.microsoft.com/office/drawing/2018/hyperlinkcolor" val="tx"/>
                    </a:ext>
                  </a:extLst>
                </a:hlinkClick>
              </a:rPr>
              <a:t>31205</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6" invalidUrl="" action="" tgtFrame="" tooltip="" history="1" highlightClick="0" endSnd="0">
                  <a:extLst>
                    <a:ext uri="{A12FA001-AC4F-418D-AE19-62706E023703}">
                      <ahyp:hlinkClr xmlns:ahyp="http://schemas.microsoft.com/office/drawing/2018/hyperlinkcolor" val="tx"/>
                    </a:ext>
                  </a:extLst>
                </a:hlinkClick>
              </a:rPr>
              <a:t>34144</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7" invalidUrl="" action="" tgtFrame="" tooltip="" history="1" highlightClick="0" endSnd="0">
                  <a:extLst>
                    <a:ext uri="{A12FA001-AC4F-418D-AE19-62706E023703}">
                      <ahyp:hlinkClr xmlns:ahyp="http://schemas.microsoft.com/office/drawing/2018/hyperlinkcolor" val="tx"/>
                    </a:ext>
                  </a:extLst>
                </a:hlinkClick>
              </a:rPr>
              <a:t>28740</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8" invalidUrl="" action="" tgtFrame="" tooltip="" history="1" highlightClick="0" endSnd="0">
                  <a:extLst>
                    <a:ext uri="{A12FA001-AC4F-418D-AE19-62706E023703}">
                      <ahyp:hlinkClr xmlns:ahyp="http://schemas.microsoft.com/office/drawing/2018/hyperlinkcolor" val="tx"/>
                    </a:ext>
                  </a:extLst>
                </a:hlinkClick>
              </a:rPr>
              <a:t>28733</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9" invalidUrl="" action="" tgtFrame="" tooltip="" history="1" highlightClick="0" endSnd="0">
                  <a:extLst>
                    <a:ext uri="{A12FA001-AC4F-418D-AE19-62706E023703}">
                      <ahyp:hlinkClr xmlns:ahyp="http://schemas.microsoft.com/office/drawing/2018/hyperlinkcolor" val="tx"/>
                    </a:ext>
                  </a:extLst>
                </a:hlinkClick>
              </a:rPr>
              <a:t>28729</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20" invalidUrl="" action="" tgtFrame="" tooltip="" history="1" highlightClick="0" endSnd="0">
                  <a:extLst>
                    <a:ext uri="{A12FA001-AC4F-418D-AE19-62706E023703}">
                      <ahyp:hlinkClr xmlns:ahyp="http://schemas.microsoft.com/office/drawing/2018/hyperlinkcolor" val="tx"/>
                    </a:ext>
                  </a:extLst>
                </a:hlinkClick>
              </a:rPr>
              <a:t>37179</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21" invalidUrl="" action="" tgtFrame="" tooltip="" history="1" highlightClick="0" endSnd="0">
                  <a:extLst>
                    <a:ext uri="{A12FA001-AC4F-418D-AE19-62706E023703}">
                      <ahyp:hlinkClr xmlns:ahyp="http://schemas.microsoft.com/office/drawing/2018/hyperlinkcolor" val="tx"/>
                    </a:ext>
                  </a:extLst>
                </a:hlinkClick>
              </a:rPr>
              <a:t>37629</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22" invalidUrl="" action="" tgtFrame="" tooltip="" history="1" highlightClick="0" endSnd="0">
                  <a:extLst>
                    <a:ext uri="{A12FA001-AC4F-418D-AE19-62706E023703}">
                      <ahyp:hlinkClr xmlns:ahyp="http://schemas.microsoft.com/office/drawing/2018/hyperlinkcolor" val="tx"/>
                    </a:ext>
                  </a:extLst>
                </a:hlinkClick>
              </a:rPr>
              <a:t>Branching strategy</a:t>
            </a:r>
            <a:endParaRPr lang="en-US" sz="1200" dirty="0"/>
          </a:p>
        </p:txBody>
      </p:sp>
      <p:sp>
        <p:nvSpPr>
          <p:cNvPr id="27" name="Shape 25"/>
          <p:cNvSpPr/>
          <p:nvPr/>
        </p:nvSpPr>
        <p:spPr>
          <a:xfrm>
            <a:off x="711200" y="4211771"/>
            <a:ext cx="10769600" cy="820341"/>
          </a:xfrm>
          <a:prstGeom prst="roundRect">
            <a:avLst>
              <a:gd name="adj" fmla="val 3096"/>
            </a:avLst>
          </a:prstGeom>
          <a:solidFill>
            <a:srgbClr val="F6EBDD"/>
          </a:solidFill>
          <a:ln/>
        </p:spPr>
      </p:sp>
      <p:sp>
        <p:nvSpPr>
          <p:cNvPr id="28" name="Shape 26"/>
          <p:cNvSpPr/>
          <p:nvPr/>
        </p:nvSpPr>
        <p:spPr>
          <a:xfrm>
            <a:off x="711200" y="4211771"/>
            <a:ext cx="10769600" cy="820341"/>
          </a:xfrm>
          <a:custGeom>
            <a:avLst/>
            <a:gdLst/>
            <a:ahLst/>
            <a:cxnLst/>
            <a:rect l="l" t="t" r="r" b="b"/>
            <a:pathLst>
              <a:path w="10769600" h="820341">
                <a:moveTo>
                  <a:pt x="38100" y="820341"/>
                </a:moveTo>
                <a:lnTo>
                  <a:pt x="25400" y="820341"/>
                </a:lnTo>
                <a:arcTo hR="25400" wR="25400" stAng="5400000" swAng="5400000"/>
                <a:lnTo>
                  <a:pt x="0" y="25400"/>
                </a:lnTo>
                <a:arcTo hR="25400" wR="25400" stAng="10800000" swAng="5400000"/>
                <a:lnTo>
                  <a:pt x="38100" y="0"/>
                </a:lnTo>
                <a:lnTo>
                  <a:pt x="38100" y="820341"/>
                </a:lnTo>
                <a:close/>
              </a:path>
            </a:pathLst>
          </a:custGeom>
          <a:solidFill>
            <a:srgbClr val="A4520F"/>
          </a:solidFill>
          <a:ln/>
        </p:spPr>
      </p:sp>
      <p:sp>
        <p:nvSpPr>
          <p:cNvPr id="29" name="Text 27"/>
          <p:cNvSpPr/>
          <p:nvPr/>
        </p:nvSpPr>
        <p:spPr>
          <a:xfrm>
            <a:off x="927100" y="4300671"/>
            <a:ext cx="10687177"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A4520F"/>
                </a:solidFill>
                <a:latin typeface="IBM Plex Sans" pitchFamily="34" charset="0"/>
                <a:ea typeface="IBM Plex Sans" pitchFamily="34" charset="-122"/>
                <a:cs typeface="IBM Plex Sans" pitchFamily="34" charset="-120"/>
              </a:rPr>
              <a:t>Assumption challenged:</a:t>
            </a:r>
            <a:r>
              <a:rPr lang="en-US" sz="1200" dirty="0">
                <a:solidFill>
                  <a:srgbClr val="2B2F36"/>
                </a:solidFill>
                <a:latin typeface="IBM Plex Sans" pitchFamily="34" charset="0"/>
                <a:ea typeface="IBM Plex Sans" pitchFamily="34" charset="-122"/>
                <a:cs typeface="IBM Plex Sans" pitchFamily="34" charset="-120"/>
              </a:rPr>
              <a:t> Challenged the single shared ACM hub, under which any non-production change implemented on ACM-Prod put the 15+ production clusters at risk.</a:t>
            </a:r>
            <a:endParaRPr lang="en-US" sz="1200" dirty="0"/>
          </a:p>
        </p:txBody>
      </p:sp>
      <p:sp>
        <p:nvSpPr>
          <p:cNvPr id="30" name="Text 28"/>
          <p:cNvSpPr/>
          <p:nvPr/>
        </p:nvSpPr>
        <p:spPr>
          <a:xfrm>
            <a:off x="927100" y="4737497"/>
            <a:ext cx="10687177"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A4520F"/>
                </a:solidFill>
                <a:latin typeface="IBM Plex Sans" pitchFamily="34" charset="0"/>
                <a:ea typeface="IBM Plex Sans" pitchFamily="34" charset="-122"/>
                <a:cs typeface="IBM Plex Sans" pitchFamily="34" charset="-120"/>
              </a:rPr>
              <a:t>Divisional impact:</a:t>
            </a:r>
            <a:r>
              <a:rPr lang="en-US" sz="1200" dirty="0">
                <a:solidFill>
                  <a:srgbClr val="2B2F36"/>
                </a:solidFill>
                <a:latin typeface="IBM Plex Sans" pitchFamily="34" charset="0"/>
                <a:ea typeface="IBM Plex Sans" pitchFamily="34" charset="-122"/>
                <a:cs typeface="IBM Plex Sans" pitchFamily="34" charset="-120"/>
              </a:rPr>
              <a:t> A segregated ACM control plane, GitOps-governed policies and GCP Cloud Logging across the Fabric platform.</a:t>
            </a:r>
            <a:endParaRPr lang="en-US" sz="1200" dirty="0"/>
          </a:p>
        </p:txBody>
      </p:sp>
      <p:sp>
        <p:nvSpPr>
          <p:cNvPr id="31" name="Text 29"/>
          <p:cNvSpPr/>
          <p:nvPr/>
        </p:nvSpPr>
        <p:spPr>
          <a:xfrm>
            <a:off x="711200" y="6289080"/>
            <a:ext cx="22542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Thinks</a:t>
            </a:r>
            <a:endParaRPr lang="en-US" sz="1200" dirty="0"/>
          </a:p>
        </p:txBody>
      </p:sp>
      <p:sp>
        <p:nvSpPr>
          <p:cNvPr id="32" name="Text 30"/>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03 / 13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071430"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ENGAGES</a:t>
            </a:r>
            <a:endParaRPr lang="en-US" sz="1200" dirty="0"/>
          </a:p>
        </p:txBody>
      </p:sp>
      <p:sp>
        <p:nvSpPr>
          <p:cNvPr id="3" name="Text 1"/>
          <p:cNvSpPr/>
          <p:nvPr/>
        </p:nvSpPr>
        <p:spPr>
          <a:xfrm>
            <a:off x="1909630" y="444500"/>
            <a:ext cx="13511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Level 3 · Skilled</a:t>
            </a:r>
            <a:endParaRPr lang="en-US" sz="1200" dirty="0"/>
          </a:p>
        </p:txBody>
      </p:sp>
      <p:sp>
        <p:nvSpPr>
          <p:cNvPr id="4" name="Text 2"/>
          <p:cNvSpPr/>
          <p:nvPr>
            <p:ph type="title"/>
          </p:nvPr>
        </p:nvSpPr>
        <p:spPr>
          <a:xfrm>
            <a:off x="711200" y="822920"/>
            <a:ext cx="11092688" cy="317500"/>
          </a:xfrm>
          <a:prstGeom prst="rect">
            <a:avLst/>
          </a:prstGeom>
          <a:noFill/>
          <a:ln/>
        </p:spPr>
        <p:txBody>
          <a:bodyPr wrap="square" lIns="0" tIns="0" rIns="0" bIns="0" rtlCol="0" anchor="t">
            <a:normAutofit/>
          </a:bodyPr>
          <a:lstStyle/>
          <a:p>
            <a:pPr algn="l" indent="0" marL="0">
              <a:lnSpc>
                <a:spcPts val="2300"/>
              </a:lnSpc>
              <a:buNone/>
            </a:pPr>
            <a:r>
              <a:rPr lang="en-US" sz="2000" b="1" i="0" dirty="0">
                <a:solidFill>
                  <a:srgbClr val="0F4C81"/>
                </a:solidFill>
                <a:latin typeface="IBM Plex Sans" pitchFamily="34" charset="0"/>
                <a:ea typeface="IBM Plex Sans" pitchFamily="34" charset="-122"/>
                <a:cs typeface="IBM Plex Sans" pitchFamily="34" charset="-120"/>
              </a:rPr>
              <a:t>Team Leadership, Cross-Divisional Collaboration, and Talent Development</a:t>
            </a:r>
            <a:endParaRPr lang="en-US" sz="2000" dirty="0"/>
          </a:p>
        </p:txBody>
      </p:sp>
      <p:sp>
        <p:nvSpPr>
          <p:cNvPr id="5" name="Shape 3"/>
          <p:cNvSpPr/>
          <p:nvPr/>
        </p:nvSpPr>
        <p:spPr>
          <a:xfrm>
            <a:off x="714375" y="1245195"/>
            <a:ext cx="10763250" cy="3655814"/>
          </a:xfrm>
          <a:prstGeom prst="roundRect">
            <a:avLst>
              <a:gd name="adj" fmla="val 1998"/>
            </a:avLst>
          </a:prstGeom>
          <a:solidFill>
            <a:srgbClr val="FBFCFD"/>
          </a:solidFill>
          <a:ln w="6350">
            <a:solidFill>
              <a:srgbClr val="D5DCE4"/>
            </a:solidFill>
            <a:prstDash val="solid"/>
          </a:ln>
        </p:spPr>
      </p:sp>
      <p:sp>
        <p:nvSpPr>
          <p:cNvPr id="6" name="Text 4"/>
          <p:cNvSpPr/>
          <p:nvPr/>
        </p:nvSpPr>
        <p:spPr>
          <a:xfrm>
            <a:off x="893233" y="1335154"/>
            <a:ext cx="180517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2798233" y="1335154"/>
            <a:ext cx="493589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7742767" y="1335154"/>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615149"/>
            <a:ext cx="1905000" cy="0"/>
          </a:xfrm>
          <a:prstGeom prst="line">
            <a:avLst/>
          </a:prstGeom>
          <a:noFill/>
          <a:ln w="6350">
            <a:solidFill>
              <a:srgbClr val="D5DCE4"/>
            </a:solidFill>
            <a:prstDash val="solid"/>
          </a:ln>
        </p:spPr>
      </p:sp>
      <p:sp>
        <p:nvSpPr>
          <p:cNvPr id="10" name="Text 8"/>
          <p:cNvSpPr/>
          <p:nvPr/>
        </p:nvSpPr>
        <p:spPr>
          <a:xfrm>
            <a:off x="893233" y="1679708"/>
            <a:ext cx="1805178"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Team Leadership</a:t>
            </a:r>
            <a:endParaRPr lang="en-US" sz="1300" dirty="0"/>
          </a:p>
        </p:txBody>
      </p:sp>
      <p:sp>
        <p:nvSpPr>
          <p:cNvPr id="11" name="Shape 9"/>
          <p:cNvSpPr/>
          <p:nvPr/>
        </p:nvSpPr>
        <p:spPr>
          <a:xfrm>
            <a:off x="2798233" y="1615149"/>
            <a:ext cx="4944533" cy="0"/>
          </a:xfrm>
          <a:prstGeom prst="line">
            <a:avLst/>
          </a:prstGeom>
          <a:noFill/>
          <a:ln w="6350">
            <a:solidFill>
              <a:srgbClr val="D5DCE4"/>
            </a:solidFill>
            <a:prstDash val="solid"/>
          </a:ln>
        </p:spPr>
      </p:sp>
      <p:sp>
        <p:nvSpPr>
          <p:cNvPr id="12" name="Text 10"/>
          <p:cNvSpPr/>
          <p:nvPr/>
        </p:nvSpPr>
        <p:spPr>
          <a:xfrm>
            <a:off x="2798233" y="1679708"/>
            <a:ext cx="49358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Run sprint planning and the backlog, match tasks to capability, celebrate success and open growth opportunities.</a:t>
            </a:r>
            <a:endParaRPr lang="en-US" sz="1200" dirty="0"/>
          </a:p>
        </p:txBody>
      </p:sp>
      <p:sp>
        <p:nvSpPr>
          <p:cNvPr id="13" name="Shape 11"/>
          <p:cNvSpPr/>
          <p:nvPr/>
        </p:nvSpPr>
        <p:spPr>
          <a:xfrm>
            <a:off x="7742767" y="1615149"/>
            <a:ext cx="3556000" cy="0"/>
          </a:xfrm>
          <a:prstGeom prst="line">
            <a:avLst/>
          </a:prstGeom>
          <a:noFill/>
          <a:ln w="6350">
            <a:solidFill>
              <a:srgbClr val="D5DCE4"/>
            </a:solidFill>
            <a:prstDash val="solid"/>
          </a:ln>
        </p:spPr>
      </p:sp>
      <p:sp>
        <p:nvSpPr>
          <p:cNvPr id="14" name="Text 12"/>
          <p:cNvSpPr/>
          <p:nvPr/>
        </p:nvSpPr>
        <p:spPr>
          <a:xfrm>
            <a:off x="7742767" y="1679708"/>
            <a:ext cx="3662680" cy="436827"/>
          </a:xfrm>
          <a:prstGeom prst="rect">
            <a:avLst/>
          </a:prstGeom>
          <a:noFill/>
          <a:ln/>
        </p:spPr>
        <p:txBody>
          <a:bodyPr wrap="square" lIns="0" tIns="0" rIns="0" bIns="0" rtlCol="0" anchor="t">
            <a:normAutofit/>
          </a:bodyPr>
          <a:lstStyle/>
          <a:p>
            <a:pPr algn="l" indent="0" marL="0">
              <a:lnSpc>
                <a:spcPts val="162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Sprint velocity</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Backlog</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Celebrating success</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Team appreciation</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Certification opportunity</a:t>
            </a:r>
            <a:endParaRPr lang="en-US" sz="1200" dirty="0"/>
          </a:p>
        </p:txBody>
      </p:sp>
      <p:sp>
        <p:nvSpPr>
          <p:cNvPr id="15" name="Shape 13"/>
          <p:cNvSpPr/>
          <p:nvPr/>
        </p:nvSpPr>
        <p:spPr>
          <a:xfrm>
            <a:off x="893233" y="2157809"/>
            <a:ext cx="1905000" cy="0"/>
          </a:xfrm>
          <a:prstGeom prst="line">
            <a:avLst/>
          </a:prstGeom>
          <a:noFill/>
          <a:ln w="6350">
            <a:solidFill>
              <a:srgbClr val="D5DCE4"/>
            </a:solidFill>
            <a:prstDash val="solid"/>
          </a:ln>
        </p:spPr>
      </p:sp>
      <p:sp>
        <p:nvSpPr>
          <p:cNvPr id="16" name="Text 14"/>
          <p:cNvSpPr/>
          <p:nvPr/>
        </p:nvSpPr>
        <p:spPr>
          <a:xfrm>
            <a:off x="893233" y="2222368"/>
            <a:ext cx="1805178"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Engineering Demand Ownership</a:t>
            </a:r>
            <a:endParaRPr lang="en-US" sz="1300" dirty="0"/>
          </a:p>
        </p:txBody>
      </p:sp>
      <p:sp>
        <p:nvSpPr>
          <p:cNvPr id="17" name="Shape 15"/>
          <p:cNvSpPr/>
          <p:nvPr/>
        </p:nvSpPr>
        <p:spPr>
          <a:xfrm>
            <a:off x="2798233" y="2157809"/>
            <a:ext cx="4944533" cy="0"/>
          </a:xfrm>
          <a:prstGeom prst="line">
            <a:avLst/>
          </a:prstGeom>
          <a:noFill/>
          <a:ln w="6350">
            <a:solidFill>
              <a:srgbClr val="D5DCE4"/>
            </a:solidFill>
            <a:prstDash val="solid"/>
          </a:ln>
        </p:spPr>
      </p:sp>
      <p:sp>
        <p:nvSpPr>
          <p:cNvPr id="18" name="Text 16"/>
          <p:cNvSpPr/>
          <p:nvPr/>
        </p:nvSpPr>
        <p:spPr>
          <a:xfrm>
            <a:off x="2798233" y="2222368"/>
            <a:ext cx="49358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Own engineering demand end to end, aligning Business, Product and Architecture priorities with realistic delivery.</a:t>
            </a:r>
            <a:endParaRPr lang="en-US" sz="1200" dirty="0"/>
          </a:p>
        </p:txBody>
      </p:sp>
      <p:sp>
        <p:nvSpPr>
          <p:cNvPr id="19" name="Shape 17"/>
          <p:cNvSpPr/>
          <p:nvPr/>
        </p:nvSpPr>
        <p:spPr>
          <a:xfrm>
            <a:off x="7742767" y="2157809"/>
            <a:ext cx="3556000" cy="0"/>
          </a:xfrm>
          <a:prstGeom prst="line">
            <a:avLst/>
          </a:prstGeom>
          <a:noFill/>
          <a:ln w="6350">
            <a:solidFill>
              <a:srgbClr val="D5DCE4"/>
            </a:solidFill>
            <a:prstDash val="solid"/>
          </a:ln>
        </p:spPr>
      </p:sp>
      <p:sp>
        <p:nvSpPr>
          <p:cNvPr id="20" name="Text 18"/>
          <p:cNvSpPr/>
          <p:nvPr/>
        </p:nvSpPr>
        <p:spPr>
          <a:xfrm>
            <a:off x="7742767" y="2222368"/>
            <a:ext cx="3662680" cy="436827"/>
          </a:xfrm>
          <a:prstGeom prst="rect">
            <a:avLst/>
          </a:prstGeom>
          <a:noFill/>
          <a:ln/>
        </p:spPr>
        <p:txBody>
          <a:bodyPr wrap="square" lIns="0" tIns="0" rIns="0" bIns="0" rtlCol="0" anchor="t">
            <a:normAutofit/>
          </a:bodyPr>
          <a:lstStyle/>
          <a:p>
            <a:pPr algn="l" indent="0" marL="0">
              <a:lnSpc>
                <a:spcPts val="1620"/>
              </a:lnSpc>
              <a:buNone/>
            </a:pPr>
            <a:r>
              <a:rPr lang="en-US" sz="1200" u="sng" dirty="0">
                <a:solidFill>
                  <a:srgbClr val="2B2F36"/>
                </a:solidFill>
                <a:latin typeface="IBM Plex Sans" pitchFamily="34" charset="0"/>
                <a:ea typeface="IBM Plex Sans" pitchFamily="34" charset="-122"/>
                <a:cs typeface="IBM Plex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Demand backlog</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Meeting invite</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8" invalidUrl="" action="" tgtFrame="" tooltip="" history="1" highlightClick="0" endSnd="0">
                  <a:extLst>
                    <a:ext uri="{A12FA001-AC4F-418D-AE19-62706E023703}">
                      <ahyp:hlinkClr xmlns:ahyp="http://schemas.microsoft.com/office/drawing/2018/hyperlinkcolor" val="tx"/>
                    </a:ext>
                  </a:extLst>
                </a:hlinkClick>
              </a:rPr>
              <a:t>INC0030655524 email</a:t>
            </a:r>
            <a:endParaRPr lang="en-US" sz="1200" dirty="0"/>
          </a:p>
        </p:txBody>
      </p:sp>
      <p:sp>
        <p:nvSpPr>
          <p:cNvPr id="21" name="Shape 19"/>
          <p:cNvSpPr/>
          <p:nvPr/>
        </p:nvSpPr>
        <p:spPr>
          <a:xfrm>
            <a:off x="893233" y="2701793"/>
            <a:ext cx="1905000" cy="0"/>
          </a:xfrm>
          <a:prstGeom prst="line">
            <a:avLst/>
          </a:prstGeom>
          <a:noFill/>
          <a:ln w="6350">
            <a:solidFill>
              <a:srgbClr val="D5DCE4"/>
            </a:solidFill>
            <a:prstDash val="solid"/>
          </a:ln>
        </p:spPr>
      </p:sp>
      <p:sp>
        <p:nvSpPr>
          <p:cNvPr id="22" name="Text 20"/>
          <p:cNvSpPr/>
          <p:nvPr/>
        </p:nvSpPr>
        <p:spPr>
          <a:xfrm>
            <a:off x="893233" y="2766352"/>
            <a:ext cx="1805178"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AI Community Mentoring</a:t>
            </a:r>
            <a:endParaRPr lang="en-US" sz="1300" dirty="0"/>
          </a:p>
        </p:txBody>
      </p:sp>
      <p:sp>
        <p:nvSpPr>
          <p:cNvPr id="23" name="Shape 21"/>
          <p:cNvSpPr/>
          <p:nvPr/>
        </p:nvSpPr>
        <p:spPr>
          <a:xfrm>
            <a:off x="2798233" y="2701793"/>
            <a:ext cx="4944533" cy="0"/>
          </a:xfrm>
          <a:prstGeom prst="line">
            <a:avLst/>
          </a:prstGeom>
          <a:noFill/>
          <a:ln w="6350">
            <a:solidFill>
              <a:srgbClr val="D5DCE4"/>
            </a:solidFill>
            <a:prstDash val="solid"/>
          </a:ln>
        </p:spPr>
      </p:sp>
      <p:sp>
        <p:nvSpPr>
          <p:cNvPr id="24" name="Text 22"/>
          <p:cNvSpPr/>
          <p:nvPr/>
        </p:nvSpPr>
        <p:spPr>
          <a:xfrm>
            <a:off x="2798233" y="2766352"/>
            <a:ext cx="49358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Mentor engineers from other divisions on GCP AI/ML through the AI Community and DB AI Engineer Mentors Program.</a:t>
            </a:r>
            <a:endParaRPr lang="en-US" sz="1200" dirty="0"/>
          </a:p>
        </p:txBody>
      </p:sp>
      <p:sp>
        <p:nvSpPr>
          <p:cNvPr id="25" name="Shape 23"/>
          <p:cNvSpPr/>
          <p:nvPr/>
        </p:nvSpPr>
        <p:spPr>
          <a:xfrm>
            <a:off x="7742767" y="2701793"/>
            <a:ext cx="3556000" cy="0"/>
          </a:xfrm>
          <a:prstGeom prst="line">
            <a:avLst/>
          </a:prstGeom>
          <a:noFill/>
          <a:ln w="6350">
            <a:solidFill>
              <a:srgbClr val="D5DCE4"/>
            </a:solidFill>
            <a:prstDash val="solid"/>
          </a:ln>
        </p:spPr>
      </p:sp>
      <p:sp>
        <p:nvSpPr>
          <p:cNvPr id="26" name="Text 24"/>
          <p:cNvSpPr/>
          <p:nvPr/>
        </p:nvSpPr>
        <p:spPr>
          <a:xfrm>
            <a:off x="7742767" y="2766352"/>
            <a:ext cx="3662680" cy="436827"/>
          </a:xfrm>
          <a:prstGeom prst="rect">
            <a:avLst/>
          </a:prstGeom>
          <a:noFill/>
          <a:ln/>
        </p:spPr>
        <p:txBody>
          <a:bodyPr wrap="square" lIns="0" tIns="0" rIns="0" bIns="0" rtlCol="0" anchor="t">
            <a:normAutofit/>
          </a:bodyPr>
          <a:lstStyle/>
          <a:p>
            <a:pPr algn="l" indent="0" marL="0">
              <a:lnSpc>
                <a:spcPts val="1620"/>
              </a:lnSpc>
              <a:buNone/>
            </a:pPr>
            <a:r>
              <a:rPr lang="en-US" sz="1200" u="sng" dirty="0">
                <a:solidFill>
                  <a:srgbClr val="2B2F36"/>
                </a:solidFill>
                <a:latin typeface="IBM Plex Sans" pitchFamily="34" charset="0"/>
                <a:ea typeface="IBM Plex Sans" pitchFamily="34" charset="-122"/>
                <a:cs typeface="IBM Plex Sans" pitchFamily="34" charset="-120"/>
                <a:hlinkClick r:id="rId9" invalidUrl="" action="" tgtFrame="" tooltip="" history="1" highlightClick="0" endSnd="0">
                  <a:extLst>
                    <a:ext uri="{A12FA001-AC4F-418D-AE19-62706E023703}">
                      <ahyp:hlinkClr xmlns:ahyp="http://schemas.microsoft.com/office/drawing/2018/hyperlinkcolor" val="tx"/>
                    </a:ext>
                  </a:extLst>
                </a:hlinkClick>
              </a:rPr>
              <a:t>AI Mentors page</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Mentor welcome</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Programme welcome</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2" invalidUrl="" action="" tgtFrame="" tooltip="" history="1" highlightClick="0" endSnd="0">
                  <a:extLst>
                    <a:ext uri="{A12FA001-AC4F-418D-AE19-62706E023703}">
                      <ahyp:hlinkClr xmlns:ahyp="http://schemas.microsoft.com/office/drawing/2018/hyperlinkcolor" val="tx"/>
                    </a:ext>
                  </a:extLst>
                </a:hlinkClick>
              </a:rPr>
              <a:t>Mentee email</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3" invalidUrl="" action="" tgtFrame="" tooltip="" history="1" highlightClick="0" endSnd="0">
                  <a:extLst>
                    <a:ext uri="{A12FA001-AC4F-418D-AE19-62706E023703}">
                      <ahyp:hlinkClr xmlns:ahyp="http://schemas.microsoft.com/office/drawing/2018/hyperlinkcolor" val="tx"/>
                    </a:ext>
                  </a:extLst>
                </a:hlinkClick>
              </a:rPr>
              <a:t>Teams chat</a:t>
            </a:r>
            <a:endParaRPr lang="en-US" sz="1200" dirty="0"/>
          </a:p>
        </p:txBody>
      </p:sp>
      <p:sp>
        <p:nvSpPr>
          <p:cNvPr id="27" name="Shape 25"/>
          <p:cNvSpPr/>
          <p:nvPr/>
        </p:nvSpPr>
        <p:spPr>
          <a:xfrm>
            <a:off x="893233" y="3245777"/>
            <a:ext cx="1905000" cy="0"/>
          </a:xfrm>
          <a:prstGeom prst="line">
            <a:avLst/>
          </a:prstGeom>
          <a:noFill/>
          <a:ln w="6350">
            <a:solidFill>
              <a:srgbClr val="D5DCE4"/>
            </a:solidFill>
            <a:prstDash val="solid"/>
          </a:ln>
        </p:spPr>
      </p:sp>
      <p:sp>
        <p:nvSpPr>
          <p:cNvPr id="28" name="Text 26"/>
          <p:cNvSpPr/>
          <p:nvPr/>
        </p:nvSpPr>
        <p:spPr>
          <a:xfrm>
            <a:off x="893233" y="3310334"/>
            <a:ext cx="1805178"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Graduate Trainee Enablement</a:t>
            </a:r>
            <a:endParaRPr lang="en-US" sz="1300" dirty="0"/>
          </a:p>
        </p:txBody>
      </p:sp>
      <p:sp>
        <p:nvSpPr>
          <p:cNvPr id="29" name="Shape 27"/>
          <p:cNvSpPr/>
          <p:nvPr/>
        </p:nvSpPr>
        <p:spPr>
          <a:xfrm>
            <a:off x="2798233" y="3245777"/>
            <a:ext cx="4944533" cy="0"/>
          </a:xfrm>
          <a:prstGeom prst="line">
            <a:avLst/>
          </a:prstGeom>
          <a:noFill/>
          <a:ln w="6350">
            <a:solidFill>
              <a:srgbClr val="D5DCE4"/>
            </a:solidFill>
            <a:prstDash val="solid"/>
          </a:ln>
        </p:spPr>
      </p:sp>
      <p:sp>
        <p:nvSpPr>
          <p:cNvPr id="30" name="Text 28"/>
          <p:cNvSpPr/>
          <p:nvPr/>
        </p:nvSpPr>
        <p:spPr>
          <a:xfrm>
            <a:off x="2798233" y="3310334"/>
            <a:ext cx="49358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Created and delivered DB GCP Landing Zone training for the 2022 and 2023 graduate programmes.</a:t>
            </a:r>
            <a:endParaRPr lang="en-US" sz="1200" dirty="0"/>
          </a:p>
        </p:txBody>
      </p:sp>
      <p:sp>
        <p:nvSpPr>
          <p:cNvPr id="31" name="Shape 29"/>
          <p:cNvSpPr/>
          <p:nvPr/>
        </p:nvSpPr>
        <p:spPr>
          <a:xfrm>
            <a:off x="7742767" y="3245777"/>
            <a:ext cx="3556000" cy="0"/>
          </a:xfrm>
          <a:prstGeom prst="line">
            <a:avLst/>
          </a:prstGeom>
          <a:noFill/>
          <a:ln w="6350">
            <a:solidFill>
              <a:srgbClr val="D5DCE4"/>
            </a:solidFill>
            <a:prstDash val="solid"/>
          </a:ln>
        </p:spPr>
      </p:sp>
      <p:sp>
        <p:nvSpPr>
          <p:cNvPr id="32" name="Text 30"/>
          <p:cNvSpPr/>
          <p:nvPr/>
        </p:nvSpPr>
        <p:spPr>
          <a:xfrm>
            <a:off x="7742767" y="3310334"/>
            <a:ext cx="3662680" cy="231114"/>
          </a:xfrm>
          <a:prstGeom prst="rect">
            <a:avLst/>
          </a:prstGeom>
          <a:noFill/>
          <a:ln/>
        </p:spPr>
        <p:txBody>
          <a:bodyPr wrap="square" lIns="0" tIns="0" rIns="0" bIns="0" rtlCol="0" anchor="t">
            <a:normAutofit/>
          </a:bodyPr>
          <a:lstStyle/>
          <a:p>
            <a:pPr algn="l" indent="0" marL="0">
              <a:lnSpc>
                <a:spcPts val="1620"/>
              </a:lnSpc>
              <a:buNone/>
            </a:pPr>
            <a:r>
              <a:rPr lang="en-US" sz="1200" u="sng" dirty="0">
                <a:solidFill>
                  <a:srgbClr val="2B2F36"/>
                </a:solidFill>
                <a:latin typeface="IBM Plex Sans" pitchFamily="34" charset="0"/>
                <a:ea typeface="IBM Plex Sans" pitchFamily="34" charset="-122"/>
                <a:cs typeface="IBM Plex Sans" pitchFamily="34" charset="-120"/>
                <a:hlinkClick r:id="rId14" invalidUrl="" action="" tgtFrame="" tooltip="" history="1" highlightClick="0" endSnd="0">
                  <a:extLst>
                    <a:ext uri="{A12FA001-AC4F-418D-AE19-62706E023703}">
                      <ahyp:hlinkClr xmlns:ahyp="http://schemas.microsoft.com/office/drawing/2018/hyperlinkcolor" val="tx"/>
                    </a:ext>
                  </a:extLst>
                </a:hlinkClick>
              </a:rPr>
              <a:t>Curriculum slides</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5" invalidUrl="" action="" tgtFrame="" tooltip="" history="1" highlightClick="0" endSnd="0">
                  <a:extLst>
                    <a:ext uri="{A12FA001-AC4F-418D-AE19-62706E023703}">
                      <ahyp:hlinkClr xmlns:ahyp="http://schemas.microsoft.com/office/drawing/2018/hyperlinkcolor" val="tx"/>
                    </a:ext>
                  </a:extLst>
                </a:hlinkClick>
              </a:rPr>
              <a:t>2022 schedule</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6" invalidUrl="" action="" tgtFrame="" tooltip="" history="1" highlightClick="0" endSnd="0">
                  <a:extLst>
                    <a:ext uri="{A12FA001-AC4F-418D-AE19-62706E023703}">
                      <ahyp:hlinkClr xmlns:ahyp="http://schemas.microsoft.com/office/drawing/2018/hyperlinkcolor" val="tx"/>
                    </a:ext>
                  </a:extLst>
                </a:hlinkClick>
              </a:rPr>
              <a:t>2023 schedule</a:t>
            </a:r>
            <a:endParaRPr lang="en-US" sz="1200" dirty="0"/>
          </a:p>
        </p:txBody>
      </p:sp>
      <p:sp>
        <p:nvSpPr>
          <p:cNvPr id="33" name="Shape 31"/>
          <p:cNvSpPr/>
          <p:nvPr/>
        </p:nvSpPr>
        <p:spPr>
          <a:xfrm>
            <a:off x="893233" y="3789759"/>
            <a:ext cx="1905000" cy="0"/>
          </a:xfrm>
          <a:prstGeom prst="line">
            <a:avLst/>
          </a:prstGeom>
          <a:noFill/>
          <a:ln w="6350">
            <a:solidFill>
              <a:srgbClr val="D5DCE4"/>
            </a:solidFill>
            <a:prstDash val="solid"/>
          </a:ln>
        </p:spPr>
      </p:sp>
      <p:sp>
        <p:nvSpPr>
          <p:cNvPr id="34" name="Text 32"/>
          <p:cNvSpPr/>
          <p:nvPr/>
        </p:nvSpPr>
        <p:spPr>
          <a:xfrm>
            <a:off x="893233" y="3854318"/>
            <a:ext cx="1805178"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Operations Enablement</a:t>
            </a:r>
            <a:endParaRPr lang="en-US" sz="1300" dirty="0"/>
          </a:p>
        </p:txBody>
      </p:sp>
      <p:sp>
        <p:nvSpPr>
          <p:cNvPr id="35" name="Shape 33"/>
          <p:cNvSpPr/>
          <p:nvPr/>
        </p:nvSpPr>
        <p:spPr>
          <a:xfrm>
            <a:off x="2798233" y="3789759"/>
            <a:ext cx="4944533" cy="0"/>
          </a:xfrm>
          <a:prstGeom prst="line">
            <a:avLst/>
          </a:prstGeom>
          <a:noFill/>
          <a:ln w="6350">
            <a:solidFill>
              <a:srgbClr val="D5DCE4"/>
            </a:solidFill>
            <a:prstDash val="solid"/>
          </a:ln>
        </p:spPr>
      </p:sp>
      <p:sp>
        <p:nvSpPr>
          <p:cNvPr id="36" name="Text 34"/>
          <p:cNvSpPr/>
          <p:nvPr/>
        </p:nvSpPr>
        <p:spPr>
          <a:xfrm>
            <a:off x="2798233" y="3854318"/>
            <a:ext cx="49358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Executed 5-day Terraform &amp; GitOps hands-on training to remove deployment bottlenecks.</a:t>
            </a:r>
            <a:endParaRPr lang="en-US" sz="1200" dirty="0"/>
          </a:p>
        </p:txBody>
      </p:sp>
      <p:sp>
        <p:nvSpPr>
          <p:cNvPr id="37" name="Shape 35"/>
          <p:cNvSpPr/>
          <p:nvPr/>
        </p:nvSpPr>
        <p:spPr>
          <a:xfrm>
            <a:off x="7742767" y="3789759"/>
            <a:ext cx="3556000" cy="0"/>
          </a:xfrm>
          <a:prstGeom prst="line">
            <a:avLst/>
          </a:prstGeom>
          <a:noFill/>
          <a:ln w="6350">
            <a:solidFill>
              <a:srgbClr val="D5DCE4"/>
            </a:solidFill>
            <a:prstDash val="solid"/>
          </a:ln>
        </p:spPr>
      </p:sp>
      <p:sp>
        <p:nvSpPr>
          <p:cNvPr id="38" name="Text 36"/>
          <p:cNvSpPr/>
          <p:nvPr/>
        </p:nvSpPr>
        <p:spPr>
          <a:xfrm>
            <a:off x="7742767" y="3854318"/>
            <a:ext cx="3662680" cy="231114"/>
          </a:xfrm>
          <a:prstGeom prst="rect">
            <a:avLst/>
          </a:prstGeom>
          <a:noFill/>
          <a:ln/>
        </p:spPr>
        <p:txBody>
          <a:bodyPr wrap="square" lIns="0" tIns="0" rIns="0" bIns="0" rtlCol="0" anchor="t">
            <a:normAutofit/>
          </a:bodyPr>
          <a:lstStyle/>
          <a:p>
            <a:pPr algn="l" indent="0" marL="0">
              <a:lnSpc>
                <a:spcPts val="1620"/>
              </a:lnSpc>
              <a:buNone/>
            </a:pPr>
            <a:r>
              <a:rPr lang="en-US" sz="1200" u="sng" dirty="0">
                <a:solidFill>
                  <a:srgbClr val="2B2F36"/>
                </a:solidFill>
                <a:latin typeface="IBM Plex Sans" pitchFamily="34" charset="0"/>
                <a:ea typeface="IBM Plex Sans" pitchFamily="34" charset="-122"/>
                <a:cs typeface="IBM Plex Sans" pitchFamily="34" charset="-120"/>
                <a:hlinkClick r:id="rId17" invalidUrl="" action="" tgtFrame="" tooltip="" history="1" highlightClick="0" endSnd="0">
                  <a:extLst>
                    <a:ext uri="{A12FA001-AC4F-418D-AE19-62706E023703}">
                      <ahyp:hlinkClr xmlns:ahyp="http://schemas.microsoft.com/office/drawing/2018/hyperlinkcolor" val="tx"/>
                    </a:ext>
                  </a:extLst>
                </a:hlinkClick>
              </a:rPr>
              <a:t>5-day agenda</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8" invalidUrl="" action="" tgtFrame="" tooltip="" history="1" highlightClick="0" endSnd="0">
                  <a:extLst>
                    <a:ext uri="{A12FA001-AC4F-418D-AE19-62706E023703}">
                      <ahyp:hlinkClr xmlns:ahyp="http://schemas.microsoft.com/office/drawing/2018/hyperlinkcolor" val="tx"/>
                    </a:ext>
                  </a:extLst>
                </a:hlinkClick>
              </a:rPr>
              <a:t>Feedback results</a:t>
            </a:r>
            <a:endParaRPr lang="en-US" sz="1200" dirty="0"/>
          </a:p>
        </p:txBody>
      </p:sp>
      <p:sp>
        <p:nvSpPr>
          <p:cNvPr id="39" name="Shape 37"/>
          <p:cNvSpPr/>
          <p:nvPr/>
        </p:nvSpPr>
        <p:spPr>
          <a:xfrm>
            <a:off x="893233" y="4333743"/>
            <a:ext cx="1905000" cy="0"/>
          </a:xfrm>
          <a:prstGeom prst="line">
            <a:avLst/>
          </a:prstGeom>
          <a:noFill/>
          <a:ln w="6350">
            <a:solidFill>
              <a:srgbClr val="D5DCE4"/>
            </a:solidFill>
            <a:prstDash val="solid"/>
          </a:ln>
        </p:spPr>
      </p:sp>
      <p:sp>
        <p:nvSpPr>
          <p:cNvPr id="40" name="Text 38"/>
          <p:cNvSpPr/>
          <p:nvPr/>
        </p:nvSpPr>
        <p:spPr>
          <a:xfrm>
            <a:off x="893233" y="4398302"/>
            <a:ext cx="1805178"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Developing an Emerging Engineer</a:t>
            </a:r>
            <a:endParaRPr lang="en-US" sz="1300" dirty="0"/>
          </a:p>
        </p:txBody>
      </p:sp>
      <p:sp>
        <p:nvSpPr>
          <p:cNvPr id="41" name="Shape 39"/>
          <p:cNvSpPr/>
          <p:nvPr/>
        </p:nvSpPr>
        <p:spPr>
          <a:xfrm>
            <a:off x="2798233" y="4333743"/>
            <a:ext cx="4944533" cy="0"/>
          </a:xfrm>
          <a:prstGeom prst="line">
            <a:avLst/>
          </a:prstGeom>
          <a:noFill/>
          <a:ln w="6350">
            <a:solidFill>
              <a:srgbClr val="D5DCE4"/>
            </a:solidFill>
            <a:prstDash val="solid"/>
          </a:ln>
        </p:spPr>
      </p:sp>
      <p:sp>
        <p:nvSpPr>
          <p:cNvPr id="42" name="Text 40"/>
          <p:cNvSpPr/>
          <p:nvPr/>
        </p:nvSpPr>
        <p:spPr>
          <a:xfrm>
            <a:off x="2798233" y="4398302"/>
            <a:ext cx="49358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Ran a one-year journey for Atharva Honrao: regular 1:1s, growing task complexity, GCP Gen AI and DB AI Engineer certifications.</a:t>
            </a:r>
            <a:endParaRPr lang="en-US" sz="1200" dirty="0"/>
          </a:p>
        </p:txBody>
      </p:sp>
      <p:sp>
        <p:nvSpPr>
          <p:cNvPr id="43" name="Shape 41"/>
          <p:cNvSpPr/>
          <p:nvPr/>
        </p:nvSpPr>
        <p:spPr>
          <a:xfrm>
            <a:off x="7742767" y="4333743"/>
            <a:ext cx="3556000" cy="0"/>
          </a:xfrm>
          <a:prstGeom prst="line">
            <a:avLst/>
          </a:prstGeom>
          <a:noFill/>
          <a:ln w="6350">
            <a:solidFill>
              <a:srgbClr val="D5DCE4"/>
            </a:solidFill>
            <a:prstDash val="solid"/>
          </a:ln>
        </p:spPr>
      </p:sp>
      <p:sp>
        <p:nvSpPr>
          <p:cNvPr id="44" name="Text 42"/>
          <p:cNvSpPr/>
          <p:nvPr/>
        </p:nvSpPr>
        <p:spPr>
          <a:xfrm>
            <a:off x="7742767" y="4398302"/>
            <a:ext cx="3662680" cy="436827"/>
          </a:xfrm>
          <a:prstGeom prst="rect">
            <a:avLst/>
          </a:prstGeom>
          <a:noFill/>
          <a:ln/>
        </p:spPr>
        <p:txBody>
          <a:bodyPr wrap="square" lIns="0" tIns="0" rIns="0" bIns="0" rtlCol="0" anchor="t">
            <a:normAutofit/>
          </a:bodyPr>
          <a:lstStyle/>
          <a:p>
            <a:pPr algn="l" indent="0" marL="0">
              <a:lnSpc>
                <a:spcPts val="1620"/>
              </a:lnSpc>
              <a:buNone/>
            </a:pPr>
            <a:r>
              <a:rPr lang="en-US" sz="1200" u="sng" dirty="0">
                <a:solidFill>
                  <a:srgbClr val="2B2F36"/>
                </a:solidFill>
                <a:latin typeface="IBM Plex Sans" pitchFamily="34" charset="0"/>
                <a:ea typeface="IBM Plex Sans" pitchFamily="34" charset="-122"/>
                <a:cs typeface="IBM Plex Sans" pitchFamily="34" charset="-120"/>
                <a:hlinkClick r:id="rId19" invalidUrl="" action="" tgtFrame="" tooltip="" history="1" highlightClick="0" endSnd="0">
                  <a:extLst>
                    <a:ext uri="{A12FA001-AC4F-418D-AE19-62706E023703}">
                      <ahyp:hlinkClr xmlns:ahyp="http://schemas.microsoft.com/office/drawing/2018/hyperlinkcolor" val="tx"/>
                    </a:ext>
                  </a:extLst>
                </a:hlinkClick>
              </a:rPr>
              <a:t>1:1 records</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20" invalidUrl="" action="" tgtFrame="" tooltip="" history="1" highlightClick="0" endSnd="0">
                  <a:extLst>
                    <a:ext uri="{A12FA001-AC4F-418D-AE19-62706E023703}">
                      <ahyp:hlinkClr xmlns:ahyp="http://schemas.microsoft.com/office/drawing/2018/hyperlinkcolor" val="tx"/>
                    </a:ext>
                  </a:extLst>
                </a:hlinkClick>
              </a:rPr>
              <a:t>Jira progression</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21" invalidUrl="" action="" tgtFrame="" tooltip="" history="1" highlightClick="0" endSnd="0">
                  <a:extLst>
                    <a:ext uri="{A12FA001-AC4F-418D-AE19-62706E023703}">
                      <ahyp:hlinkClr xmlns:ahyp="http://schemas.microsoft.com/office/drawing/2018/hyperlinkcolor" val="tx"/>
                    </a:ext>
                  </a:extLst>
                </a:hlinkClick>
              </a:rPr>
              <a:t>Promotion recommendation</a:t>
            </a:r>
            <a:endParaRPr lang="en-US" sz="1200" dirty="0"/>
          </a:p>
        </p:txBody>
      </p:sp>
      <p:sp>
        <p:nvSpPr>
          <p:cNvPr id="45" name="Text 43"/>
          <p:cNvSpPr/>
          <p:nvPr/>
        </p:nvSpPr>
        <p:spPr>
          <a:xfrm>
            <a:off x="711200" y="6289080"/>
            <a:ext cx="2401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Engages</a:t>
            </a:r>
            <a:endParaRPr lang="en-US" sz="1200" dirty="0"/>
          </a:p>
        </p:txBody>
      </p:sp>
      <p:sp>
        <p:nvSpPr>
          <p:cNvPr id="46" name="Text 44"/>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04 / 13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355659"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INFLUENCES</a:t>
            </a:r>
            <a:endParaRPr lang="en-US" sz="1200" dirty="0"/>
          </a:p>
        </p:txBody>
      </p:sp>
      <p:sp>
        <p:nvSpPr>
          <p:cNvPr id="3" name="Text 1"/>
          <p:cNvSpPr/>
          <p:nvPr/>
        </p:nvSpPr>
        <p:spPr>
          <a:xfrm>
            <a:off x="2193859" y="444500"/>
            <a:ext cx="13511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Level 3 · Skilled</a:t>
            </a:r>
            <a:endParaRPr lang="en-US" sz="1200" dirty="0"/>
          </a:p>
        </p:txBody>
      </p:sp>
      <p:sp>
        <p:nvSpPr>
          <p:cNvPr id="4" name="Text 2"/>
          <p:cNvSpPr/>
          <p:nvPr>
            <p:ph type="title"/>
          </p:nvPr>
        </p:nvSpPr>
        <p:spPr>
          <a:xfrm>
            <a:off x="711200" y="822920"/>
            <a:ext cx="11092688" cy="317500"/>
          </a:xfrm>
          <a:prstGeom prst="rect">
            <a:avLst/>
          </a:prstGeom>
          <a:noFill/>
          <a:ln/>
        </p:spPr>
        <p:txBody>
          <a:bodyPr wrap="square" lIns="0" tIns="0" rIns="0" bIns="0" rtlCol="0" anchor="t">
            <a:normAutofit/>
          </a:bodyPr>
          <a:lstStyle/>
          <a:p>
            <a:pPr algn="l" indent="0" marL="0">
              <a:lnSpc>
                <a:spcPts val="2300"/>
              </a:lnSpc>
              <a:buNone/>
            </a:pPr>
            <a:r>
              <a:rPr lang="en-US" sz="2000" b="1" i="0" dirty="0">
                <a:solidFill>
                  <a:srgbClr val="0F4C81"/>
                </a:solidFill>
                <a:latin typeface="IBM Plex Sans" pitchFamily="34" charset="0"/>
                <a:ea typeface="IBM Plex Sans" pitchFamily="34" charset="-122"/>
                <a:cs typeface="IBM Plex Sans" pitchFamily="34" charset="-120"/>
              </a:rPr>
              <a:t>Stakeholder De-Escalation, Conflict Resolution, and Technical Authority</a:t>
            </a:r>
            <a:endParaRPr lang="en-US" sz="2000" dirty="0"/>
          </a:p>
        </p:txBody>
      </p:sp>
      <p:sp>
        <p:nvSpPr>
          <p:cNvPr id="5" name="Shape 3"/>
          <p:cNvSpPr/>
          <p:nvPr/>
        </p:nvSpPr>
        <p:spPr>
          <a:xfrm>
            <a:off x="714375" y="1245195"/>
            <a:ext cx="10763250" cy="2805973"/>
          </a:xfrm>
          <a:prstGeom prst="roundRect">
            <a:avLst>
              <a:gd name="adj" fmla="val 2602"/>
            </a:avLst>
          </a:prstGeom>
          <a:solidFill>
            <a:srgbClr val="FBFCFD"/>
          </a:solidFill>
          <a:ln w="6350">
            <a:solidFill>
              <a:srgbClr val="D5DCE4"/>
            </a:solidFill>
            <a:prstDash val="solid"/>
          </a:ln>
        </p:spPr>
      </p:sp>
      <p:sp>
        <p:nvSpPr>
          <p:cNvPr id="6" name="Text 4"/>
          <p:cNvSpPr/>
          <p:nvPr/>
        </p:nvSpPr>
        <p:spPr>
          <a:xfrm>
            <a:off x="893233" y="1335156"/>
            <a:ext cx="180517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2798233" y="1335156"/>
            <a:ext cx="493589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7742767" y="1335156"/>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615151"/>
            <a:ext cx="1905000" cy="0"/>
          </a:xfrm>
          <a:prstGeom prst="line">
            <a:avLst/>
          </a:prstGeom>
          <a:noFill/>
          <a:ln w="6350">
            <a:solidFill>
              <a:srgbClr val="D5DCE4"/>
            </a:solidFill>
            <a:prstDash val="solid"/>
          </a:ln>
        </p:spPr>
      </p:sp>
      <p:sp>
        <p:nvSpPr>
          <p:cNvPr id="10" name="Text 8"/>
          <p:cNvSpPr/>
          <p:nvPr/>
        </p:nvSpPr>
        <p:spPr>
          <a:xfrm>
            <a:off x="893233" y="1705108"/>
            <a:ext cx="1805178"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MD/Director Conflict Resolution</a:t>
            </a:r>
            <a:endParaRPr lang="en-US" sz="1300" dirty="0"/>
          </a:p>
        </p:txBody>
      </p:sp>
      <p:sp>
        <p:nvSpPr>
          <p:cNvPr id="11" name="Shape 9"/>
          <p:cNvSpPr/>
          <p:nvPr/>
        </p:nvSpPr>
        <p:spPr>
          <a:xfrm>
            <a:off x="2798233" y="1615151"/>
            <a:ext cx="4944533" cy="0"/>
          </a:xfrm>
          <a:prstGeom prst="line">
            <a:avLst/>
          </a:prstGeom>
          <a:noFill/>
          <a:ln w="6350">
            <a:solidFill>
              <a:srgbClr val="D5DCE4"/>
            </a:solidFill>
            <a:prstDash val="solid"/>
          </a:ln>
        </p:spPr>
      </p:sp>
      <p:sp>
        <p:nvSpPr>
          <p:cNvPr id="12" name="Text 10"/>
          <p:cNvSpPr/>
          <p:nvPr/>
        </p:nvSpPr>
        <p:spPr>
          <a:xfrm>
            <a:off x="2798233" y="1705108"/>
            <a:ext cx="49358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Led a technical briefing for senior leaders to clarify OCP4 certificate workflows, resolving friction over a $1.69B critical payments outage.</a:t>
            </a:r>
            <a:endParaRPr lang="en-US" sz="1200" dirty="0"/>
          </a:p>
        </p:txBody>
      </p:sp>
      <p:sp>
        <p:nvSpPr>
          <p:cNvPr id="13" name="Shape 11"/>
          <p:cNvSpPr/>
          <p:nvPr/>
        </p:nvSpPr>
        <p:spPr>
          <a:xfrm>
            <a:off x="7742767" y="1615151"/>
            <a:ext cx="3556000" cy="0"/>
          </a:xfrm>
          <a:prstGeom prst="line">
            <a:avLst/>
          </a:prstGeom>
          <a:noFill/>
          <a:ln w="6350">
            <a:solidFill>
              <a:srgbClr val="D5DCE4"/>
            </a:solidFill>
            <a:prstDash val="solid"/>
          </a:ln>
        </p:spPr>
      </p:sp>
      <p:sp>
        <p:nvSpPr>
          <p:cNvPr id="14" name="Text 12"/>
          <p:cNvSpPr/>
          <p:nvPr/>
        </p:nvSpPr>
        <p:spPr>
          <a:xfrm>
            <a:off x="7742767" y="1705108"/>
            <a:ext cx="3662680" cy="452041"/>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Meeting invite</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Certificate workflow</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Problem record PRB0152626</a:t>
            </a:r>
            <a:endParaRPr lang="en-US" sz="1200" dirty="0"/>
          </a:p>
        </p:txBody>
      </p:sp>
      <p:sp>
        <p:nvSpPr>
          <p:cNvPr id="15" name="Shape 13"/>
          <p:cNvSpPr/>
          <p:nvPr/>
        </p:nvSpPr>
        <p:spPr>
          <a:xfrm>
            <a:off x="893233" y="2223824"/>
            <a:ext cx="1905000" cy="0"/>
          </a:xfrm>
          <a:prstGeom prst="line">
            <a:avLst/>
          </a:prstGeom>
          <a:noFill/>
          <a:ln w="6350">
            <a:solidFill>
              <a:srgbClr val="D5DCE4"/>
            </a:solidFill>
            <a:prstDash val="solid"/>
          </a:ln>
        </p:spPr>
      </p:sp>
      <p:sp>
        <p:nvSpPr>
          <p:cNvPr id="16" name="Text 14"/>
          <p:cNvSpPr/>
          <p:nvPr/>
        </p:nvSpPr>
        <p:spPr>
          <a:xfrm>
            <a:off x="893233" y="2313781"/>
            <a:ext cx="1805178"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IPSec Production Remediation</a:t>
            </a:r>
            <a:endParaRPr lang="en-US" sz="1300" dirty="0"/>
          </a:p>
        </p:txBody>
      </p:sp>
      <p:sp>
        <p:nvSpPr>
          <p:cNvPr id="17" name="Shape 15"/>
          <p:cNvSpPr/>
          <p:nvPr/>
        </p:nvSpPr>
        <p:spPr>
          <a:xfrm>
            <a:off x="2798233" y="2223824"/>
            <a:ext cx="4944533" cy="0"/>
          </a:xfrm>
          <a:prstGeom prst="line">
            <a:avLst/>
          </a:prstGeom>
          <a:noFill/>
          <a:ln w="6350">
            <a:solidFill>
              <a:srgbClr val="D5DCE4"/>
            </a:solidFill>
            <a:prstDash val="solid"/>
          </a:ln>
        </p:spPr>
      </p:sp>
      <p:sp>
        <p:nvSpPr>
          <p:cNvPr id="18" name="Text 16"/>
          <p:cNvSpPr/>
          <p:nvPr/>
        </p:nvSpPr>
        <p:spPr>
          <a:xfrm>
            <a:off x="2798233" y="2313781"/>
            <a:ext cx="4935897"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De-escalated a Director-level escalation over a 3-month IPSec encryption gap on production cluster 'degcpp1' through structured task execution plans.</a:t>
            </a:r>
            <a:endParaRPr lang="en-US" sz="1200" dirty="0"/>
          </a:p>
        </p:txBody>
      </p:sp>
      <p:sp>
        <p:nvSpPr>
          <p:cNvPr id="19" name="Shape 17"/>
          <p:cNvSpPr/>
          <p:nvPr/>
        </p:nvSpPr>
        <p:spPr>
          <a:xfrm>
            <a:off x="7742767" y="2223824"/>
            <a:ext cx="3556000" cy="0"/>
          </a:xfrm>
          <a:prstGeom prst="line">
            <a:avLst/>
          </a:prstGeom>
          <a:noFill/>
          <a:ln w="6350">
            <a:solidFill>
              <a:srgbClr val="D5DCE4"/>
            </a:solidFill>
            <a:prstDash val="solid"/>
          </a:ln>
        </p:spPr>
      </p:sp>
      <p:sp>
        <p:nvSpPr>
          <p:cNvPr id="20" name="Text 18"/>
          <p:cNvSpPr/>
          <p:nvPr/>
        </p:nvSpPr>
        <p:spPr>
          <a:xfrm>
            <a:off x="7742767" y="2313781"/>
            <a:ext cx="3662680" cy="452041"/>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Escalation email</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Status confirmation</a:t>
            </a:r>
            <a:r>
              <a:rPr lang="en-US" sz="1200" dirty="0">
                <a:solidFill>
                  <a:srgbClr val="2B2F36"/>
                </a:solidFill>
                <a:latin typeface="IBM Plex Sans" pitchFamily="34" charset="0"/>
                <a:ea typeface="IBM Plex Sans" pitchFamily="34" charset="-122"/>
                <a:cs typeface="IBM Plex Sans" pitchFamily="34" charset="-120"/>
              </a:rPr>
              <a:t> · Jira: </a:t>
            </a:r>
            <a:r>
              <a:rPr lang="en-US" sz="1200" u="sng" dirty="0">
                <a:solidFill>
                  <a:srgbClr val="2B2F36"/>
                </a:solidFill>
                <a:latin typeface="IBM Plex Sans" pitchFamily="34" charset="0"/>
                <a:ea typeface="IBM Plex Sans" pitchFamily="34" charset="-122"/>
                <a:cs typeface="IBM Plex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39680</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39682</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8" invalidUrl="" action="" tgtFrame="" tooltip="" history="1" highlightClick="0" endSnd="0">
                  <a:extLst>
                    <a:ext uri="{A12FA001-AC4F-418D-AE19-62706E023703}">
                      <ahyp:hlinkClr xmlns:ahyp="http://schemas.microsoft.com/office/drawing/2018/hyperlinkcolor" val="tx"/>
                    </a:ext>
                  </a:extLst>
                </a:hlinkClick>
              </a:rPr>
              <a:t>39709</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9" invalidUrl="" action="" tgtFrame="" tooltip="" history="1" highlightClick="0" endSnd="0">
                  <a:extLst>
                    <a:ext uri="{A12FA001-AC4F-418D-AE19-62706E023703}">
                      <ahyp:hlinkClr xmlns:ahyp="http://schemas.microsoft.com/office/drawing/2018/hyperlinkcolor" val="tx"/>
                    </a:ext>
                  </a:extLst>
                </a:hlinkClick>
              </a:rPr>
              <a:t>39712</a:t>
            </a:r>
            <a:endParaRPr lang="en-US" sz="1200" dirty="0"/>
          </a:p>
        </p:txBody>
      </p:sp>
      <p:sp>
        <p:nvSpPr>
          <p:cNvPr id="21" name="Shape 19"/>
          <p:cNvSpPr/>
          <p:nvPr/>
        </p:nvSpPr>
        <p:spPr>
          <a:xfrm>
            <a:off x="893233" y="3022997"/>
            <a:ext cx="1905000" cy="0"/>
          </a:xfrm>
          <a:prstGeom prst="line">
            <a:avLst/>
          </a:prstGeom>
          <a:noFill/>
          <a:ln w="6350">
            <a:solidFill>
              <a:srgbClr val="D5DCE4"/>
            </a:solidFill>
            <a:prstDash val="solid"/>
          </a:ln>
        </p:spPr>
      </p:sp>
      <p:sp>
        <p:nvSpPr>
          <p:cNvPr id="22" name="Text 20"/>
          <p:cNvSpPr/>
          <p:nvPr/>
        </p:nvSpPr>
        <p:spPr>
          <a:xfrm>
            <a:off x="893233" y="3112957"/>
            <a:ext cx="1805178"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Prisma False Positive Guidance</a:t>
            </a:r>
            <a:endParaRPr lang="en-US" sz="1300" dirty="0"/>
          </a:p>
        </p:txBody>
      </p:sp>
      <p:sp>
        <p:nvSpPr>
          <p:cNvPr id="23" name="Shape 21"/>
          <p:cNvSpPr/>
          <p:nvPr/>
        </p:nvSpPr>
        <p:spPr>
          <a:xfrm>
            <a:off x="2798233" y="3022997"/>
            <a:ext cx="4944533" cy="0"/>
          </a:xfrm>
          <a:prstGeom prst="line">
            <a:avLst/>
          </a:prstGeom>
          <a:noFill/>
          <a:ln w="6350">
            <a:solidFill>
              <a:srgbClr val="D5DCE4"/>
            </a:solidFill>
            <a:prstDash val="solid"/>
          </a:ln>
        </p:spPr>
      </p:sp>
      <p:sp>
        <p:nvSpPr>
          <p:cNvPr id="24" name="Text 22"/>
          <p:cNvSpPr/>
          <p:nvPr/>
        </p:nvSpPr>
        <p:spPr>
          <a:xfrm>
            <a:off x="2798233" y="3112957"/>
            <a:ext cx="4935897" cy="84825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Showed the flagged environment variables were false positives and influenced the Architect to adopt a two-track fix: teams mark them as false positives now; enableServiceLinks to be disabled by default across Fabric.</a:t>
            </a:r>
            <a:endParaRPr lang="en-US" sz="1200" dirty="0"/>
          </a:p>
        </p:txBody>
      </p:sp>
      <p:sp>
        <p:nvSpPr>
          <p:cNvPr id="25" name="Shape 23"/>
          <p:cNvSpPr/>
          <p:nvPr/>
        </p:nvSpPr>
        <p:spPr>
          <a:xfrm>
            <a:off x="7742767" y="3022997"/>
            <a:ext cx="3556000" cy="0"/>
          </a:xfrm>
          <a:prstGeom prst="line">
            <a:avLst/>
          </a:prstGeom>
          <a:noFill/>
          <a:ln w="6350">
            <a:solidFill>
              <a:srgbClr val="D5DCE4"/>
            </a:solidFill>
            <a:prstDash val="solid"/>
          </a:ln>
        </p:spPr>
      </p:sp>
      <p:sp>
        <p:nvSpPr>
          <p:cNvPr id="26" name="Text 24"/>
          <p:cNvSpPr/>
          <p:nvPr/>
        </p:nvSpPr>
        <p:spPr>
          <a:xfrm>
            <a:off x="7742767" y="3112957"/>
            <a:ext cx="366268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Email with Chris Toulson</a:t>
            </a:r>
            <a:endParaRPr lang="en-US" sz="1200" dirty="0"/>
          </a:p>
        </p:txBody>
      </p:sp>
      <p:sp>
        <p:nvSpPr>
          <p:cNvPr id="27" name="Text 25"/>
          <p:cNvSpPr/>
          <p:nvPr/>
        </p:nvSpPr>
        <p:spPr>
          <a:xfrm>
            <a:off x="711200" y="6289080"/>
            <a:ext cx="25870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Influences</a:t>
            </a:r>
            <a:endParaRPr lang="en-US" sz="1200" dirty="0"/>
          </a:p>
        </p:txBody>
      </p:sp>
      <p:sp>
        <p:nvSpPr>
          <p:cNvPr id="28" name="Text 26"/>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05 / 13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135393"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ACHIEVES</a:t>
            </a:r>
            <a:endParaRPr lang="en-US" sz="1200" dirty="0"/>
          </a:p>
        </p:txBody>
      </p:sp>
      <p:sp>
        <p:nvSpPr>
          <p:cNvPr id="3" name="Text 1"/>
          <p:cNvSpPr/>
          <p:nvPr/>
        </p:nvSpPr>
        <p:spPr>
          <a:xfrm>
            <a:off x="1973593" y="444500"/>
            <a:ext cx="13511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Level 3 · Skilled</a:t>
            </a:r>
            <a:endParaRPr lang="en-US" sz="1200" dirty="0"/>
          </a:p>
        </p:txBody>
      </p:sp>
      <p:sp>
        <p:nvSpPr>
          <p:cNvPr id="4" name="Text 2"/>
          <p:cNvSpPr/>
          <p:nvPr>
            <p:ph type="title"/>
          </p:nvPr>
        </p:nvSpPr>
        <p:spPr>
          <a:xfrm>
            <a:off x="711200" y="822920"/>
            <a:ext cx="11092688" cy="317500"/>
          </a:xfrm>
          <a:prstGeom prst="rect">
            <a:avLst/>
          </a:prstGeom>
          <a:noFill/>
          <a:ln/>
        </p:spPr>
        <p:txBody>
          <a:bodyPr wrap="square" lIns="0" tIns="0" rIns="0" bIns="0" rtlCol="0" anchor="t">
            <a:normAutofit/>
          </a:bodyPr>
          <a:lstStyle/>
          <a:p>
            <a:pPr algn="l" indent="0" marL="0">
              <a:lnSpc>
                <a:spcPts val="2300"/>
              </a:lnSpc>
              <a:buNone/>
            </a:pPr>
            <a:r>
              <a:rPr lang="en-US" sz="2000" b="1" i="0" dirty="0">
                <a:solidFill>
                  <a:srgbClr val="0F4C81"/>
                </a:solidFill>
                <a:latin typeface="IBM Plex Sans" pitchFamily="34" charset="0"/>
                <a:ea typeface="IBM Plex Sans" pitchFamily="34" charset="-122"/>
                <a:cs typeface="IBM Plex Sans" pitchFamily="34" charset="-120"/>
              </a:rPr>
              <a:t>Overcoming Complex Obstacles to Deliver Critical Strategic Goals</a:t>
            </a:r>
            <a:endParaRPr lang="en-US" sz="2000" dirty="0"/>
          </a:p>
        </p:txBody>
      </p:sp>
      <p:sp>
        <p:nvSpPr>
          <p:cNvPr id="5" name="Shape 3"/>
          <p:cNvSpPr/>
          <p:nvPr/>
        </p:nvSpPr>
        <p:spPr>
          <a:xfrm>
            <a:off x="714375" y="1245195"/>
            <a:ext cx="10763250" cy="2609189"/>
          </a:xfrm>
          <a:prstGeom prst="roundRect">
            <a:avLst>
              <a:gd name="adj" fmla="val 2799"/>
            </a:avLst>
          </a:prstGeom>
          <a:solidFill>
            <a:srgbClr val="FBFCFD"/>
          </a:solidFill>
          <a:ln w="6350">
            <a:solidFill>
              <a:srgbClr val="D5DCE4"/>
            </a:solidFill>
            <a:prstDash val="solid"/>
          </a:ln>
        </p:spPr>
      </p:sp>
      <p:sp>
        <p:nvSpPr>
          <p:cNvPr id="6" name="Text 4"/>
          <p:cNvSpPr/>
          <p:nvPr/>
        </p:nvSpPr>
        <p:spPr>
          <a:xfrm>
            <a:off x="893233" y="1335156"/>
            <a:ext cx="180517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2798233" y="1335156"/>
            <a:ext cx="493589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7742767" y="1335156"/>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615151"/>
            <a:ext cx="1905000" cy="0"/>
          </a:xfrm>
          <a:prstGeom prst="line">
            <a:avLst/>
          </a:prstGeom>
          <a:noFill/>
          <a:ln w="6350">
            <a:solidFill>
              <a:srgbClr val="D5DCE4"/>
            </a:solidFill>
            <a:prstDash val="solid"/>
          </a:ln>
        </p:spPr>
      </p:sp>
      <p:sp>
        <p:nvSpPr>
          <p:cNvPr id="10" name="Text 8"/>
          <p:cNvSpPr/>
          <p:nvPr/>
        </p:nvSpPr>
        <p:spPr>
          <a:xfrm>
            <a:off x="893233" y="1705108"/>
            <a:ext cx="1805178"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NPA4 Landing Zone Migration</a:t>
            </a:r>
            <a:endParaRPr lang="en-US" sz="1300" dirty="0"/>
          </a:p>
        </p:txBody>
      </p:sp>
      <p:sp>
        <p:nvSpPr>
          <p:cNvPr id="11" name="Shape 9"/>
          <p:cNvSpPr/>
          <p:nvPr/>
        </p:nvSpPr>
        <p:spPr>
          <a:xfrm>
            <a:off x="2798233" y="1615151"/>
            <a:ext cx="4944533" cy="0"/>
          </a:xfrm>
          <a:prstGeom prst="line">
            <a:avLst/>
          </a:prstGeom>
          <a:noFill/>
          <a:ln w="6350">
            <a:solidFill>
              <a:srgbClr val="D5DCE4"/>
            </a:solidFill>
            <a:prstDash val="solid"/>
          </a:ln>
        </p:spPr>
      </p:sp>
      <p:sp>
        <p:nvSpPr>
          <p:cNvPr id="12" name="Text 10"/>
          <p:cNvSpPr/>
          <p:nvPr/>
        </p:nvSpPr>
        <p:spPr>
          <a:xfrm>
            <a:off x="2798233" y="1705108"/>
            <a:ext cx="4935897"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With only a 3-day window left by a change freeze, secured a 2-week Sentinel policy grace period and resolved the technical blockers to complete the migration.</a:t>
            </a:r>
            <a:endParaRPr lang="en-US" sz="1200" dirty="0"/>
          </a:p>
        </p:txBody>
      </p:sp>
      <p:sp>
        <p:nvSpPr>
          <p:cNvPr id="13" name="Shape 11"/>
          <p:cNvSpPr/>
          <p:nvPr/>
        </p:nvSpPr>
        <p:spPr>
          <a:xfrm>
            <a:off x="7742767" y="1615151"/>
            <a:ext cx="3556000" cy="0"/>
          </a:xfrm>
          <a:prstGeom prst="line">
            <a:avLst/>
          </a:prstGeom>
          <a:noFill/>
          <a:ln w="6350">
            <a:solidFill>
              <a:srgbClr val="D5DCE4"/>
            </a:solidFill>
            <a:prstDash val="solid"/>
          </a:ln>
        </p:spPr>
      </p:sp>
      <p:sp>
        <p:nvSpPr>
          <p:cNvPr id="14" name="Text 12"/>
          <p:cNvSpPr/>
          <p:nvPr/>
        </p:nvSpPr>
        <p:spPr>
          <a:xfrm>
            <a:off x="7742767" y="1705108"/>
            <a:ext cx="3662680" cy="452041"/>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Exception &amp; approvals email</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TASK0014104741</a:t>
            </a:r>
            <a:r>
              <a:rPr lang="en-US" sz="1200" dirty="0">
                <a:solidFill>
                  <a:srgbClr val="2B2F36"/>
                </a:solidFill>
                <a:latin typeface="IBM Plex Sans" pitchFamily="34" charset="0"/>
                <a:ea typeface="IBM Plex Sans" pitchFamily="34" charset="-122"/>
                <a:cs typeface="IBM Plex Sans" pitchFamily="34" charset="-120"/>
              </a:rPr>
              <a:t> · Firewall PRs: </a:t>
            </a: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71</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64</a:t>
            </a:r>
            <a:r>
              <a:rPr lang="en-US" sz="1200" dirty="0">
                <a:solidFill>
                  <a:srgbClr val="2B2F36"/>
                </a:solidFill>
                <a:latin typeface="IBM Plex Sans" pitchFamily="34" charset="0"/>
                <a:ea typeface="IBM Plex Sans" pitchFamily="34" charset="-122"/>
                <a:cs typeface="IBM Plex Sans" pitchFamily="34" charset="-120"/>
              </a:rPr>
              <a:t> · Jira: </a:t>
            </a:r>
            <a:r>
              <a:rPr lang="en-US" sz="1200" u="sng" dirty="0">
                <a:solidFill>
                  <a:srgbClr val="2B2F36"/>
                </a:solidFill>
                <a:latin typeface="IBM Plex Sans" pitchFamily="34" charset="0"/>
                <a:ea typeface="IBM Plex Sans" pitchFamily="34" charset="-122"/>
                <a:cs typeface="IBM Plex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24412</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24129</a:t>
            </a:r>
            <a:endParaRPr lang="en-US" sz="1200" dirty="0"/>
          </a:p>
        </p:txBody>
      </p:sp>
      <p:sp>
        <p:nvSpPr>
          <p:cNvPr id="15" name="Shape 13"/>
          <p:cNvSpPr/>
          <p:nvPr/>
        </p:nvSpPr>
        <p:spPr>
          <a:xfrm>
            <a:off x="893233" y="2414324"/>
            <a:ext cx="1905000" cy="0"/>
          </a:xfrm>
          <a:prstGeom prst="line">
            <a:avLst/>
          </a:prstGeom>
          <a:noFill/>
          <a:ln w="6350">
            <a:solidFill>
              <a:srgbClr val="D5DCE4"/>
            </a:solidFill>
            <a:prstDash val="solid"/>
          </a:ln>
        </p:spPr>
      </p:sp>
      <p:sp>
        <p:nvSpPr>
          <p:cNvPr id="16" name="Text 14"/>
          <p:cNvSpPr/>
          <p:nvPr/>
        </p:nvSpPr>
        <p:spPr>
          <a:xfrm>
            <a:off x="893233" y="2504281"/>
            <a:ext cx="1805178"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Vertex AI Platform Enablement</a:t>
            </a:r>
            <a:endParaRPr lang="en-US" sz="1300" dirty="0"/>
          </a:p>
        </p:txBody>
      </p:sp>
      <p:sp>
        <p:nvSpPr>
          <p:cNvPr id="17" name="Shape 15"/>
          <p:cNvSpPr/>
          <p:nvPr/>
        </p:nvSpPr>
        <p:spPr>
          <a:xfrm>
            <a:off x="2798233" y="2414324"/>
            <a:ext cx="4944533" cy="0"/>
          </a:xfrm>
          <a:prstGeom prst="line">
            <a:avLst/>
          </a:prstGeom>
          <a:noFill/>
          <a:ln w="6350">
            <a:solidFill>
              <a:srgbClr val="D5DCE4"/>
            </a:solidFill>
            <a:prstDash val="solid"/>
          </a:ln>
        </p:spPr>
      </p:sp>
      <p:sp>
        <p:nvSpPr>
          <p:cNvPr id="18" name="Text 16"/>
          <p:cNvSpPr/>
          <p:nvPr/>
        </p:nvSpPr>
        <p:spPr>
          <a:xfrm>
            <a:off x="2798233" y="2504281"/>
            <a:ext cx="49358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Designed a compliant sandbox workspace for secure AI model development within existing regulatory constraints.</a:t>
            </a:r>
            <a:endParaRPr lang="en-US" sz="1200" dirty="0"/>
          </a:p>
        </p:txBody>
      </p:sp>
      <p:sp>
        <p:nvSpPr>
          <p:cNvPr id="19" name="Shape 17"/>
          <p:cNvSpPr/>
          <p:nvPr/>
        </p:nvSpPr>
        <p:spPr>
          <a:xfrm>
            <a:off x="7742767" y="2414324"/>
            <a:ext cx="3556000" cy="0"/>
          </a:xfrm>
          <a:prstGeom prst="line">
            <a:avLst/>
          </a:prstGeom>
          <a:noFill/>
          <a:ln w="6350">
            <a:solidFill>
              <a:srgbClr val="D5DCE4"/>
            </a:solidFill>
            <a:prstDash val="solid"/>
          </a:ln>
        </p:spPr>
      </p:sp>
      <p:sp>
        <p:nvSpPr>
          <p:cNvPr id="20" name="Text 18"/>
          <p:cNvSpPr/>
          <p:nvPr/>
        </p:nvSpPr>
        <p:spPr>
          <a:xfrm>
            <a:off x="7742767" y="2504281"/>
            <a:ext cx="366268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Feature Jira 27282 (all enablement tasks)</a:t>
            </a:r>
            <a:endParaRPr lang="en-US" sz="1200" dirty="0"/>
          </a:p>
        </p:txBody>
      </p:sp>
      <p:sp>
        <p:nvSpPr>
          <p:cNvPr id="21" name="Shape 19"/>
          <p:cNvSpPr/>
          <p:nvPr/>
        </p:nvSpPr>
        <p:spPr>
          <a:xfrm>
            <a:off x="893233" y="3009106"/>
            <a:ext cx="1905000" cy="0"/>
          </a:xfrm>
          <a:prstGeom prst="line">
            <a:avLst/>
          </a:prstGeom>
          <a:noFill/>
          <a:ln w="6350">
            <a:solidFill>
              <a:srgbClr val="D5DCE4"/>
            </a:solidFill>
            <a:prstDash val="solid"/>
          </a:ln>
        </p:spPr>
      </p:sp>
      <p:sp>
        <p:nvSpPr>
          <p:cNvPr id="22" name="Text 20"/>
          <p:cNvSpPr/>
          <p:nvPr/>
        </p:nvSpPr>
        <p:spPr>
          <a:xfrm>
            <a:off x="893233" y="3099067"/>
            <a:ext cx="1805178"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Centralized Monitoring Integration</a:t>
            </a:r>
            <a:endParaRPr lang="en-US" sz="1300" dirty="0"/>
          </a:p>
        </p:txBody>
      </p:sp>
      <p:sp>
        <p:nvSpPr>
          <p:cNvPr id="23" name="Shape 21"/>
          <p:cNvSpPr/>
          <p:nvPr/>
        </p:nvSpPr>
        <p:spPr>
          <a:xfrm>
            <a:off x="2798233" y="3009106"/>
            <a:ext cx="4944533" cy="0"/>
          </a:xfrm>
          <a:prstGeom prst="line">
            <a:avLst/>
          </a:prstGeom>
          <a:noFill/>
          <a:ln w="6350">
            <a:solidFill>
              <a:srgbClr val="D5DCE4"/>
            </a:solidFill>
            <a:prstDash val="solid"/>
          </a:ln>
        </p:spPr>
      </p:sp>
      <p:sp>
        <p:nvSpPr>
          <p:cNvPr id="24" name="Text 22"/>
          <p:cNvSpPr/>
          <p:nvPr/>
        </p:nvSpPr>
        <p:spPr>
          <a:xfrm>
            <a:off x="2798233" y="3099067"/>
            <a:ext cx="49358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Integrated centralized Grafana with the central ACM-Hub, bypassing network barriers.</a:t>
            </a:r>
            <a:endParaRPr lang="en-US" sz="1200" dirty="0"/>
          </a:p>
        </p:txBody>
      </p:sp>
      <p:sp>
        <p:nvSpPr>
          <p:cNvPr id="25" name="Shape 23"/>
          <p:cNvSpPr/>
          <p:nvPr/>
        </p:nvSpPr>
        <p:spPr>
          <a:xfrm>
            <a:off x="7742767" y="3009106"/>
            <a:ext cx="3556000" cy="0"/>
          </a:xfrm>
          <a:prstGeom prst="line">
            <a:avLst/>
          </a:prstGeom>
          <a:noFill/>
          <a:ln w="6350">
            <a:solidFill>
              <a:srgbClr val="D5DCE4"/>
            </a:solidFill>
            <a:prstDash val="solid"/>
          </a:ln>
        </p:spPr>
      </p:sp>
      <p:sp>
        <p:nvSpPr>
          <p:cNvPr id="26" name="Text 24"/>
          <p:cNvSpPr/>
          <p:nvPr/>
        </p:nvSpPr>
        <p:spPr>
          <a:xfrm>
            <a:off x="7742767" y="3099067"/>
            <a:ext cx="3662680" cy="665361"/>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8" invalidUrl="" action="" tgtFrame="" tooltip="" history="1" highlightClick="0" endSnd="0">
                  <a:extLst>
                    <a:ext uri="{A12FA001-AC4F-418D-AE19-62706E023703}">
                      <ahyp:hlinkClr xmlns:ahyp="http://schemas.microsoft.com/office/drawing/2018/hyperlinkcolor" val="tx"/>
                    </a:ext>
                  </a:extLst>
                </a:hlinkClick>
              </a:rPr>
              <a:t>Live dashboard</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9" invalidUrl="" action="" tgtFrame="" tooltip="" history="1" highlightClick="0" endSnd="0">
                  <a:extLst>
                    <a:ext uri="{A12FA001-AC4F-418D-AE19-62706E023703}">
                      <ahyp:hlinkClr xmlns:ahyp="http://schemas.microsoft.com/office/drawing/2018/hyperlinkcolor" val="tx"/>
                    </a:ext>
                  </a:extLst>
                </a:hlinkClick>
              </a:rPr>
              <a:t>PDF export</a:t>
            </a:r>
            <a:r>
              <a:rPr lang="en-US" sz="1200" dirty="0">
                <a:solidFill>
                  <a:srgbClr val="2B2F36"/>
                </a:solidFill>
                <a:latin typeface="IBM Plex Sans" pitchFamily="34" charset="0"/>
                <a:ea typeface="IBM Plex Sans" pitchFamily="34" charset="-122"/>
                <a:cs typeface="IBM Plex Sans" pitchFamily="34" charset="-120"/>
              </a:rPr>
              <a:t> · Jira: </a:t>
            </a:r>
            <a:r>
              <a:rPr lang="en-US" sz="1200" u="sng" dirty="0">
                <a:solidFill>
                  <a:srgbClr val="2B2F36"/>
                </a:solidFill>
                <a:latin typeface="IBM Plex Sans" pitchFamily="34" charset="0"/>
                <a:ea typeface="IBM Plex Sans" pitchFamily="34" charset="-122"/>
                <a:cs typeface="IBM Plex San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FABRIC-136</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163</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2" invalidUrl="" action="" tgtFrame="" tooltip="" history="1" highlightClick="0" endSnd="0">
                  <a:extLst>
                    <a:ext uri="{A12FA001-AC4F-418D-AE19-62706E023703}">
                      <ahyp:hlinkClr xmlns:ahyp="http://schemas.microsoft.com/office/drawing/2018/hyperlinkcolor" val="tx"/>
                    </a:ext>
                  </a:extLst>
                </a:hlinkClick>
              </a:rPr>
              <a:t>301</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3" invalidUrl="" action="" tgtFrame="" tooltip="" history="1" highlightClick="0" endSnd="0">
                  <a:extLst>
                    <a:ext uri="{A12FA001-AC4F-418D-AE19-62706E023703}">
                      <ahyp:hlinkClr xmlns:ahyp="http://schemas.microsoft.com/office/drawing/2018/hyperlinkcolor" val="tx"/>
                    </a:ext>
                  </a:extLst>
                </a:hlinkClick>
              </a:rPr>
              <a:t>416</a:t>
            </a:r>
            <a:r>
              <a:rPr lang="en-US" sz="1200" dirty="0">
                <a:solidFill>
                  <a:srgbClr val="2B2F36"/>
                </a:solidFill>
                <a:latin typeface="IBM Plex Sans" pitchFamily="34" charset="0"/>
                <a:ea typeface="IBM Plex Sans" pitchFamily="34" charset="-122"/>
                <a:cs typeface="IBM Plex Sans" pitchFamily="34" charset="-120"/>
              </a:rPr>
              <a:t> · PRs: </a:t>
            </a:r>
            <a:r>
              <a:rPr lang="en-US" sz="1200" u="sng" dirty="0">
                <a:solidFill>
                  <a:srgbClr val="2B2F36"/>
                </a:solidFill>
                <a:latin typeface="IBM Plex Sans" pitchFamily="34" charset="0"/>
                <a:ea typeface="IBM Plex Sans" pitchFamily="34" charset="-122"/>
                <a:cs typeface="IBM Plex Sans" pitchFamily="34" charset="-120"/>
                <a:hlinkClick r:id="rId14" invalidUrl="" action="" tgtFrame="" tooltip="" history="1" highlightClick="0" endSnd="0">
                  <a:extLst>
                    <a:ext uri="{A12FA001-AC4F-418D-AE19-62706E023703}">
                      <ahyp:hlinkClr xmlns:ahyp="http://schemas.microsoft.com/office/drawing/2018/hyperlinkcolor" val="tx"/>
                    </a:ext>
                  </a:extLst>
                </a:hlinkClick>
              </a:rPr>
              <a:t>GCS bucket</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5" invalidUrl="" action="" tgtFrame="" tooltip="" history="1" highlightClick="0" endSnd="0">
                  <a:extLst>
                    <a:ext uri="{A12FA001-AC4F-418D-AE19-62706E023703}">
                      <ahyp:hlinkClr xmlns:ahyp="http://schemas.microsoft.com/office/drawing/2018/hyperlinkcolor" val="tx"/>
                    </a:ext>
                  </a:extLst>
                </a:hlinkClick>
              </a:rPr>
              <a:t>CMEK encryption</a:t>
            </a:r>
            <a:endParaRPr lang="en-US" sz="1200" dirty="0"/>
          </a:p>
        </p:txBody>
      </p:sp>
      <p:sp>
        <p:nvSpPr>
          <p:cNvPr id="27" name="Text 25"/>
          <p:cNvSpPr/>
          <p:nvPr/>
        </p:nvSpPr>
        <p:spPr>
          <a:xfrm>
            <a:off x="711200" y="6289080"/>
            <a:ext cx="24482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Achieves</a:t>
            </a:r>
            <a:endParaRPr lang="en-US" sz="1200" dirty="0"/>
          </a:p>
        </p:txBody>
      </p:sp>
      <p:sp>
        <p:nvSpPr>
          <p:cNvPr id="28" name="Text 26"/>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06 / 13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036638"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DESIGNS</a:t>
            </a:r>
            <a:endParaRPr lang="en-US" sz="1200" dirty="0"/>
          </a:p>
        </p:txBody>
      </p:sp>
      <p:sp>
        <p:nvSpPr>
          <p:cNvPr id="3" name="Text 1"/>
          <p:cNvSpPr/>
          <p:nvPr/>
        </p:nvSpPr>
        <p:spPr>
          <a:xfrm>
            <a:off x="1874838" y="444500"/>
            <a:ext cx="13511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Level 3 · Skilled</a:t>
            </a:r>
            <a:endParaRPr lang="en-US" sz="1200" dirty="0"/>
          </a:p>
        </p:txBody>
      </p:sp>
      <p:sp>
        <p:nvSpPr>
          <p:cNvPr id="4" name="Text 2"/>
          <p:cNvSpPr/>
          <p:nvPr>
            <p:ph type="title"/>
          </p:nvPr>
        </p:nvSpPr>
        <p:spPr>
          <a:xfrm>
            <a:off x="711200" y="822920"/>
            <a:ext cx="11092688" cy="317500"/>
          </a:xfrm>
          <a:prstGeom prst="rect">
            <a:avLst/>
          </a:prstGeom>
          <a:noFill/>
          <a:ln/>
        </p:spPr>
        <p:txBody>
          <a:bodyPr wrap="square" lIns="0" tIns="0" rIns="0" bIns="0" rtlCol="0" anchor="t">
            <a:normAutofit/>
          </a:bodyPr>
          <a:lstStyle/>
          <a:p>
            <a:pPr algn="l" indent="0" marL="0">
              <a:lnSpc>
                <a:spcPts val="2300"/>
              </a:lnSpc>
              <a:buNone/>
            </a:pPr>
            <a:r>
              <a:rPr lang="en-US" sz="2000" b="1" i="0" dirty="0">
                <a:solidFill>
                  <a:srgbClr val="0F4C81"/>
                </a:solidFill>
                <a:latin typeface="IBM Plex Sans" pitchFamily="34" charset="0"/>
                <a:ea typeface="IBM Plex Sans" pitchFamily="34" charset="-122"/>
                <a:cs typeface="IBM Plex Sans" pitchFamily="34" charset="-120"/>
              </a:rPr>
              <a:t>Designing Scalable, Clean, and Governed Architectures</a:t>
            </a:r>
            <a:endParaRPr lang="en-US" sz="2000" dirty="0"/>
          </a:p>
        </p:txBody>
      </p:sp>
      <p:sp>
        <p:nvSpPr>
          <p:cNvPr id="5" name="Shape 3"/>
          <p:cNvSpPr/>
          <p:nvPr/>
        </p:nvSpPr>
        <p:spPr>
          <a:xfrm>
            <a:off x="714375" y="1245195"/>
            <a:ext cx="10763250" cy="2205368"/>
          </a:xfrm>
          <a:prstGeom prst="roundRect">
            <a:avLst>
              <a:gd name="adj" fmla="val 3311"/>
            </a:avLst>
          </a:prstGeom>
          <a:solidFill>
            <a:srgbClr val="FBFCFD"/>
          </a:solidFill>
          <a:ln w="6350">
            <a:solidFill>
              <a:srgbClr val="D5DCE4"/>
            </a:solidFill>
            <a:prstDash val="solid"/>
          </a:ln>
        </p:spPr>
      </p:sp>
      <p:sp>
        <p:nvSpPr>
          <p:cNvPr id="6" name="Text 4"/>
          <p:cNvSpPr/>
          <p:nvPr/>
        </p:nvSpPr>
        <p:spPr>
          <a:xfrm>
            <a:off x="893233" y="1335156"/>
            <a:ext cx="180517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2798233" y="1335156"/>
            <a:ext cx="493589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7742767" y="1335156"/>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615151"/>
            <a:ext cx="1905000" cy="0"/>
          </a:xfrm>
          <a:prstGeom prst="line">
            <a:avLst/>
          </a:prstGeom>
          <a:noFill/>
          <a:ln w="6350">
            <a:solidFill>
              <a:srgbClr val="D5DCE4"/>
            </a:solidFill>
            <a:prstDash val="solid"/>
          </a:ln>
        </p:spPr>
      </p:sp>
      <p:sp>
        <p:nvSpPr>
          <p:cNvPr id="10" name="Text 8"/>
          <p:cNvSpPr/>
          <p:nvPr/>
        </p:nvSpPr>
        <p:spPr>
          <a:xfrm>
            <a:off x="893233" y="1705108"/>
            <a:ext cx="1805178"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Multi-Hub ACM Architecture</a:t>
            </a:r>
            <a:endParaRPr lang="en-US" sz="1300" dirty="0"/>
          </a:p>
        </p:txBody>
      </p:sp>
      <p:sp>
        <p:nvSpPr>
          <p:cNvPr id="11" name="Shape 9"/>
          <p:cNvSpPr/>
          <p:nvPr/>
        </p:nvSpPr>
        <p:spPr>
          <a:xfrm>
            <a:off x="2798233" y="1615151"/>
            <a:ext cx="4944533" cy="0"/>
          </a:xfrm>
          <a:prstGeom prst="line">
            <a:avLst/>
          </a:prstGeom>
          <a:noFill/>
          <a:ln w="6350">
            <a:solidFill>
              <a:srgbClr val="D5DCE4"/>
            </a:solidFill>
            <a:prstDash val="solid"/>
          </a:ln>
        </p:spPr>
      </p:sp>
      <p:sp>
        <p:nvSpPr>
          <p:cNvPr id="12" name="Text 10"/>
          <p:cNvSpPr/>
          <p:nvPr/>
        </p:nvSpPr>
        <p:spPr>
          <a:xfrm>
            <a:off x="2798233" y="1705108"/>
            <a:ext cx="49358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Engineered separate Dev/UAT hub clusters with independent control planes, separating environment configuration risk.</a:t>
            </a:r>
            <a:endParaRPr lang="en-US" sz="1200" dirty="0"/>
          </a:p>
        </p:txBody>
      </p:sp>
      <p:sp>
        <p:nvSpPr>
          <p:cNvPr id="13" name="Shape 11"/>
          <p:cNvSpPr/>
          <p:nvPr/>
        </p:nvSpPr>
        <p:spPr>
          <a:xfrm>
            <a:off x="7742767" y="1615151"/>
            <a:ext cx="3556000" cy="0"/>
          </a:xfrm>
          <a:prstGeom prst="line">
            <a:avLst/>
          </a:prstGeom>
          <a:noFill/>
          <a:ln w="6350">
            <a:solidFill>
              <a:srgbClr val="D5DCE4"/>
            </a:solidFill>
            <a:prstDash val="solid"/>
          </a:ln>
        </p:spPr>
      </p:sp>
      <p:sp>
        <p:nvSpPr>
          <p:cNvPr id="14" name="Text 12"/>
          <p:cNvSpPr/>
          <p:nvPr/>
        </p:nvSpPr>
        <p:spPr>
          <a:xfrm>
            <a:off x="7742767" y="1705108"/>
            <a:ext cx="366268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Multi-hub topology &amp; Git branching (design doc)</a:t>
            </a:r>
            <a:endParaRPr lang="en-US" sz="1200" dirty="0"/>
          </a:p>
        </p:txBody>
      </p:sp>
      <p:sp>
        <p:nvSpPr>
          <p:cNvPr id="15" name="Shape 13"/>
          <p:cNvSpPr/>
          <p:nvPr/>
        </p:nvSpPr>
        <p:spPr>
          <a:xfrm>
            <a:off x="893233" y="2209933"/>
            <a:ext cx="1905000" cy="0"/>
          </a:xfrm>
          <a:prstGeom prst="line">
            <a:avLst/>
          </a:prstGeom>
          <a:noFill/>
          <a:ln w="6350">
            <a:solidFill>
              <a:srgbClr val="D5DCE4"/>
            </a:solidFill>
            <a:prstDash val="solid"/>
          </a:ln>
        </p:spPr>
      </p:sp>
      <p:sp>
        <p:nvSpPr>
          <p:cNvPr id="16" name="Text 14"/>
          <p:cNvSpPr/>
          <p:nvPr/>
        </p:nvSpPr>
        <p:spPr>
          <a:xfrm>
            <a:off x="893233" y="2299891"/>
            <a:ext cx="1805178"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Multi-Repo Landing Zone</a:t>
            </a:r>
            <a:endParaRPr lang="en-US" sz="1300" dirty="0"/>
          </a:p>
        </p:txBody>
      </p:sp>
      <p:sp>
        <p:nvSpPr>
          <p:cNvPr id="17" name="Shape 15"/>
          <p:cNvSpPr/>
          <p:nvPr/>
        </p:nvSpPr>
        <p:spPr>
          <a:xfrm>
            <a:off x="2798233" y="2209933"/>
            <a:ext cx="4944533" cy="0"/>
          </a:xfrm>
          <a:prstGeom prst="line">
            <a:avLst/>
          </a:prstGeom>
          <a:noFill/>
          <a:ln w="6350">
            <a:solidFill>
              <a:srgbClr val="D5DCE4"/>
            </a:solidFill>
            <a:prstDash val="solid"/>
          </a:ln>
        </p:spPr>
      </p:sp>
      <p:sp>
        <p:nvSpPr>
          <p:cNvPr id="18" name="Text 16"/>
          <p:cNvSpPr/>
          <p:nvPr/>
        </p:nvSpPr>
        <p:spPr>
          <a:xfrm>
            <a:off x="2798233" y="2299891"/>
            <a:ext cx="49358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Separated test from production setups, introducing repo-level RBAC and merge validation pipelines.</a:t>
            </a:r>
            <a:endParaRPr lang="en-US" sz="1200" dirty="0"/>
          </a:p>
        </p:txBody>
      </p:sp>
      <p:sp>
        <p:nvSpPr>
          <p:cNvPr id="19" name="Shape 17"/>
          <p:cNvSpPr/>
          <p:nvPr/>
        </p:nvSpPr>
        <p:spPr>
          <a:xfrm>
            <a:off x="7742767" y="2209933"/>
            <a:ext cx="3556000" cy="0"/>
          </a:xfrm>
          <a:prstGeom prst="line">
            <a:avLst/>
          </a:prstGeom>
          <a:noFill/>
          <a:ln w="6350">
            <a:solidFill>
              <a:srgbClr val="D5DCE4"/>
            </a:solidFill>
            <a:prstDash val="solid"/>
          </a:ln>
        </p:spPr>
      </p:sp>
      <p:sp>
        <p:nvSpPr>
          <p:cNvPr id="20" name="Text 18"/>
          <p:cNvSpPr/>
          <p:nvPr/>
        </p:nvSpPr>
        <p:spPr>
          <a:xfrm>
            <a:off x="7742767" y="2299891"/>
            <a:ext cx="3662680" cy="452041"/>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Sprint 1 MVP deck</a:t>
            </a:r>
            <a:r>
              <a:rPr lang="en-US" sz="1200" dirty="0">
                <a:solidFill>
                  <a:srgbClr val="2B2F36"/>
                </a:solidFill>
                <a:latin typeface="IBM Plex Sans" pitchFamily="34" charset="0"/>
                <a:ea typeface="IBM Plex Sans" pitchFamily="34" charset="-122"/>
                <a:cs typeface="IBM Plex Sans" pitchFamily="34" charset="-120"/>
              </a:rPr>
              <a:t> · Jira: </a:t>
            </a: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FABRIC-76</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110</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GCP Projects page</a:t>
            </a:r>
            <a:endParaRPr lang="en-US" sz="1200" dirty="0"/>
          </a:p>
        </p:txBody>
      </p:sp>
      <p:sp>
        <p:nvSpPr>
          <p:cNvPr id="21" name="Shape 19"/>
          <p:cNvSpPr/>
          <p:nvPr/>
        </p:nvSpPr>
        <p:spPr>
          <a:xfrm>
            <a:off x="893233" y="2818606"/>
            <a:ext cx="1905000" cy="0"/>
          </a:xfrm>
          <a:prstGeom prst="line">
            <a:avLst/>
          </a:prstGeom>
          <a:noFill/>
          <a:ln w="6350">
            <a:solidFill>
              <a:srgbClr val="D5DCE4"/>
            </a:solidFill>
            <a:prstDash val="solid"/>
          </a:ln>
        </p:spPr>
      </p:sp>
      <p:sp>
        <p:nvSpPr>
          <p:cNvPr id="22" name="Text 20"/>
          <p:cNvSpPr/>
          <p:nvPr/>
        </p:nvSpPr>
        <p:spPr>
          <a:xfrm>
            <a:off x="893233" y="2908567"/>
            <a:ext cx="1805178"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ADR Governance Framework</a:t>
            </a:r>
            <a:endParaRPr lang="en-US" sz="1300" dirty="0"/>
          </a:p>
        </p:txBody>
      </p:sp>
      <p:sp>
        <p:nvSpPr>
          <p:cNvPr id="23" name="Shape 21"/>
          <p:cNvSpPr/>
          <p:nvPr/>
        </p:nvSpPr>
        <p:spPr>
          <a:xfrm>
            <a:off x="2798233" y="2818606"/>
            <a:ext cx="4944533" cy="0"/>
          </a:xfrm>
          <a:prstGeom prst="line">
            <a:avLst/>
          </a:prstGeom>
          <a:noFill/>
          <a:ln w="6350">
            <a:solidFill>
              <a:srgbClr val="D5DCE4"/>
            </a:solidFill>
            <a:prstDash val="solid"/>
          </a:ln>
        </p:spPr>
      </p:sp>
      <p:sp>
        <p:nvSpPr>
          <p:cNvPr id="24" name="Text 22"/>
          <p:cNvSpPr/>
          <p:nvPr/>
        </p:nvSpPr>
        <p:spPr>
          <a:xfrm>
            <a:off x="2798233" y="2908567"/>
            <a:ext cx="49358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Established mandatory architecture templates across 36 clusters to document and prevent anti-patterns.</a:t>
            </a:r>
            <a:endParaRPr lang="en-US" sz="1200" dirty="0"/>
          </a:p>
        </p:txBody>
      </p:sp>
      <p:sp>
        <p:nvSpPr>
          <p:cNvPr id="25" name="Shape 23"/>
          <p:cNvSpPr/>
          <p:nvPr/>
        </p:nvSpPr>
        <p:spPr>
          <a:xfrm>
            <a:off x="7742767" y="2818606"/>
            <a:ext cx="3556000" cy="0"/>
          </a:xfrm>
          <a:prstGeom prst="line">
            <a:avLst/>
          </a:prstGeom>
          <a:noFill/>
          <a:ln w="6350">
            <a:solidFill>
              <a:srgbClr val="D5DCE4"/>
            </a:solidFill>
            <a:prstDash val="solid"/>
          </a:ln>
        </p:spPr>
      </p:sp>
      <p:sp>
        <p:nvSpPr>
          <p:cNvPr id="26" name="Text 24"/>
          <p:cNvSpPr/>
          <p:nvPr/>
        </p:nvSpPr>
        <p:spPr>
          <a:xfrm>
            <a:off x="7742767" y="2908567"/>
            <a:ext cx="3662680" cy="452041"/>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Jira 27951</a:t>
            </a:r>
            <a:r>
              <a:rPr lang="en-US" sz="1200" dirty="0">
                <a:solidFill>
                  <a:srgbClr val="2B2F36"/>
                </a:solidFill>
                <a:latin typeface="IBM Plex Sans" pitchFamily="34" charset="0"/>
                <a:ea typeface="IBM Plex Sans" pitchFamily="34" charset="-122"/>
                <a:cs typeface="IBM Plex Sans" pitchFamily="34" charset="-120"/>
              </a:rPr>
              <a:t> · s-ADR: </a:t>
            </a:r>
            <a:r>
              <a:rPr lang="en-US" sz="1200" u="sng" dirty="0">
                <a:solidFill>
                  <a:srgbClr val="2B2F36"/>
                </a:solidFill>
                <a:latin typeface="IBM Plex Sans" pitchFamily="34" charset="0"/>
                <a:ea typeface="IBM Plex Sans" pitchFamily="34" charset="-122"/>
                <a:cs typeface="IBM Plex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catalogue</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8" invalidUrl="" action="" tgtFrame="" tooltip="" history="1" highlightClick="0" endSnd="0">
                  <a:extLst>
                    <a:ext uri="{A12FA001-AC4F-418D-AE19-62706E023703}">
                      <ahyp:hlinkClr xmlns:ahyp="http://schemas.microsoft.com/office/drawing/2018/hyperlinkcolor" val="tx"/>
                    </a:ext>
                  </a:extLst>
                </a:hlinkClick>
              </a:rPr>
              <a:t>PDF</a:t>
            </a:r>
            <a:r>
              <a:rPr lang="en-US" sz="1200" dirty="0">
                <a:solidFill>
                  <a:srgbClr val="2B2F36"/>
                </a:solidFill>
                <a:latin typeface="IBM Plex Sans" pitchFamily="34" charset="0"/>
                <a:ea typeface="IBM Plex Sans" pitchFamily="34" charset="-122"/>
                <a:cs typeface="IBM Plex Sans" pitchFamily="34" charset="-120"/>
              </a:rPr>
              <a:t> · f-ADR: </a:t>
            </a:r>
            <a:r>
              <a:rPr lang="en-US" sz="1200" u="sng" dirty="0">
                <a:solidFill>
                  <a:srgbClr val="2B2F36"/>
                </a:solidFill>
                <a:latin typeface="IBM Plex Sans" pitchFamily="34" charset="0"/>
                <a:ea typeface="IBM Plex Sans" pitchFamily="34" charset="-122"/>
                <a:cs typeface="IBM Plex Sans" pitchFamily="34" charset="-120"/>
                <a:hlinkClick r:id="rId9" invalidUrl="" action="" tgtFrame="" tooltip="" history="1" highlightClick="0" endSnd="0">
                  <a:extLst>
                    <a:ext uri="{A12FA001-AC4F-418D-AE19-62706E023703}">
                      <ahyp:hlinkClr xmlns:ahyp="http://schemas.microsoft.com/office/drawing/2018/hyperlinkcolor" val="tx"/>
                    </a:ext>
                  </a:extLst>
                </a:hlinkClick>
              </a:rPr>
              <a:t>catalogue</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PDF</a:t>
            </a:r>
            <a:endParaRPr lang="en-US" sz="1200" dirty="0"/>
          </a:p>
        </p:txBody>
      </p:sp>
      <p:sp>
        <p:nvSpPr>
          <p:cNvPr id="27" name="Text 25"/>
          <p:cNvSpPr/>
          <p:nvPr/>
        </p:nvSpPr>
        <p:spPr>
          <a:xfrm>
            <a:off x="711200" y="6289080"/>
            <a:ext cx="23598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Designs</a:t>
            </a:r>
            <a:endParaRPr lang="en-US" sz="1200" dirty="0"/>
          </a:p>
        </p:txBody>
      </p:sp>
      <p:sp>
        <p:nvSpPr>
          <p:cNvPr id="28" name="Text 26"/>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07 / 13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115748"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DELIVERS</a:t>
            </a:r>
            <a:endParaRPr lang="en-US" sz="1200" dirty="0"/>
          </a:p>
        </p:txBody>
      </p:sp>
      <p:sp>
        <p:nvSpPr>
          <p:cNvPr id="3" name="Text 1"/>
          <p:cNvSpPr/>
          <p:nvPr/>
        </p:nvSpPr>
        <p:spPr>
          <a:xfrm>
            <a:off x="1953948" y="444500"/>
            <a:ext cx="13279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4520F"/>
                </a:solidFill>
                <a:latin typeface="IBM Plex Sans" pitchFamily="34" charset="0"/>
                <a:ea typeface="IBM Plex Sans" pitchFamily="34" charset="-122"/>
                <a:cs typeface="IBM Plex Sans" pitchFamily="34" charset="-120"/>
              </a:rPr>
              <a:t>Level 4 · Expert</a:t>
            </a:r>
            <a:endParaRPr lang="en-US" sz="1200" dirty="0"/>
          </a:p>
        </p:txBody>
      </p:sp>
      <p:sp>
        <p:nvSpPr>
          <p:cNvPr id="4" name="Text 2"/>
          <p:cNvSpPr/>
          <p:nvPr>
            <p:ph type="title"/>
          </p:nvPr>
        </p:nvSpPr>
        <p:spPr>
          <a:xfrm>
            <a:off x="711200" y="822920"/>
            <a:ext cx="11092688" cy="317500"/>
          </a:xfrm>
          <a:prstGeom prst="rect">
            <a:avLst/>
          </a:prstGeom>
          <a:noFill/>
          <a:ln/>
        </p:spPr>
        <p:txBody>
          <a:bodyPr wrap="square" lIns="0" tIns="0" rIns="0" bIns="0" rtlCol="0" anchor="t">
            <a:normAutofit/>
          </a:bodyPr>
          <a:lstStyle/>
          <a:p>
            <a:pPr algn="l" indent="0" marL="0">
              <a:lnSpc>
                <a:spcPts val="2300"/>
              </a:lnSpc>
              <a:buNone/>
            </a:pPr>
            <a:r>
              <a:rPr lang="en-US" sz="2000" b="1" i="0" dirty="0">
                <a:solidFill>
                  <a:srgbClr val="0F4C81"/>
                </a:solidFill>
                <a:latin typeface="IBM Plex Sans" pitchFamily="34" charset="0"/>
                <a:ea typeface="IBM Plex Sans" pitchFamily="34" charset="-122"/>
                <a:cs typeface="IBM Plex Sans" pitchFamily="34" charset="-120"/>
              </a:rPr>
              <a:t>Divisional-Scale Execution under Regulatory and Operational Pressure</a:t>
            </a:r>
            <a:endParaRPr lang="en-US" sz="2000" dirty="0"/>
          </a:p>
        </p:txBody>
      </p:sp>
      <p:sp>
        <p:nvSpPr>
          <p:cNvPr id="5" name="Shape 3"/>
          <p:cNvSpPr/>
          <p:nvPr/>
        </p:nvSpPr>
        <p:spPr>
          <a:xfrm>
            <a:off x="714375" y="1245195"/>
            <a:ext cx="10763250" cy="2717205"/>
          </a:xfrm>
          <a:prstGeom prst="roundRect">
            <a:avLst>
              <a:gd name="adj" fmla="val 2688"/>
            </a:avLst>
          </a:prstGeom>
          <a:solidFill>
            <a:srgbClr val="FBFCFD"/>
          </a:solidFill>
          <a:ln w="6350">
            <a:solidFill>
              <a:srgbClr val="D5DCE4"/>
            </a:solidFill>
            <a:prstDash val="solid"/>
          </a:ln>
        </p:spPr>
      </p:sp>
      <p:sp>
        <p:nvSpPr>
          <p:cNvPr id="6" name="Text 4"/>
          <p:cNvSpPr/>
          <p:nvPr/>
        </p:nvSpPr>
        <p:spPr>
          <a:xfrm>
            <a:off x="893233" y="1335156"/>
            <a:ext cx="180517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2798233" y="1335156"/>
            <a:ext cx="493589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7742767" y="1335156"/>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615151"/>
            <a:ext cx="1905000" cy="0"/>
          </a:xfrm>
          <a:prstGeom prst="line">
            <a:avLst/>
          </a:prstGeom>
          <a:noFill/>
          <a:ln w="6350">
            <a:solidFill>
              <a:srgbClr val="D5DCE4"/>
            </a:solidFill>
            <a:prstDash val="solid"/>
          </a:ln>
        </p:spPr>
      </p:sp>
      <p:sp>
        <p:nvSpPr>
          <p:cNvPr id="10" name="Text 8"/>
          <p:cNvSpPr/>
          <p:nvPr/>
        </p:nvSpPr>
        <p:spPr>
          <a:xfrm>
            <a:off x="893233" y="1692408"/>
            <a:ext cx="1805178"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India Payments Localization</a:t>
            </a:r>
            <a:endParaRPr lang="en-US" sz="1300" dirty="0"/>
          </a:p>
        </p:txBody>
      </p:sp>
      <p:sp>
        <p:nvSpPr>
          <p:cNvPr id="11" name="Shape 9"/>
          <p:cNvSpPr/>
          <p:nvPr/>
        </p:nvSpPr>
        <p:spPr>
          <a:xfrm>
            <a:off x="2798233" y="1615151"/>
            <a:ext cx="4944533" cy="0"/>
          </a:xfrm>
          <a:prstGeom prst="line">
            <a:avLst/>
          </a:prstGeom>
          <a:noFill/>
          <a:ln w="6350">
            <a:solidFill>
              <a:srgbClr val="D5DCE4"/>
            </a:solidFill>
            <a:prstDash val="solid"/>
          </a:ln>
        </p:spPr>
      </p:sp>
      <p:sp>
        <p:nvSpPr>
          <p:cNvPr id="12" name="Text 10"/>
          <p:cNvSpPr/>
          <p:nvPr/>
        </p:nvSpPr>
        <p:spPr>
          <a:xfrm>
            <a:off x="2798233" y="1692408"/>
            <a:ext cx="49358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Deployed localized, compliant Fabric 2.0 infrastructure in India within a tight 4-month timeline.</a:t>
            </a:r>
            <a:endParaRPr lang="en-US" sz="1200" dirty="0"/>
          </a:p>
        </p:txBody>
      </p:sp>
      <p:sp>
        <p:nvSpPr>
          <p:cNvPr id="13" name="Shape 11"/>
          <p:cNvSpPr/>
          <p:nvPr/>
        </p:nvSpPr>
        <p:spPr>
          <a:xfrm>
            <a:off x="7742767" y="1615151"/>
            <a:ext cx="3556000" cy="0"/>
          </a:xfrm>
          <a:prstGeom prst="line">
            <a:avLst/>
          </a:prstGeom>
          <a:noFill/>
          <a:ln w="6350">
            <a:solidFill>
              <a:srgbClr val="D5DCE4"/>
            </a:solidFill>
            <a:prstDash val="solid"/>
          </a:ln>
        </p:spPr>
      </p:sp>
      <p:sp>
        <p:nvSpPr>
          <p:cNvPr id="14" name="Text 12"/>
          <p:cNvSpPr/>
          <p:nvPr/>
        </p:nvSpPr>
        <p:spPr>
          <a:xfrm>
            <a:off x="7742767" y="1692408"/>
            <a:ext cx="3662680" cy="436827"/>
          </a:xfrm>
          <a:prstGeom prst="rect">
            <a:avLst/>
          </a:prstGeom>
          <a:noFill/>
          <a:ln/>
        </p:spPr>
        <p:txBody>
          <a:bodyPr wrap="square" lIns="0" tIns="0" rIns="0" bIns="0" rtlCol="0" anchor="t">
            <a:normAutofit/>
          </a:bodyPr>
          <a:lstStyle/>
          <a:p>
            <a:pPr algn="l" indent="0" marL="0">
              <a:lnSpc>
                <a:spcPts val="162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Delivery notification</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Manager feedback</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Manager appreciation</a:t>
            </a:r>
            <a:endParaRPr lang="en-US" sz="1200" dirty="0"/>
          </a:p>
        </p:txBody>
      </p:sp>
      <p:sp>
        <p:nvSpPr>
          <p:cNvPr id="15" name="Shape 13"/>
          <p:cNvSpPr/>
          <p:nvPr/>
        </p:nvSpPr>
        <p:spPr>
          <a:xfrm>
            <a:off x="893233" y="2184533"/>
            <a:ext cx="1905000" cy="0"/>
          </a:xfrm>
          <a:prstGeom prst="line">
            <a:avLst/>
          </a:prstGeom>
          <a:noFill/>
          <a:ln w="6350">
            <a:solidFill>
              <a:srgbClr val="D5DCE4"/>
            </a:solidFill>
            <a:prstDash val="solid"/>
          </a:ln>
        </p:spPr>
      </p:sp>
      <p:sp>
        <p:nvSpPr>
          <p:cNvPr id="16" name="Text 14"/>
          <p:cNvSpPr/>
          <p:nvPr/>
        </p:nvSpPr>
        <p:spPr>
          <a:xfrm>
            <a:off x="893233" y="2261791"/>
            <a:ext cx="1805178"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Bafir 5-Year Network Bug</a:t>
            </a:r>
            <a:endParaRPr lang="en-US" sz="1300" dirty="0"/>
          </a:p>
        </p:txBody>
      </p:sp>
      <p:sp>
        <p:nvSpPr>
          <p:cNvPr id="17" name="Shape 15"/>
          <p:cNvSpPr/>
          <p:nvPr/>
        </p:nvSpPr>
        <p:spPr>
          <a:xfrm>
            <a:off x="2798233" y="2184533"/>
            <a:ext cx="4944533" cy="0"/>
          </a:xfrm>
          <a:prstGeom prst="line">
            <a:avLst/>
          </a:prstGeom>
          <a:noFill/>
          <a:ln w="6350">
            <a:solidFill>
              <a:srgbClr val="D5DCE4"/>
            </a:solidFill>
            <a:prstDash val="solid"/>
          </a:ln>
        </p:spPr>
      </p:sp>
      <p:sp>
        <p:nvSpPr>
          <p:cNvPr id="18" name="Text 16"/>
          <p:cNvSpPr/>
          <p:nvPr/>
        </p:nvSpPr>
        <p:spPr>
          <a:xfrm>
            <a:off x="2798233" y="2261791"/>
            <a:ext cx="49358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Diagnosed and resolved a chronic 5-year network issue causing a 1% transaction drop rate in the Bafir payment app.</a:t>
            </a:r>
            <a:endParaRPr lang="en-US" sz="1200" dirty="0"/>
          </a:p>
        </p:txBody>
      </p:sp>
      <p:sp>
        <p:nvSpPr>
          <p:cNvPr id="19" name="Shape 17"/>
          <p:cNvSpPr/>
          <p:nvPr/>
        </p:nvSpPr>
        <p:spPr>
          <a:xfrm>
            <a:off x="7742767" y="2184533"/>
            <a:ext cx="3556000" cy="0"/>
          </a:xfrm>
          <a:prstGeom prst="line">
            <a:avLst/>
          </a:prstGeom>
          <a:noFill/>
          <a:ln w="6350">
            <a:solidFill>
              <a:srgbClr val="D5DCE4"/>
            </a:solidFill>
            <a:prstDash val="solid"/>
          </a:ln>
        </p:spPr>
      </p:sp>
      <p:sp>
        <p:nvSpPr>
          <p:cNvPr id="20" name="Text 18"/>
          <p:cNvSpPr/>
          <p:nvPr/>
        </p:nvSpPr>
        <p:spPr>
          <a:xfrm>
            <a:off x="7742767" y="2261791"/>
            <a:ext cx="3662680" cy="231114"/>
          </a:xfrm>
          <a:prstGeom prst="rect">
            <a:avLst/>
          </a:prstGeom>
          <a:noFill/>
          <a:ln/>
        </p:spPr>
        <p:txBody>
          <a:bodyPr wrap="square" lIns="0" tIns="0" rIns="0" bIns="0" rtlCol="0" anchor="t">
            <a:normAutofit/>
          </a:bodyPr>
          <a:lstStyle/>
          <a:p>
            <a:pPr algn="l" indent="0" marL="0">
              <a:lnSpc>
                <a:spcPts val="1620"/>
              </a:lnSpc>
              <a:buNone/>
            </a:pPr>
            <a:r>
              <a:rPr lang="en-US" sz="1200" u="sng" dirty="0">
                <a:solidFill>
                  <a:srgbClr val="2B2F36"/>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Appreciation email</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Resolution email</a:t>
            </a:r>
            <a:endParaRPr lang="en-US" sz="1200" dirty="0"/>
          </a:p>
        </p:txBody>
      </p:sp>
      <p:sp>
        <p:nvSpPr>
          <p:cNvPr id="21" name="Shape 19"/>
          <p:cNvSpPr/>
          <p:nvPr/>
        </p:nvSpPr>
        <p:spPr>
          <a:xfrm>
            <a:off x="893233" y="2753916"/>
            <a:ext cx="1905000" cy="0"/>
          </a:xfrm>
          <a:prstGeom prst="line">
            <a:avLst/>
          </a:prstGeom>
          <a:noFill/>
          <a:ln w="6350">
            <a:solidFill>
              <a:srgbClr val="D5DCE4"/>
            </a:solidFill>
            <a:prstDash val="solid"/>
          </a:ln>
        </p:spPr>
      </p:sp>
      <p:sp>
        <p:nvSpPr>
          <p:cNvPr id="22" name="Text 20"/>
          <p:cNvSpPr/>
          <p:nvPr/>
        </p:nvSpPr>
        <p:spPr>
          <a:xfrm>
            <a:off x="893233" y="2831176"/>
            <a:ext cx="1805178"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OCP4 Multi-Cluster Migration</a:t>
            </a:r>
            <a:endParaRPr lang="en-US" sz="1300" dirty="0"/>
          </a:p>
        </p:txBody>
      </p:sp>
      <p:sp>
        <p:nvSpPr>
          <p:cNvPr id="23" name="Shape 21"/>
          <p:cNvSpPr/>
          <p:nvPr/>
        </p:nvSpPr>
        <p:spPr>
          <a:xfrm>
            <a:off x="2798233" y="2753916"/>
            <a:ext cx="4944533" cy="0"/>
          </a:xfrm>
          <a:prstGeom prst="line">
            <a:avLst/>
          </a:prstGeom>
          <a:noFill/>
          <a:ln w="6350">
            <a:solidFill>
              <a:srgbClr val="D5DCE4"/>
            </a:solidFill>
            <a:prstDash val="solid"/>
          </a:ln>
        </p:spPr>
      </p:sp>
      <p:sp>
        <p:nvSpPr>
          <p:cNvPr id="24" name="Text 22"/>
          <p:cNvSpPr/>
          <p:nvPr/>
        </p:nvSpPr>
        <p:spPr>
          <a:xfrm>
            <a:off x="2798233" y="2831176"/>
            <a:ext cx="49358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Structured and executed the safe migration of 15+ production clusters from OCP3.</a:t>
            </a:r>
            <a:endParaRPr lang="en-US" sz="1200" dirty="0"/>
          </a:p>
        </p:txBody>
      </p:sp>
      <p:sp>
        <p:nvSpPr>
          <p:cNvPr id="25" name="Shape 23"/>
          <p:cNvSpPr/>
          <p:nvPr/>
        </p:nvSpPr>
        <p:spPr>
          <a:xfrm>
            <a:off x="7742767" y="2753916"/>
            <a:ext cx="3556000" cy="0"/>
          </a:xfrm>
          <a:prstGeom prst="line">
            <a:avLst/>
          </a:prstGeom>
          <a:noFill/>
          <a:ln w="6350">
            <a:solidFill>
              <a:srgbClr val="D5DCE4"/>
            </a:solidFill>
            <a:prstDash val="solid"/>
          </a:ln>
        </p:spPr>
      </p:sp>
      <p:sp>
        <p:nvSpPr>
          <p:cNvPr id="26" name="Text 24"/>
          <p:cNvSpPr/>
          <p:nvPr/>
        </p:nvSpPr>
        <p:spPr>
          <a:xfrm>
            <a:off x="7742767" y="2831176"/>
            <a:ext cx="3662680" cy="1053968"/>
          </a:xfrm>
          <a:prstGeom prst="rect">
            <a:avLst/>
          </a:prstGeom>
          <a:noFill/>
          <a:ln/>
        </p:spPr>
        <p:txBody>
          <a:bodyPr wrap="square" lIns="0" tIns="0" rIns="0" bIns="0" rtlCol="0" anchor="t">
            <a:normAutofit/>
          </a:bodyPr>
          <a:lstStyle/>
          <a:p>
            <a:pPr algn="l" indent="0" marL="0">
              <a:lnSpc>
                <a:spcPts val="1620"/>
              </a:lnSpc>
              <a:buNone/>
            </a:pPr>
            <a:r>
              <a:rPr lang="en-US" sz="1200" u="sng" dirty="0">
                <a:solidFill>
                  <a:srgbClr val="2B2F36"/>
                </a:solidFill>
                <a:latin typeface="IBM Plex Sans" pitchFamily="34" charset="0"/>
                <a:ea typeface="IBM Plex Sans" pitchFamily="34" charset="-122"/>
                <a:cs typeface="IBM Plex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Inventory</a:t>
            </a:r>
            <a:r>
              <a:rPr lang="en-US" sz="1200" dirty="0">
                <a:solidFill>
                  <a:srgbClr val="2B2F36"/>
                </a:solidFill>
                <a:latin typeface="IBM Plex Sans" pitchFamily="34" charset="0"/>
                <a:ea typeface="IBM Plex Sans" pitchFamily="34" charset="-122"/>
                <a:cs typeface="IBM Plex Sans" pitchFamily="34" charset="-120"/>
              </a:rPr>
              <a:t> · Confluence: </a:t>
            </a:r>
            <a:r>
              <a:rPr lang="en-US" sz="1200" u="sng" dirty="0">
                <a:solidFill>
                  <a:srgbClr val="2B2F36"/>
                </a:solidFill>
                <a:latin typeface="IBM Plex Sans" pitchFamily="34" charset="0"/>
                <a:ea typeface="IBM Plex Sans" pitchFamily="34" charset="-122"/>
                <a:cs typeface="IBM Plex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Prerequisites</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8" invalidUrl="" action="" tgtFrame="" tooltip="" history="1" highlightClick="0" endSnd="0">
                  <a:extLst>
                    <a:ext uri="{A12FA001-AC4F-418D-AE19-62706E023703}">
                      <ahyp:hlinkClr xmlns:ahyp="http://schemas.microsoft.com/office/drawing/2018/hyperlinkcolor" val="tx"/>
                    </a:ext>
                  </a:extLst>
                </a:hlinkClick>
              </a:rPr>
              <a:t>Post-build</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9" invalidUrl="" action="" tgtFrame="" tooltip="" history="1" highlightClick="0" endSnd="0">
                  <a:extLst>
                    <a:ext uri="{A12FA001-AC4F-418D-AE19-62706E023703}">
                      <ahyp:hlinkClr xmlns:ahyp="http://schemas.microsoft.com/office/drawing/2018/hyperlinkcolor" val="tx"/>
                    </a:ext>
                  </a:extLst>
                </a:hlinkClick>
              </a:rPr>
              <a:t>Runbook</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Clusters</a:t>
            </a:r>
            <a:r>
              <a:rPr lang="en-US" sz="1200" dirty="0">
                <a:solidFill>
                  <a:srgbClr val="2B2F36"/>
                </a:solidFill>
                <a:latin typeface="IBM Plex Sans" pitchFamily="34" charset="0"/>
                <a:ea typeface="IBM Plex Sans" pitchFamily="34" charset="-122"/>
                <a:cs typeface="IBM Plex Sans" pitchFamily="34" charset="-120"/>
              </a:rPr>
              <a:t> · Emails: </a:t>
            </a:r>
            <a:r>
              <a:rPr lang="en-US" sz="1200" u="sng" dirty="0">
                <a:solidFill>
                  <a:srgbClr val="2B2F36"/>
                </a:solidFill>
                <a:latin typeface="IBM Plex Sans" pitchFamily="34" charset="0"/>
                <a:ea typeface="IBM Plex Sans" pitchFamily="34" charset="-122"/>
                <a:cs typeface="IBM Plex San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ukonpd3a</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2" invalidUrl="" action="" tgtFrame="" tooltip="" history="1" highlightClick="0" endSnd="0">
                  <a:extLst>
                    <a:ext uri="{A12FA001-AC4F-418D-AE19-62706E023703}">
                      <ahyp:hlinkClr xmlns:ahyp="http://schemas.microsoft.com/office/drawing/2018/hyperlinkcolor" val="tx"/>
                    </a:ext>
                  </a:extLst>
                </a:hlinkClick>
              </a:rPr>
              <a:t>deonpu1b</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3" invalidUrl="" action="" tgtFrame="" tooltip="" history="1" highlightClick="0" endSnd="0">
                  <a:extLst>
                    <a:ext uri="{A12FA001-AC4F-418D-AE19-62706E023703}">
                      <ahyp:hlinkClr xmlns:ahyp="http://schemas.microsoft.com/office/drawing/2018/hyperlinkcolor" val="tx"/>
                    </a:ext>
                  </a:extLst>
                </a:hlinkClick>
              </a:rPr>
              <a:t>DE ONP PRD</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4" invalidUrl="" action="" tgtFrame="" tooltip="" history="1" highlightClick="0" endSnd="0">
                  <a:extLst>
                    <a:ext uri="{A12FA001-AC4F-418D-AE19-62706E023703}">
                      <ahyp:hlinkClr xmlns:ahyp="http://schemas.microsoft.com/office/drawing/2018/hyperlinkcolor" val="tx"/>
                    </a:ext>
                  </a:extLst>
                </a:hlinkClick>
              </a:rPr>
              <a:t>Delivery plan</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5" invalidUrl="" action="" tgtFrame="" tooltip="" history="1" highlightClick="0" endSnd="0">
                  <a:extLst>
                    <a:ext uri="{A12FA001-AC4F-418D-AE19-62706E023703}">
                      <ahyp:hlinkClr xmlns:ahyp="http://schemas.microsoft.com/office/drawing/2018/hyperlinkcolor" val="tx"/>
                    </a:ext>
                  </a:extLst>
                </a:hlinkClick>
              </a:rPr>
              <a:t>6 on-prem</a:t>
            </a:r>
            <a:r>
              <a:rPr lang="en-US" sz="1200" dirty="0">
                <a:solidFill>
                  <a:srgbClr val="2B2F36"/>
                </a:solidFill>
                <a:latin typeface="IBM Plex Sans" pitchFamily="34" charset="0"/>
                <a:ea typeface="IBM Plex Sans" pitchFamily="34" charset="-122"/>
                <a:cs typeface="IBM Plex Sans" pitchFamily="34" charset="-120"/>
              </a:rPr>
              <a:t> · Appreciation: </a:t>
            </a:r>
            <a:r>
              <a:rPr lang="en-US" sz="1200" u="sng" dirty="0">
                <a:solidFill>
                  <a:srgbClr val="2B2F36"/>
                </a:solidFill>
                <a:latin typeface="IBM Plex Sans" pitchFamily="34" charset="0"/>
                <a:ea typeface="IBM Plex Sans" pitchFamily="34" charset="-122"/>
                <a:cs typeface="IBM Plex Sans" pitchFamily="34" charset="-120"/>
                <a:hlinkClick r:id="rId16" invalidUrl="" action="" tgtFrame="" tooltip="" history="1" highlightClick="0" endSnd="0">
                  <a:extLst>
                    <a:ext uri="{A12FA001-AC4F-418D-AE19-62706E023703}">
                      <ahyp:hlinkClr xmlns:ahyp="http://schemas.microsoft.com/office/drawing/2018/hyperlinkcolor" val="tx"/>
                    </a:ext>
                  </a:extLst>
                </a:hlinkClick>
              </a:rPr>
              <a:t>Director</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7" invalidUrl="" action="" tgtFrame="" tooltip="" history="1" highlightClick="0" endSnd="0">
                  <a:extLst>
                    <a:ext uri="{A12FA001-AC4F-418D-AE19-62706E023703}">
                      <ahyp:hlinkClr xmlns:ahyp="http://schemas.microsoft.com/office/drawing/2018/hyperlinkcolor" val="tx"/>
                    </a:ext>
                  </a:extLst>
                </a:hlinkClick>
              </a:rPr>
              <a:t>Team Lead</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8" invalidUrl="" action="" tgtFrame="" tooltip="" history="1" highlightClick="0" endSnd="0">
                  <a:extLst>
                    <a:ext uri="{A12FA001-AC4F-418D-AE19-62706E023703}">
                      <ahyp:hlinkClr xmlns:ahyp="http://schemas.microsoft.com/office/drawing/2018/hyperlinkcolor" val="tx"/>
                    </a:ext>
                  </a:extLst>
                </a:hlinkClick>
              </a:rPr>
              <a:t>Project Manager</a:t>
            </a:r>
            <a:endParaRPr lang="en-US" sz="1200" dirty="0"/>
          </a:p>
        </p:txBody>
      </p:sp>
      <p:sp>
        <p:nvSpPr>
          <p:cNvPr id="27" name="Shape 25"/>
          <p:cNvSpPr/>
          <p:nvPr/>
        </p:nvSpPr>
        <p:spPr>
          <a:xfrm>
            <a:off x="711200" y="4092575"/>
            <a:ext cx="10769600" cy="614627"/>
          </a:xfrm>
          <a:prstGeom prst="roundRect">
            <a:avLst>
              <a:gd name="adj" fmla="val 4133"/>
            </a:avLst>
          </a:prstGeom>
          <a:solidFill>
            <a:srgbClr val="F6EBDD"/>
          </a:solidFill>
          <a:ln/>
        </p:spPr>
      </p:sp>
      <p:sp>
        <p:nvSpPr>
          <p:cNvPr id="28" name="Shape 26"/>
          <p:cNvSpPr/>
          <p:nvPr/>
        </p:nvSpPr>
        <p:spPr>
          <a:xfrm>
            <a:off x="711200" y="4092575"/>
            <a:ext cx="10769600" cy="614627"/>
          </a:xfrm>
          <a:custGeom>
            <a:avLst/>
            <a:gdLst/>
            <a:ahLst/>
            <a:cxnLst/>
            <a:rect l="l" t="t" r="r" b="b"/>
            <a:pathLst>
              <a:path w="10769600" h="614627">
                <a:moveTo>
                  <a:pt x="38100" y="614627"/>
                </a:moveTo>
                <a:lnTo>
                  <a:pt x="25400" y="614627"/>
                </a:lnTo>
                <a:arcTo hR="25400" wR="25400" stAng="5400000" swAng="5400000"/>
                <a:lnTo>
                  <a:pt x="0" y="25400"/>
                </a:lnTo>
                <a:arcTo hR="25400" wR="25400" stAng="10800000" swAng="5400000"/>
                <a:lnTo>
                  <a:pt x="38100" y="0"/>
                </a:lnTo>
                <a:lnTo>
                  <a:pt x="38100" y="614627"/>
                </a:lnTo>
                <a:close/>
              </a:path>
            </a:pathLst>
          </a:custGeom>
          <a:solidFill>
            <a:srgbClr val="A4520F"/>
          </a:solidFill>
          <a:ln/>
        </p:spPr>
      </p:sp>
      <p:sp>
        <p:nvSpPr>
          <p:cNvPr id="29" name="Text 27"/>
          <p:cNvSpPr/>
          <p:nvPr/>
        </p:nvSpPr>
        <p:spPr>
          <a:xfrm>
            <a:off x="927100" y="4181475"/>
            <a:ext cx="10687177"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A4520F"/>
                </a:solidFill>
                <a:latin typeface="IBM Plex Sans" pitchFamily="34" charset="0"/>
                <a:ea typeface="IBM Plex Sans" pitchFamily="34" charset="-122"/>
                <a:cs typeface="IBM Plex Sans" pitchFamily="34" charset="-120"/>
              </a:rPr>
              <a:t>Assumption challenged:</a:t>
            </a:r>
            <a:r>
              <a:rPr lang="en-US" sz="1200" dirty="0">
                <a:solidFill>
                  <a:srgbClr val="2B2F36"/>
                </a:solidFill>
                <a:latin typeface="IBM Plex Sans" pitchFamily="34" charset="0"/>
                <a:ea typeface="IBM Plex Sans" pitchFamily="34" charset="-122"/>
                <a:cs typeface="IBM Plex Sans" pitchFamily="34" charset="-120"/>
              </a:rPr>
              <a:t> Did not accept a 5-year-old Bafir transaction-drop issue as permanent; diagnosed it and drove it to resolution.</a:t>
            </a:r>
            <a:endParaRPr lang="en-US" sz="1200" dirty="0"/>
          </a:p>
        </p:txBody>
      </p:sp>
      <p:sp>
        <p:nvSpPr>
          <p:cNvPr id="30" name="Text 28"/>
          <p:cNvSpPr/>
          <p:nvPr/>
        </p:nvSpPr>
        <p:spPr>
          <a:xfrm>
            <a:off x="927100" y="4412593"/>
            <a:ext cx="10687177"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A4520F"/>
                </a:solidFill>
                <a:latin typeface="IBM Plex Sans" pitchFamily="34" charset="0"/>
                <a:ea typeface="IBM Plex Sans" pitchFamily="34" charset="-122"/>
                <a:cs typeface="IBM Plex Sans" pitchFamily="34" charset="-120"/>
              </a:rPr>
              <a:t>Divisional impact:</a:t>
            </a:r>
            <a:r>
              <a:rPr lang="en-US" sz="1200" dirty="0">
                <a:solidFill>
                  <a:srgbClr val="2B2F36"/>
                </a:solidFill>
                <a:latin typeface="IBM Plex Sans" pitchFamily="34" charset="0"/>
                <a:ea typeface="IBM Plex Sans" pitchFamily="34" charset="-122"/>
                <a:cs typeface="IBM Plex Sans" pitchFamily="34" charset="-120"/>
              </a:rPr>
              <a:t> Regulatory compliance for India payments, protected payment pipelines, and 15+ production clusters moved off OCP3.</a:t>
            </a:r>
            <a:endParaRPr lang="en-US" sz="1200" dirty="0"/>
          </a:p>
        </p:txBody>
      </p:sp>
      <p:sp>
        <p:nvSpPr>
          <p:cNvPr id="31" name="Text 29"/>
          <p:cNvSpPr/>
          <p:nvPr/>
        </p:nvSpPr>
        <p:spPr>
          <a:xfrm>
            <a:off x="711200" y="6289080"/>
            <a:ext cx="23761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Delivers</a:t>
            </a:r>
            <a:endParaRPr lang="en-US" sz="1200" dirty="0"/>
          </a:p>
        </p:txBody>
      </p:sp>
      <p:sp>
        <p:nvSpPr>
          <p:cNvPr id="32" name="Text 30"/>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08 / 13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156163"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OPERATES</a:t>
            </a:r>
            <a:endParaRPr lang="en-US" sz="1200" dirty="0"/>
          </a:p>
        </p:txBody>
      </p:sp>
      <p:sp>
        <p:nvSpPr>
          <p:cNvPr id="3" name="Text 1"/>
          <p:cNvSpPr/>
          <p:nvPr/>
        </p:nvSpPr>
        <p:spPr>
          <a:xfrm>
            <a:off x="1994363" y="444500"/>
            <a:ext cx="13511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Level 3 · Skilled</a:t>
            </a:r>
            <a:endParaRPr lang="en-US" sz="1200" dirty="0"/>
          </a:p>
        </p:txBody>
      </p:sp>
      <p:sp>
        <p:nvSpPr>
          <p:cNvPr id="4" name="Text 2"/>
          <p:cNvSpPr/>
          <p:nvPr>
            <p:ph type="title"/>
          </p:nvPr>
        </p:nvSpPr>
        <p:spPr>
          <a:xfrm>
            <a:off x="711200" y="822920"/>
            <a:ext cx="11092688" cy="317500"/>
          </a:xfrm>
          <a:prstGeom prst="rect">
            <a:avLst/>
          </a:prstGeom>
          <a:noFill/>
          <a:ln/>
        </p:spPr>
        <p:txBody>
          <a:bodyPr wrap="square" lIns="0" tIns="0" rIns="0" bIns="0" rtlCol="0" anchor="t">
            <a:normAutofit/>
          </a:bodyPr>
          <a:lstStyle/>
          <a:p>
            <a:pPr algn="l" indent="0" marL="0">
              <a:lnSpc>
                <a:spcPts val="2300"/>
              </a:lnSpc>
              <a:buNone/>
            </a:pPr>
            <a:r>
              <a:rPr lang="en-US" sz="2000" b="1" i="0" dirty="0">
                <a:solidFill>
                  <a:srgbClr val="0F4C81"/>
                </a:solidFill>
                <a:latin typeface="IBM Plex Sans" pitchFamily="34" charset="0"/>
                <a:ea typeface="IBM Plex Sans" pitchFamily="34" charset="-122"/>
                <a:cs typeface="IBM Plex Sans" pitchFamily="34" charset="-120"/>
              </a:rPr>
              <a:t>Incident Management, Rapid Restoration, and Automation</a:t>
            </a:r>
            <a:endParaRPr lang="en-US" sz="2000" dirty="0"/>
          </a:p>
        </p:txBody>
      </p:sp>
      <p:sp>
        <p:nvSpPr>
          <p:cNvPr id="5" name="Shape 3"/>
          <p:cNvSpPr/>
          <p:nvPr/>
        </p:nvSpPr>
        <p:spPr>
          <a:xfrm>
            <a:off x="714375" y="1245195"/>
            <a:ext cx="10763250" cy="2188832"/>
          </a:xfrm>
          <a:prstGeom prst="roundRect">
            <a:avLst>
              <a:gd name="adj" fmla="val 3336"/>
            </a:avLst>
          </a:prstGeom>
          <a:solidFill>
            <a:srgbClr val="FBFCFD"/>
          </a:solidFill>
          <a:ln w="6350">
            <a:solidFill>
              <a:srgbClr val="D5DCE4"/>
            </a:solidFill>
            <a:prstDash val="solid"/>
          </a:ln>
        </p:spPr>
      </p:sp>
      <p:sp>
        <p:nvSpPr>
          <p:cNvPr id="6" name="Text 4"/>
          <p:cNvSpPr/>
          <p:nvPr/>
        </p:nvSpPr>
        <p:spPr>
          <a:xfrm>
            <a:off x="893233" y="1335156"/>
            <a:ext cx="180517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2798233" y="1335156"/>
            <a:ext cx="493589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7742767" y="1335156"/>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615151"/>
            <a:ext cx="1905000" cy="0"/>
          </a:xfrm>
          <a:prstGeom prst="line">
            <a:avLst/>
          </a:prstGeom>
          <a:noFill/>
          <a:ln w="6350">
            <a:solidFill>
              <a:srgbClr val="D5DCE4"/>
            </a:solidFill>
            <a:prstDash val="solid"/>
          </a:ln>
        </p:spPr>
      </p:sp>
      <p:sp>
        <p:nvSpPr>
          <p:cNvPr id="10" name="Text 8"/>
          <p:cNvSpPr/>
          <p:nvPr/>
        </p:nvSpPr>
        <p:spPr>
          <a:xfrm>
            <a:off x="893233" y="1705111"/>
            <a:ext cx="1805178"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P1 Incident Diagnosis</a:t>
            </a:r>
            <a:endParaRPr lang="en-US" sz="1300" dirty="0"/>
          </a:p>
        </p:txBody>
      </p:sp>
      <p:sp>
        <p:nvSpPr>
          <p:cNvPr id="11" name="Shape 9"/>
          <p:cNvSpPr/>
          <p:nvPr/>
        </p:nvSpPr>
        <p:spPr>
          <a:xfrm>
            <a:off x="2798233" y="1615151"/>
            <a:ext cx="4944533" cy="0"/>
          </a:xfrm>
          <a:prstGeom prst="line">
            <a:avLst/>
          </a:prstGeom>
          <a:noFill/>
          <a:ln w="6350">
            <a:solidFill>
              <a:srgbClr val="D5DCE4"/>
            </a:solidFill>
            <a:prstDash val="solid"/>
          </a:ln>
        </p:spPr>
      </p:sp>
      <p:sp>
        <p:nvSpPr>
          <p:cNvPr id="12" name="Text 10"/>
          <p:cNvSpPr/>
          <p:nvPr/>
        </p:nvSpPr>
        <p:spPr>
          <a:xfrm>
            <a:off x="2798233" y="1705111"/>
            <a:ext cx="49358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Isolated and recovered broken Artifactory secrets during a high-stakes outage affecting 50+ applications.</a:t>
            </a:r>
            <a:endParaRPr lang="en-US" sz="1200" dirty="0"/>
          </a:p>
        </p:txBody>
      </p:sp>
      <p:sp>
        <p:nvSpPr>
          <p:cNvPr id="13" name="Shape 11"/>
          <p:cNvSpPr/>
          <p:nvPr/>
        </p:nvSpPr>
        <p:spPr>
          <a:xfrm>
            <a:off x="7742767" y="1615151"/>
            <a:ext cx="3556000" cy="0"/>
          </a:xfrm>
          <a:prstGeom prst="line">
            <a:avLst/>
          </a:prstGeom>
          <a:noFill/>
          <a:ln w="6350">
            <a:solidFill>
              <a:srgbClr val="D5DCE4"/>
            </a:solidFill>
            <a:prstDash val="solid"/>
          </a:ln>
        </p:spPr>
      </p:sp>
      <p:sp>
        <p:nvSpPr>
          <p:cNvPr id="14" name="Text 12"/>
          <p:cNvSpPr/>
          <p:nvPr/>
        </p:nvSpPr>
        <p:spPr>
          <a:xfrm>
            <a:off x="7742767" y="1705111"/>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2F36"/>
                </a:solidFill>
                <a:latin typeface="IBM Plex Sans" pitchFamily="34" charset="0"/>
                <a:ea typeface="IBM Plex Sans" pitchFamily="34" charset="-122"/>
                <a:cs typeface="IBM Plex Sans" pitchFamily="34" charset="-120"/>
              </a:rPr>
              <a:t>Appreciation: </a:t>
            </a: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MJ</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Directors &amp; MD</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Danny</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Paul</a:t>
            </a:r>
            <a:endParaRPr lang="en-US" sz="1200" dirty="0"/>
          </a:p>
        </p:txBody>
      </p:sp>
      <p:sp>
        <p:nvSpPr>
          <p:cNvPr id="15" name="Shape 13"/>
          <p:cNvSpPr/>
          <p:nvPr/>
        </p:nvSpPr>
        <p:spPr>
          <a:xfrm>
            <a:off x="893233" y="2208609"/>
            <a:ext cx="1905000" cy="0"/>
          </a:xfrm>
          <a:prstGeom prst="line">
            <a:avLst/>
          </a:prstGeom>
          <a:noFill/>
          <a:ln w="6350">
            <a:solidFill>
              <a:srgbClr val="D5DCE4"/>
            </a:solidFill>
            <a:prstDash val="solid"/>
          </a:ln>
        </p:spPr>
      </p:sp>
      <p:sp>
        <p:nvSpPr>
          <p:cNvPr id="16" name="Text 14"/>
          <p:cNvSpPr/>
          <p:nvPr/>
        </p:nvSpPr>
        <p:spPr>
          <a:xfrm>
            <a:off x="893233" y="2298570"/>
            <a:ext cx="1805178"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Emergency Rebuilds</a:t>
            </a:r>
            <a:endParaRPr lang="en-US" sz="1300" dirty="0"/>
          </a:p>
        </p:txBody>
      </p:sp>
      <p:sp>
        <p:nvSpPr>
          <p:cNvPr id="17" name="Shape 15"/>
          <p:cNvSpPr/>
          <p:nvPr/>
        </p:nvSpPr>
        <p:spPr>
          <a:xfrm>
            <a:off x="2798233" y="2208609"/>
            <a:ext cx="4944533" cy="0"/>
          </a:xfrm>
          <a:prstGeom prst="line">
            <a:avLst/>
          </a:prstGeom>
          <a:noFill/>
          <a:ln w="6350">
            <a:solidFill>
              <a:srgbClr val="D5DCE4"/>
            </a:solidFill>
            <a:prstDash val="solid"/>
          </a:ln>
        </p:spPr>
      </p:sp>
      <p:sp>
        <p:nvSpPr>
          <p:cNvPr id="18" name="Text 16"/>
          <p:cNvSpPr/>
          <p:nvPr/>
        </p:nvSpPr>
        <p:spPr>
          <a:xfrm>
            <a:off x="2798233" y="2298570"/>
            <a:ext cx="49358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Led a 2-day complete cluster recovery of 'inonpp1a' to secure client fail-back targets during catastrophic corruption.</a:t>
            </a:r>
            <a:endParaRPr lang="en-US" sz="1200" dirty="0"/>
          </a:p>
        </p:txBody>
      </p:sp>
      <p:sp>
        <p:nvSpPr>
          <p:cNvPr id="19" name="Shape 17"/>
          <p:cNvSpPr/>
          <p:nvPr/>
        </p:nvSpPr>
        <p:spPr>
          <a:xfrm>
            <a:off x="7742767" y="2208609"/>
            <a:ext cx="3556000" cy="0"/>
          </a:xfrm>
          <a:prstGeom prst="line">
            <a:avLst/>
          </a:prstGeom>
          <a:noFill/>
          <a:ln w="6350">
            <a:solidFill>
              <a:srgbClr val="D5DCE4"/>
            </a:solidFill>
            <a:prstDash val="solid"/>
          </a:ln>
        </p:spPr>
      </p:sp>
      <p:sp>
        <p:nvSpPr>
          <p:cNvPr id="20" name="Text 18"/>
          <p:cNvSpPr/>
          <p:nvPr/>
        </p:nvSpPr>
        <p:spPr>
          <a:xfrm>
            <a:off x="7742767" y="2298570"/>
            <a:ext cx="366268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Director's appreciation (inonpp1a)</a:t>
            </a:r>
            <a:endParaRPr lang="en-US" sz="1200" dirty="0"/>
          </a:p>
        </p:txBody>
      </p:sp>
      <p:sp>
        <p:nvSpPr>
          <p:cNvPr id="21" name="Shape 19"/>
          <p:cNvSpPr/>
          <p:nvPr/>
        </p:nvSpPr>
        <p:spPr>
          <a:xfrm>
            <a:off x="893233" y="2802074"/>
            <a:ext cx="1905000" cy="0"/>
          </a:xfrm>
          <a:prstGeom prst="line">
            <a:avLst/>
          </a:prstGeom>
          <a:noFill/>
          <a:ln w="6350">
            <a:solidFill>
              <a:srgbClr val="D5DCE4"/>
            </a:solidFill>
            <a:prstDash val="solid"/>
          </a:ln>
        </p:spPr>
      </p:sp>
      <p:sp>
        <p:nvSpPr>
          <p:cNvPr id="22" name="Text 20"/>
          <p:cNvSpPr/>
          <p:nvPr/>
        </p:nvSpPr>
        <p:spPr>
          <a:xfrm>
            <a:off x="893233" y="2892028"/>
            <a:ext cx="1805178"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Regression Automation</a:t>
            </a:r>
            <a:endParaRPr lang="en-US" sz="1300" dirty="0"/>
          </a:p>
        </p:txBody>
      </p:sp>
      <p:sp>
        <p:nvSpPr>
          <p:cNvPr id="23" name="Shape 21"/>
          <p:cNvSpPr/>
          <p:nvPr/>
        </p:nvSpPr>
        <p:spPr>
          <a:xfrm>
            <a:off x="2798233" y="2802074"/>
            <a:ext cx="4944533" cy="0"/>
          </a:xfrm>
          <a:prstGeom prst="line">
            <a:avLst/>
          </a:prstGeom>
          <a:noFill/>
          <a:ln w="6350">
            <a:solidFill>
              <a:srgbClr val="D5DCE4"/>
            </a:solidFill>
            <a:prstDash val="solid"/>
          </a:ln>
        </p:spPr>
      </p:sp>
      <p:sp>
        <p:nvSpPr>
          <p:cNvPr id="24" name="Text 22"/>
          <p:cNvSpPr/>
          <p:nvPr/>
        </p:nvSpPr>
        <p:spPr>
          <a:xfrm>
            <a:off x="2798233" y="2892028"/>
            <a:ext cx="49358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Coded Python-based testing modules, eliminating 6–8 hours of manual cluster validation.</a:t>
            </a:r>
            <a:endParaRPr lang="en-US" sz="1200" dirty="0"/>
          </a:p>
        </p:txBody>
      </p:sp>
      <p:sp>
        <p:nvSpPr>
          <p:cNvPr id="25" name="Shape 23"/>
          <p:cNvSpPr/>
          <p:nvPr/>
        </p:nvSpPr>
        <p:spPr>
          <a:xfrm>
            <a:off x="7742767" y="2802074"/>
            <a:ext cx="3556000" cy="0"/>
          </a:xfrm>
          <a:prstGeom prst="line">
            <a:avLst/>
          </a:prstGeom>
          <a:noFill/>
          <a:ln w="6350">
            <a:solidFill>
              <a:srgbClr val="D5DCE4"/>
            </a:solidFill>
            <a:prstDash val="solid"/>
          </a:ln>
        </p:spPr>
      </p:sp>
      <p:sp>
        <p:nvSpPr>
          <p:cNvPr id="26" name="Text 24"/>
          <p:cNvSpPr/>
          <p:nvPr/>
        </p:nvSpPr>
        <p:spPr>
          <a:xfrm>
            <a:off x="7742767" y="2892028"/>
            <a:ext cx="36626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2F36"/>
                </a:solidFill>
                <a:latin typeface="IBM Plex Sans" pitchFamily="34" charset="0"/>
                <a:ea typeface="IBM Plex Sans" pitchFamily="34" charset="-122"/>
                <a:cs typeface="IBM Plex Sans" pitchFamily="34" charset="-120"/>
              </a:rPr>
              <a:t>Jira: </a:t>
            </a:r>
            <a:r>
              <a:rPr lang="en-US" sz="1200" u="sng" dirty="0">
                <a:solidFill>
                  <a:srgbClr val="2B2F36"/>
                </a:solidFill>
                <a:latin typeface="IBM Plex Sans" pitchFamily="34" charset="0"/>
                <a:ea typeface="IBM Plex Sans" pitchFamily="34" charset="-122"/>
                <a:cs typeface="IBM Plex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FABRIC-2234</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2237</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8" invalidUrl="" action="" tgtFrame="" tooltip="" history="1" highlightClick="0" endSnd="0">
                  <a:extLst>
                    <a:ext uri="{A12FA001-AC4F-418D-AE19-62706E023703}">
                      <ahyp:hlinkClr xmlns:ahyp="http://schemas.microsoft.com/office/drawing/2018/hyperlinkcolor" val="tx"/>
                    </a:ext>
                  </a:extLst>
                </a:hlinkClick>
              </a:rPr>
              <a:t>2254</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9" invalidUrl="" action="" tgtFrame="" tooltip="" history="1" highlightClick="0" endSnd="0">
                  <a:extLst>
                    <a:ext uri="{A12FA001-AC4F-418D-AE19-62706E023703}">
                      <ahyp:hlinkClr xmlns:ahyp="http://schemas.microsoft.com/office/drawing/2018/hyperlinkcolor" val="tx"/>
                    </a:ext>
                  </a:extLst>
                </a:hlinkClick>
              </a:rPr>
              <a:t>2236</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2238</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Combined PR 31</a:t>
            </a:r>
            <a:endParaRPr lang="en-US" sz="1200" dirty="0"/>
          </a:p>
        </p:txBody>
      </p:sp>
      <p:sp>
        <p:nvSpPr>
          <p:cNvPr id="27" name="Text 25"/>
          <p:cNvSpPr/>
          <p:nvPr/>
        </p:nvSpPr>
        <p:spPr>
          <a:xfrm>
            <a:off x="711200" y="6289080"/>
            <a:ext cx="24654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Operates</a:t>
            </a:r>
            <a:endParaRPr lang="en-US" sz="1200" dirty="0"/>
          </a:p>
        </p:txBody>
      </p:sp>
      <p:sp>
        <p:nvSpPr>
          <p:cNvPr id="28" name="Text 26"/>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09 / 13</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1172303"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CONTROLS</a:t>
            </a:r>
            <a:endParaRPr lang="en-US" sz="1200" dirty="0"/>
          </a:p>
        </p:txBody>
      </p:sp>
      <p:sp>
        <p:nvSpPr>
          <p:cNvPr id="3" name="Text 1"/>
          <p:cNvSpPr/>
          <p:nvPr/>
        </p:nvSpPr>
        <p:spPr>
          <a:xfrm>
            <a:off x="2010503" y="444500"/>
            <a:ext cx="13511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Level 3 · Skilled</a:t>
            </a:r>
            <a:endParaRPr lang="en-US" sz="1200" dirty="0"/>
          </a:p>
        </p:txBody>
      </p:sp>
      <p:sp>
        <p:nvSpPr>
          <p:cNvPr id="4" name="Text 2"/>
          <p:cNvSpPr/>
          <p:nvPr>
            <p:ph type="title"/>
          </p:nvPr>
        </p:nvSpPr>
        <p:spPr>
          <a:xfrm>
            <a:off x="711200" y="822920"/>
            <a:ext cx="11092688" cy="317500"/>
          </a:xfrm>
          <a:prstGeom prst="rect">
            <a:avLst/>
          </a:prstGeom>
          <a:noFill/>
          <a:ln/>
        </p:spPr>
        <p:txBody>
          <a:bodyPr wrap="square" lIns="0" tIns="0" rIns="0" bIns="0" rtlCol="0" anchor="t">
            <a:normAutofit/>
          </a:bodyPr>
          <a:lstStyle/>
          <a:p>
            <a:pPr algn="l" indent="0" marL="0">
              <a:lnSpc>
                <a:spcPts val="2300"/>
              </a:lnSpc>
              <a:buNone/>
            </a:pPr>
            <a:r>
              <a:rPr lang="en-US" sz="2000" b="1" i="0" dirty="0">
                <a:solidFill>
                  <a:srgbClr val="0F4C81"/>
                </a:solidFill>
                <a:latin typeface="IBM Plex Sans" pitchFamily="34" charset="0"/>
                <a:ea typeface="IBM Plex Sans" pitchFamily="34" charset="-122"/>
                <a:cs typeface="IBM Plex Sans" pitchFamily="34" charset="-120"/>
              </a:rPr>
              <a:t>Risk Mitigation, Access Governance, and Secure-by-Default Architecture</a:t>
            </a:r>
            <a:endParaRPr lang="en-US" sz="2000" dirty="0"/>
          </a:p>
        </p:txBody>
      </p:sp>
      <p:sp>
        <p:nvSpPr>
          <p:cNvPr id="5" name="Shape 3"/>
          <p:cNvSpPr/>
          <p:nvPr/>
        </p:nvSpPr>
        <p:spPr>
          <a:xfrm>
            <a:off x="714375" y="1245195"/>
            <a:ext cx="10763250" cy="2432579"/>
          </a:xfrm>
          <a:prstGeom prst="roundRect">
            <a:avLst>
              <a:gd name="adj" fmla="val 3002"/>
            </a:avLst>
          </a:prstGeom>
          <a:solidFill>
            <a:srgbClr val="FBFCFD"/>
          </a:solidFill>
          <a:ln w="6350">
            <a:solidFill>
              <a:srgbClr val="D5DCE4"/>
            </a:solidFill>
            <a:prstDash val="solid"/>
          </a:ln>
        </p:spPr>
      </p:sp>
      <p:sp>
        <p:nvSpPr>
          <p:cNvPr id="6" name="Text 4"/>
          <p:cNvSpPr/>
          <p:nvPr/>
        </p:nvSpPr>
        <p:spPr>
          <a:xfrm>
            <a:off x="893233" y="1335156"/>
            <a:ext cx="180517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ACHIEVEMENT</a:t>
            </a:r>
            <a:endParaRPr lang="en-US" sz="1200" dirty="0"/>
          </a:p>
        </p:txBody>
      </p:sp>
      <p:sp>
        <p:nvSpPr>
          <p:cNvPr id="7" name="Text 5"/>
          <p:cNvSpPr/>
          <p:nvPr/>
        </p:nvSpPr>
        <p:spPr>
          <a:xfrm>
            <a:off x="2798233" y="1335156"/>
            <a:ext cx="493589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MY CONTRIBUTION &amp; IMPACT</a:t>
            </a:r>
            <a:endParaRPr lang="en-US" sz="1200" dirty="0"/>
          </a:p>
        </p:txBody>
      </p:sp>
      <p:sp>
        <p:nvSpPr>
          <p:cNvPr id="8" name="Text 6"/>
          <p:cNvSpPr/>
          <p:nvPr/>
        </p:nvSpPr>
        <p:spPr>
          <a:xfrm>
            <a:off x="7742767" y="1335156"/>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615151"/>
            <a:ext cx="1905000" cy="0"/>
          </a:xfrm>
          <a:prstGeom prst="line">
            <a:avLst/>
          </a:prstGeom>
          <a:noFill/>
          <a:ln w="6350">
            <a:solidFill>
              <a:srgbClr val="D5DCE4"/>
            </a:solidFill>
            <a:prstDash val="solid"/>
          </a:ln>
        </p:spPr>
      </p:sp>
      <p:sp>
        <p:nvSpPr>
          <p:cNvPr id="10" name="Text 8"/>
          <p:cNvSpPr/>
          <p:nvPr/>
        </p:nvSpPr>
        <p:spPr>
          <a:xfrm>
            <a:off x="893233" y="1705111"/>
            <a:ext cx="1805178"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Credential Monitoring</a:t>
            </a:r>
            <a:endParaRPr lang="en-US" sz="1300" dirty="0"/>
          </a:p>
        </p:txBody>
      </p:sp>
      <p:sp>
        <p:nvSpPr>
          <p:cNvPr id="11" name="Shape 9"/>
          <p:cNvSpPr/>
          <p:nvPr/>
        </p:nvSpPr>
        <p:spPr>
          <a:xfrm>
            <a:off x="2798233" y="1615151"/>
            <a:ext cx="4944533" cy="0"/>
          </a:xfrm>
          <a:prstGeom prst="line">
            <a:avLst/>
          </a:prstGeom>
          <a:noFill/>
          <a:ln w="6350">
            <a:solidFill>
              <a:srgbClr val="D5DCE4"/>
            </a:solidFill>
            <a:prstDash val="solid"/>
          </a:ln>
        </p:spPr>
      </p:sp>
      <p:sp>
        <p:nvSpPr>
          <p:cNvPr id="12" name="Text 10"/>
          <p:cNvSpPr/>
          <p:nvPr/>
        </p:nvSpPr>
        <p:spPr>
          <a:xfrm>
            <a:off x="2798233" y="1705111"/>
            <a:ext cx="49358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Owned PaaS Confluence credential remediation; conducted retrospective secure coding coaching.</a:t>
            </a:r>
            <a:endParaRPr lang="en-US" sz="1200" dirty="0"/>
          </a:p>
        </p:txBody>
      </p:sp>
      <p:sp>
        <p:nvSpPr>
          <p:cNvPr id="13" name="Shape 11"/>
          <p:cNvSpPr/>
          <p:nvPr/>
        </p:nvSpPr>
        <p:spPr>
          <a:xfrm>
            <a:off x="7742767" y="1615151"/>
            <a:ext cx="3556000" cy="0"/>
          </a:xfrm>
          <a:prstGeom prst="line">
            <a:avLst/>
          </a:prstGeom>
          <a:noFill/>
          <a:ln w="6350">
            <a:solidFill>
              <a:srgbClr val="D5DCE4"/>
            </a:solidFill>
            <a:prstDash val="solid"/>
          </a:ln>
        </p:spPr>
      </p:sp>
      <p:sp>
        <p:nvSpPr>
          <p:cNvPr id="14" name="Text 12"/>
          <p:cNvSpPr/>
          <p:nvPr/>
        </p:nvSpPr>
        <p:spPr>
          <a:xfrm>
            <a:off x="7742767" y="1705111"/>
            <a:ext cx="3662680" cy="452041"/>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Coaching whiteboard</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Teams confirmation</a:t>
            </a:r>
            <a:r>
              <a:rPr lang="en-US" sz="1200" dirty="0">
                <a:solidFill>
                  <a:srgbClr val="2B2F36"/>
                </a:solidFill>
                <a:latin typeface="IBM Plex Sans" pitchFamily="34" charset="0"/>
                <a:ea typeface="IBM Plex Sans" pitchFamily="34" charset="-122"/>
                <a:cs typeface="IBM Plex Sans" pitchFamily="34" charset="-120"/>
              </a:rPr>
              <a:t> · Jira: </a:t>
            </a:r>
            <a:r>
              <a:rPr lang="en-US" sz="1200" u="sng" dirty="0">
                <a:solidFill>
                  <a:srgbClr val="2B2F3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38126</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29405</a:t>
            </a:r>
            <a:endParaRPr lang="en-US" sz="1200" dirty="0"/>
          </a:p>
        </p:txBody>
      </p:sp>
      <p:sp>
        <p:nvSpPr>
          <p:cNvPr id="15" name="Shape 13"/>
          <p:cNvSpPr/>
          <p:nvPr/>
        </p:nvSpPr>
        <p:spPr>
          <a:xfrm>
            <a:off x="893233" y="2223827"/>
            <a:ext cx="1905000" cy="0"/>
          </a:xfrm>
          <a:prstGeom prst="line">
            <a:avLst/>
          </a:prstGeom>
          <a:noFill/>
          <a:ln w="6350">
            <a:solidFill>
              <a:srgbClr val="D5DCE4"/>
            </a:solidFill>
            <a:prstDash val="solid"/>
          </a:ln>
        </p:spPr>
      </p:sp>
      <p:sp>
        <p:nvSpPr>
          <p:cNvPr id="16" name="Text 14"/>
          <p:cNvSpPr/>
          <p:nvPr/>
        </p:nvSpPr>
        <p:spPr>
          <a:xfrm>
            <a:off x="893233" y="2313781"/>
            <a:ext cx="1805178"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CyberArk SSH Integration</a:t>
            </a:r>
            <a:endParaRPr lang="en-US" sz="1300" dirty="0"/>
          </a:p>
        </p:txBody>
      </p:sp>
      <p:sp>
        <p:nvSpPr>
          <p:cNvPr id="17" name="Shape 15"/>
          <p:cNvSpPr/>
          <p:nvPr/>
        </p:nvSpPr>
        <p:spPr>
          <a:xfrm>
            <a:off x="2798233" y="2223827"/>
            <a:ext cx="4944533" cy="0"/>
          </a:xfrm>
          <a:prstGeom prst="line">
            <a:avLst/>
          </a:prstGeom>
          <a:noFill/>
          <a:ln w="6350">
            <a:solidFill>
              <a:srgbClr val="D5DCE4"/>
            </a:solidFill>
            <a:prstDash val="solid"/>
          </a:ln>
        </p:spPr>
      </p:sp>
      <p:sp>
        <p:nvSpPr>
          <p:cNvPr id="18" name="Text 16"/>
          <p:cNvSpPr/>
          <p:nvPr/>
        </p:nvSpPr>
        <p:spPr>
          <a:xfrm>
            <a:off x="2798233" y="2313781"/>
            <a:ext cx="49358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Replaced shared root keys with secure CyberArk access, establishing full individual audit trails.</a:t>
            </a:r>
            <a:endParaRPr lang="en-US" sz="1200" dirty="0"/>
          </a:p>
        </p:txBody>
      </p:sp>
      <p:sp>
        <p:nvSpPr>
          <p:cNvPr id="19" name="Shape 17"/>
          <p:cNvSpPr/>
          <p:nvPr/>
        </p:nvSpPr>
        <p:spPr>
          <a:xfrm>
            <a:off x="7742767" y="2223827"/>
            <a:ext cx="3556000" cy="0"/>
          </a:xfrm>
          <a:prstGeom prst="line">
            <a:avLst/>
          </a:prstGeom>
          <a:noFill/>
          <a:ln w="6350">
            <a:solidFill>
              <a:srgbClr val="D5DCE4"/>
            </a:solidFill>
            <a:prstDash val="solid"/>
          </a:ln>
        </p:spPr>
      </p:sp>
      <p:sp>
        <p:nvSpPr>
          <p:cNvPr id="20" name="Text 18"/>
          <p:cNvSpPr/>
          <p:nvPr/>
        </p:nvSpPr>
        <p:spPr>
          <a:xfrm>
            <a:off x="7742767" y="2313781"/>
            <a:ext cx="36626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2F36"/>
                </a:solidFill>
                <a:latin typeface="IBM Plex Sans" pitchFamily="34" charset="0"/>
                <a:ea typeface="IBM Plex Sans" pitchFamily="34" charset="-122"/>
                <a:cs typeface="IBM Plex Sans" pitchFamily="34" charset="-120"/>
              </a:rPr>
              <a:t>Jira: </a:t>
            </a:r>
            <a:r>
              <a:rPr lang="en-US" sz="1200" u="sng" dirty="0">
                <a:solidFill>
                  <a:srgbClr val="2B2F36"/>
                </a:solidFill>
                <a:latin typeface="IBM Plex Sans" pitchFamily="34" charset="0"/>
                <a:ea typeface="IBM Plex Sans" pitchFamily="34" charset="-122"/>
                <a:cs typeface="IBM Plex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FABRIC-627</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753</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Operations onboarding guide</a:t>
            </a:r>
            <a:endParaRPr lang="en-US" sz="1200" dirty="0"/>
          </a:p>
        </p:txBody>
      </p:sp>
      <p:sp>
        <p:nvSpPr>
          <p:cNvPr id="21" name="Shape 19"/>
          <p:cNvSpPr/>
          <p:nvPr/>
        </p:nvSpPr>
        <p:spPr>
          <a:xfrm>
            <a:off x="893233" y="2832497"/>
            <a:ext cx="1905000" cy="0"/>
          </a:xfrm>
          <a:prstGeom prst="line">
            <a:avLst/>
          </a:prstGeom>
          <a:noFill/>
          <a:ln w="6350">
            <a:solidFill>
              <a:srgbClr val="D5DCE4"/>
            </a:solidFill>
            <a:prstDash val="solid"/>
          </a:ln>
        </p:spPr>
      </p:sp>
      <p:sp>
        <p:nvSpPr>
          <p:cNvPr id="22" name="Text 20"/>
          <p:cNvSpPr/>
          <p:nvPr/>
        </p:nvSpPr>
        <p:spPr>
          <a:xfrm>
            <a:off x="893233" y="2922457"/>
            <a:ext cx="1805178" cy="64452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0F4C81"/>
                </a:solidFill>
                <a:latin typeface="IBM Plex Sans" pitchFamily="34" charset="0"/>
                <a:ea typeface="IBM Plex Sans" pitchFamily="34" charset="-122"/>
                <a:cs typeface="IBM Plex Sans" pitchFamily="34" charset="-120"/>
              </a:rPr>
              <a:t>Ingress TLS Hardening &amp; Port Blocking</a:t>
            </a:r>
            <a:endParaRPr lang="en-US" sz="1300" dirty="0"/>
          </a:p>
        </p:txBody>
      </p:sp>
      <p:sp>
        <p:nvSpPr>
          <p:cNvPr id="23" name="Shape 21"/>
          <p:cNvSpPr/>
          <p:nvPr/>
        </p:nvSpPr>
        <p:spPr>
          <a:xfrm>
            <a:off x="2798233" y="2832497"/>
            <a:ext cx="4944533" cy="0"/>
          </a:xfrm>
          <a:prstGeom prst="line">
            <a:avLst/>
          </a:prstGeom>
          <a:noFill/>
          <a:ln w="6350">
            <a:solidFill>
              <a:srgbClr val="D5DCE4"/>
            </a:solidFill>
            <a:prstDash val="solid"/>
          </a:ln>
        </p:spPr>
      </p:sp>
      <p:sp>
        <p:nvSpPr>
          <p:cNvPr id="24" name="Text 22"/>
          <p:cNvSpPr/>
          <p:nvPr/>
        </p:nvSpPr>
        <p:spPr>
          <a:xfrm>
            <a:off x="2798233" y="2922457"/>
            <a:ext cx="4935897"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2F36"/>
                </a:solidFill>
                <a:latin typeface="IBM Plex Sans" pitchFamily="34" charset="0"/>
                <a:ea typeface="IBM Plex Sans" pitchFamily="34" charset="-122"/>
                <a:cs typeface="IBM Plex Sans" pitchFamily="34" charset="-120"/>
              </a:rPr>
              <a:t>Traced APT findings to the shared IngressController and Ingress VIP; completed the risk assessment, mitigation design and PoC for 600+ tenant applications. Production rollout in progress.</a:t>
            </a:r>
            <a:endParaRPr lang="en-US" sz="1200" dirty="0"/>
          </a:p>
        </p:txBody>
      </p:sp>
      <p:sp>
        <p:nvSpPr>
          <p:cNvPr id="25" name="Shape 23"/>
          <p:cNvSpPr/>
          <p:nvPr/>
        </p:nvSpPr>
        <p:spPr>
          <a:xfrm>
            <a:off x="7742767" y="2832497"/>
            <a:ext cx="3556000" cy="0"/>
          </a:xfrm>
          <a:prstGeom prst="line">
            <a:avLst/>
          </a:prstGeom>
          <a:noFill/>
          <a:ln w="6350">
            <a:solidFill>
              <a:srgbClr val="D5DCE4"/>
            </a:solidFill>
            <a:prstDash val="solid"/>
          </a:ln>
        </p:spPr>
      </p:sp>
      <p:sp>
        <p:nvSpPr>
          <p:cNvPr id="26" name="Text 24"/>
          <p:cNvSpPr/>
          <p:nvPr/>
        </p:nvSpPr>
        <p:spPr>
          <a:xfrm>
            <a:off x="7742767" y="2922457"/>
            <a:ext cx="3662680" cy="665361"/>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8" invalidUrl="" action="" tgtFrame="" tooltip="" history="1" highlightClick="0" endSnd="0">
                  <a:extLst>
                    <a:ext uri="{A12FA001-AC4F-418D-AE19-62706E023703}">
                      <ahyp:hlinkClr xmlns:ahyp="http://schemas.microsoft.com/office/drawing/2018/hyperlinkcolor" val="tx"/>
                    </a:ext>
                  </a:extLst>
                </a:hlinkClick>
              </a:rPr>
              <a:t>APT analysis email</a:t>
            </a:r>
            <a:r>
              <a:rPr lang="en-US" sz="1200" dirty="0">
                <a:solidFill>
                  <a:srgbClr val="2B2F36"/>
                </a:solidFill>
                <a:latin typeface="IBM Plex Sans" pitchFamily="34" charset="0"/>
                <a:ea typeface="IBM Plex Sans" pitchFamily="34" charset="-122"/>
                <a:cs typeface="IBM Plex Sans" pitchFamily="34" charset="-120"/>
              </a:rPr>
              <a:t> · TLS: </a:t>
            </a:r>
            <a:r>
              <a:rPr lang="en-US" sz="1200" u="sng" dirty="0">
                <a:solidFill>
                  <a:srgbClr val="2B2F36"/>
                </a:solidFill>
                <a:latin typeface="IBM Plex Sans" pitchFamily="34" charset="0"/>
                <a:ea typeface="IBM Plex Sans" pitchFamily="34" charset="-122"/>
                <a:cs typeface="IBM Plex Sans" pitchFamily="34" charset="-120"/>
                <a:hlinkClick r:id="rId9" invalidUrl="" action="" tgtFrame="" tooltip="" history="1" highlightClick="0" endSnd="0">
                  <a:extLst>
                    <a:ext uri="{A12FA001-AC4F-418D-AE19-62706E023703}">
                      <ahyp:hlinkClr xmlns:ahyp="http://schemas.microsoft.com/office/drawing/2018/hyperlinkcolor" val="tx"/>
                    </a:ext>
                  </a:extLst>
                </a:hlinkClick>
              </a:rPr>
              <a:t>41763</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41765</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41766</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2" invalidUrl="" action="" tgtFrame="" tooltip="" history="1" highlightClick="0" endSnd="0">
                  <a:extLst>
                    <a:ext uri="{A12FA001-AC4F-418D-AE19-62706E023703}">
                      <ahyp:hlinkClr xmlns:ahyp="http://schemas.microsoft.com/office/drawing/2018/hyperlinkcolor" val="tx"/>
                    </a:ext>
                  </a:extLst>
                </a:hlinkClick>
              </a:rPr>
              <a:t>41767</a:t>
            </a:r>
            <a:r>
              <a:rPr lang="en-US" sz="1200" dirty="0">
                <a:solidFill>
                  <a:srgbClr val="2B2F36"/>
                </a:solidFill>
                <a:latin typeface="IBM Plex Sans" pitchFamily="34" charset="0"/>
                <a:ea typeface="IBM Plex Sans" pitchFamily="34" charset="-122"/>
                <a:cs typeface="IBM Plex Sans" pitchFamily="34" charset="-120"/>
              </a:rPr>
              <a:t> · Ports: </a:t>
            </a:r>
            <a:r>
              <a:rPr lang="en-US" sz="1200" u="sng" dirty="0">
                <a:solidFill>
                  <a:srgbClr val="2B2F36"/>
                </a:solidFill>
                <a:latin typeface="IBM Plex Sans" pitchFamily="34" charset="0"/>
                <a:ea typeface="IBM Plex Sans" pitchFamily="34" charset="-122"/>
                <a:cs typeface="IBM Plex Sans" pitchFamily="34" charset="-120"/>
                <a:hlinkClick r:id="rId13" invalidUrl="" action="" tgtFrame="" tooltip="" history="1" highlightClick="0" endSnd="0">
                  <a:extLst>
                    <a:ext uri="{A12FA001-AC4F-418D-AE19-62706E023703}">
                      <ahyp:hlinkClr xmlns:ahyp="http://schemas.microsoft.com/office/drawing/2018/hyperlinkcolor" val="tx"/>
                    </a:ext>
                  </a:extLst>
                </a:hlinkClick>
              </a:rPr>
              <a:t>40223</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4" invalidUrl="" action="" tgtFrame="" tooltip="" history="1" highlightClick="0" endSnd="0">
                  <a:extLst>
                    <a:ext uri="{A12FA001-AC4F-418D-AE19-62706E023703}">
                      <ahyp:hlinkClr xmlns:ahyp="http://schemas.microsoft.com/office/drawing/2018/hyperlinkcolor" val="tx"/>
                    </a:ext>
                  </a:extLst>
                </a:hlinkClick>
              </a:rPr>
              <a:t>40514</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5" invalidUrl="" action="" tgtFrame="" tooltip="" history="1" highlightClick="0" endSnd="0">
                  <a:extLst>
                    <a:ext uri="{A12FA001-AC4F-418D-AE19-62706E023703}">
                      <ahyp:hlinkClr xmlns:ahyp="http://schemas.microsoft.com/office/drawing/2018/hyperlinkcolor" val="tx"/>
                    </a:ext>
                  </a:extLst>
                </a:hlinkClick>
              </a:rPr>
              <a:t>40515</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6" invalidUrl="" action="" tgtFrame="" tooltip="" history="1" highlightClick="0" endSnd="0">
                  <a:extLst>
                    <a:ext uri="{A12FA001-AC4F-418D-AE19-62706E023703}">
                      <ahyp:hlinkClr xmlns:ahyp="http://schemas.microsoft.com/office/drawing/2018/hyperlinkcolor" val="tx"/>
                    </a:ext>
                  </a:extLst>
                </a:hlinkClick>
              </a:rPr>
              <a:t>40516</a:t>
            </a:r>
            <a:r>
              <a:rPr lang="en-US" sz="1200" dirty="0">
                <a:solidFill>
                  <a:srgbClr val="2B2F36"/>
                </a:solidFill>
                <a:latin typeface="IBM Plex Sans" pitchFamily="34" charset="0"/>
                <a:ea typeface="IBM Plex Sans" pitchFamily="34" charset="-122"/>
                <a:cs typeface="IBM Plex Sans" pitchFamily="34" charset="-120"/>
              </a:rPr>
              <a:t> · </a:t>
            </a:r>
            <a:r>
              <a:rPr lang="en-US" sz="1200" u="sng" dirty="0">
                <a:solidFill>
                  <a:srgbClr val="2B2F36"/>
                </a:solidFill>
                <a:latin typeface="IBM Plex Sans" pitchFamily="34" charset="0"/>
                <a:ea typeface="IBM Plex Sans" pitchFamily="34" charset="-122"/>
                <a:cs typeface="IBM Plex Sans" pitchFamily="34" charset="-120"/>
                <a:hlinkClick r:id="rId17" invalidUrl="" action="" tgtFrame="" tooltip="" history="1" highlightClick="0" endSnd="0">
                  <a:extLst>
                    <a:ext uri="{A12FA001-AC4F-418D-AE19-62706E023703}">
                      <ahyp:hlinkClr xmlns:ahyp="http://schemas.microsoft.com/office/drawing/2018/hyperlinkcolor" val="tx"/>
                    </a:ext>
                  </a:extLst>
                </a:hlinkClick>
              </a:rPr>
              <a:t>40517</a:t>
            </a:r>
            <a:endParaRPr lang="en-US" sz="1200" dirty="0"/>
          </a:p>
        </p:txBody>
      </p:sp>
      <p:sp>
        <p:nvSpPr>
          <p:cNvPr id="27" name="Text 25"/>
          <p:cNvSpPr/>
          <p:nvPr/>
        </p:nvSpPr>
        <p:spPr>
          <a:xfrm>
            <a:off x="711200" y="6289080"/>
            <a:ext cx="24040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ECDF · Controls</a:t>
            </a:r>
            <a:endParaRPr lang="en-US" sz="1200" dirty="0"/>
          </a:p>
        </p:txBody>
      </p:sp>
      <p:sp>
        <p:nvSpPr>
          <p:cNvPr id="28" name="Text 26"/>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10 / 13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2272771"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LEADERSHIP KOMPASS</a:t>
            </a:r>
            <a:endParaRPr lang="en-US" sz="1200" dirty="0"/>
          </a:p>
        </p:txBody>
      </p:sp>
      <p:sp>
        <p:nvSpPr>
          <p:cNvPr id="3" name="Text 1"/>
          <p:cNvSpPr/>
          <p:nvPr/>
        </p:nvSpPr>
        <p:spPr>
          <a:xfrm>
            <a:off x="3110971" y="444500"/>
            <a:ext cx="13350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Behaviours 1–4</a:t>
            </a:r>
            <a:endParaRPr lang="en-US" sz="1200" dirty="0"/>
          </a:p>
        </p:txBody>
      </p:sp>
      <p:sp>
        <p:nvSpPr>
          <p:cNvPr id="4" name="Text 2"/>
          <p:cNvSpPr/>
          <p:nvPr>
            <p:ph type="title"/>
          </p:nvPr>
        </p:nvSpPr>
        <p:spPr>
          <a:xfrm>
            <a:off x="711200" y="848320"/>
            <a:ext cx="11092688"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Expected Behaviours of Leaders at the Bank</a:t>
            </a:r>
            <a:endParaRPr lang="en-US" sz="2400" dirty="0"/>
          </a:p>
        </p:txBody>
      </p:sp>
      <p:sp>
        <p:nvSpPr>
          <p:cNvPr id="5" name="Shape 3"/>
          <p:cNvSpPr/>
          <p:nvPr/>
        </p:nvSpPr>
        <p:spPr>
          <a:xfrm>
            <a:off x="714375" y="1354404"/>
            <a:ext cx="10763250" cy="3216606"/>
          </a:xfrm>
          <a:prstGeom prst="roundRect">
            <a:avLst>
              <a:gd name="adj" fmla="val 2270"/>
            </a:avLst>
          </a:prstGeom>
          <a:solidFill>
            <a:srgbClr val="FBFCFD"/>
          </a:solidFill>
          <a:ln w="6350">
            <a:solidFill>
              <a:srgbClr val="D5DCE4"/>
            </a:solidFill>
            <a:prstDash val="solid"/>
          </a:ln>
        </p:spPr>
      </p:sp>
      <p:sp>
        <p:nvSpPr>
          <p:cNvPr id="6" name="Text 4"/>
          <p:cNvSpPr/>
          <p:nvPr/>
        </p:nvSpPr>
        <p:spPr>
          <a:xfrm>
            <a:off x="893233" y="1482465"/>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BEHAVIOUR</a:t>
            </a:r>
            <a:endParaRPr lang="en-US" sz="1200" dirty="0"/>
          </a:p>
        </p:txBody>
      </p:sp>
      <p:sp>
        <p:nvSpPr>
          <p:cNvPr id="7" name="Text 5"/>
          <p:cNvSpPr/>
          <p:nvPr/>
        </p:nvSpPr>
        <p:spPr>
          <a:xfrm>
            <a:off x="3433233" y="1482465"/>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HOW I DEMONSTRATE IT</a:t>
            </a:r>
            <a:endParaRPr lang="en-US" sz="1200" dirty="0"/>
          </a:p>
        </p:txBody>
      </p:sp>
      <p:sp>
        <p:nvSpPr>
          <p:cNvPr id="8" name="Text 6"/>
          <p:cNvSpPr/>
          <p:nvPr/>
        </p:nvSpPr>
        <p:spPr>
          <a:xfrm>
            <a:off x="8504767" y="1482465"/>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775160"/>
            <a:ext cx="2540000" cy="0"/>
          </a:xfrm>
          <a:prstGeom prst="line">
            <a:avLst/>
          </a:prstGeom>
          <a:noFill/>
          <a:ln w="6350">
            <a:solidFill>
              <a:srgbClr val="D5DCE4"/>
            </a:solidFill>
            <a:prstDash val="solid"/>
          </a:ln>
        </p:spPr>
      </p:sp>
      <p:sp>
        <p:nvSpPr>
          <p:cNvPr id="10" name="Text 8"/>
          <p:cNvSpPr/>
          <p:nvPr/>
        </p:nvSpPr>
        <p:spPr>
          <a:xfrm>
            <a:off x="893233" y="1890514"/>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1. Role-Modeling Integrity &amp; Accountability</a:t>
            </a:r>
            <a:endParaRPr lang="en-US" sz="1300" dirty="0"/>
          </a:p>
        </p:txBody>
      </p:sp>
      <p:sp>
        <p:nvSpPr>
          <p:cNvPr id="11" name="Shape 9"/>
          <p:cNvSpPr/>
          <p:nvPr/>
        </p:nvSpPr>
        <p:spPr>
          <a:xfrm>
            <a:off x="3433233" y="1775160"/>
            <a:ext cx="5071533" cy="0"/>
          </a:xfrm>
          <a:prstGeom prst="line">
            <a:avLst/>
          </a:prstGeom>
          <a:noFill/>
          <a:ln w="6350">
            <a:solidFill>
              <a:srgbClr val="D5DCE4"/>
            </a:solidFill>
            <a:prstDash val="solid"/>
          </a:ln>
        </p:spPr>
      </p:sp>
      <p:sp>
        <p:nvSpPr>
          <p:cNvPr id="12" name="Text 10"/>
          <p:cNvSpPr/>
          <p:nvPr/>
        </p:nvSpPr>
        <p:spPr>
          <a:xfrm>
            <a:off x="3433233" y="189051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Owns production incidents (e.g., the inonpp1a outage) and runs transparent post-mortems.</a:t>
            </a:r>
            <a:endParaRPr lang="en-US" sz="1300" dirty="0"/>
          </a:p>
        </p:txBody>
      </p:sp>
      <p:sp>
        <p:nvSpPr>
          <p:cNvPr id="13" name="Shape 11"/>
          <p:cNvSpPr/>
          <p:nvPr/>
        </p:nvSpPr>
        <p:spPr>
          <a:xfrm>
            <a:off x="8504767" y="1775160"/>
            <a:ext cx="2794000" cy="0"/>
          </a:xfrm>
          <a:prstGeom prst="line">
            <a:avLst/>
          </a:prstGeom>
          <a:noFill/>
          <a:ln w="6350">
            <a:solidFill>
              <a:srgbClr val="D5DCE4"/>
            </a:solidFill>
            <a:prstDash val="solid"/>
          </a:ln>
        </p:spPr>
      </p:sp>
      <p:sp>
        <p:nvSpPr>
          <p:cNvPr id="14" name="Text 12"/>
          <p:cNvSpPr/>
          <p:nvPr/>
        </p:nvSpPr>
        <p:spPr>
          <a:xfrm>
            <a:off x="8504767" y="1890514"/>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Outage Recovery Mail</a:t>
            </a:r>
            <a:endParaRPr lang="en-US" sz="1200" dirty="0"/>
          </a:p>
        </p:txBody>
      </p:sp>
      <p:sp>
        <p:nvSpPr>
          <p:cNvPr id="15" name="Shape 13"/>
          <p:cNvSpPr/>
          <p:nvPr/>
        </p:nvSpPr>
        <p:spPr>
          <a:xfrm>
            <a:off x="893233" y="2470218"/>
            <a:ext cx="2540000" cy="0"/>
          </a:xfrm>
          <a:prstGeom prst="line">
            <a:avLst/>
          </a:prstGeom>
          <a:noFill/>
          <a:ln w="6350">
            <a:solidFill>
              <a:srgbClr val="D5DCE4"/>
            </a:solidFill>
            <a:prstDash val="solid"/>
          </a:ln>
        </p:spPr>
      </p:sp>
      <p:sp>
        <p:nvSpPr>
          <p:cNvPr id="16" name="Text 14"/>
          <p:cNvSpPr/>
          <p:nvPr/>
        </p:nvSpPr>
        <p:spPr>
          <a:xfrm>
            <a:off x="893233" y="2585579"/>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2. Encouraging Proactive Problem-Solving</a:t>
            </a:r>
            <a:endParaRPr lang="en-US" sz="1300" dirty="0"/>
          </a:p>
        </p:txBody>
      </p:sp>
      <p:sp>
        <p:nvSpPr>
          <p:cNvPr id="17" name="Shape 15"/>
          <p:cNvSpPr/>
          <p:nvPr/>
        </p:nvSpPr>
        <p:spPr>
          <a:xfrm>
            <a:off x="3433233" y="2470218"/>
            <a:ext cx="5071533" cy="0"/>
          </a:xfrm>
          <a:prstGeom prst="line">
            <a:avLst/>
          </a:prstGeom>
          <a:noFill/>
          <a:ln w="6350">
            <a:solidFill>
              <a:srgbClr val="D5DCE4"/>
            </a:solidFill>
            <a:prstDash val="solid"/>
          </a:ln>
        </p:spPr>
      </p:sp>
      <p:sp>
        <p:nvSpPr>
          <p:cNvPr id="18" name="Text 16"/>
          <p:cNvSpPr/>
          <p:nvPr/>
        </p:nvSpPr>
        <p:spPr>
          <a:xfrm>
            <a:off x="3433233" y="2585579"/>
            <a:ext cx="506670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Celebrates bold solutions like the ACM Segregation strategy.</a:t>
            </a:r>
            <a:endParaRPr lang="en-US" sz="1300" dirty="0"/>
          </a:p>
        </p:txBody>
      </p:sp>
      <p:sp>
        <p:nvSpPr>
          <p:cNvPr id="19" name="Shape 17"/>
          <p:cNvSpPr/>
          <p:nvPr/>
        </p:nvSpPr>
        <p:spPr>
          <a:xfrm>
            <a:off x="8504767" y="2470218"/>
            <a:ext cx="2794000" cy="0"/>
          </a:xfrm>
          <a:prstGeom prst="line">
            <a:avLst/>
          </a:prstGeom>
          <a:noFill/>
          <a:ln w="6350">
            <a:solidFill>
              <a:srgbClr val="D5DCE4"/>
            </a:solidFill>
            <a:prstDash val="solid"/>
          </a:ln>
        </p:spPr>
      </p:sp>
      <p:sp>
        <p:nvSpPr>
          <p:cNvPr id="20" name="Text 18"/>
          <p:cNvSpPr/>
          <p:nvPr/>
        </p:nvSpPr>
        <p:spPr>
          <a:xfrm>
            <a:off x="8504767" y="2585579"/>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a:t>
            </a:r>
            <a:endParaRPr lang="en-US" sz="1200" dirty="0"/>
          </a:p>
        </p:txBody>
      </p:sp>
      <p:sp>
        <p:nvSpPr>
          <p:cNvPr id="21" name="Shape 19"/>
          <p:cNvSpPr/>
          <p:nvPr/>
        </p:nvSpPr>
        <p:spPr>
          <a:xfrm>
            <a:off x="893233" y="3132206"/>
            <a:ext cx="2540000" cy="0"/>
          </a:xfrm>
          <a:prstGeom prst="line">
            <a:avLst/>
          </a:prstGeom>
          <a:noFill/>
          <a:ln w="6350">
            <a:solidFill>
              <a:srgbClr val="D5DCE4"/>
            </a:solidFill>
            <a:prstDash val="solid"/>
          </a:ln>
        </p:spPr>
      </p:sp>
      <p:sp>
        <p:nvSpPr>
          <p:cNvPr id="22" name="Text 20"/>
          <p:cNvSpPr/>
          <p:nvPr/>
        </p:nvSpPr>
        <p:spPr>
          <a:xfrm>
            <a:off x="893233" y="3247566"/>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3. Structured Mentoring</a:t>
            </a:r>
            <a:endParaRPr lang="en-US" sz="1300" dirty="0"/>
          </a:p>
        </p:txBody>
      </p:sp>
      <p:sp>
        <p:nvSpPr>
          <p:cNvPr id="23" name="Shape 21"/>
          <p:cNvSpPr/>
          <p:nvPr/>
        </p:nvSpPr>
        <p:spPr>
          <a:xfrm>
            <a:off x="3433233" y="3132206"/>
            <a:ext cx="5071533" cy="0"/>
          </a:xfrm>
          <a:prstGeom prst="line">
            <a:avLst/>
          </a:prstGeom>
          <a:noFill/>
          <a:ln w="6350">
            <a:solidFill>
              <a:srgbClr val="D5DCE4"/>
            </a:solidFill>
            <a:prstDash val="solid"/>
          </a:ln>
        </p:spPr>
      </p:sp>
      <p:sp>
        <p:nvSpPr>
          <p:cNvPr id="24" name="Text 22"/>
          <p:cNvSpPr/>
          <p:nvPr/>
        </p:nvSpPr>
        <p:spPr>
          <a:xfrm>
            <a:off x="3433233" y="3247566"/>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Evolved graduate Atharva Honrao into a productive platform engineer.</a:t>
            </a:r>
            <a:endParaRPr lang="en-US" sz="1300" dirty="0"/>
          </a:p>
        </p:txBody>
      </p:sp>
      <p:sp>
        <p:nvSpPr>
          <p:cNvPr id="25" name="Shape 23"/>
          <p:cNvSpPr/>
          <p:nvPr/>
        </p:nvSpPr>
        <p:spPr>
          <a:xfrm>
            <a:off x="8504767" y="3132206"/>
            <a:ext cx="2794000" cy="0"/>
          </a:xfrm>
          <a:prstGeom prst="line">
            <a:avLst/>
          </a:prstGeom>
          <a:noFill/>
          <a:ln w="6350">
            <a:solidFill>
              <a:srgbClr val="D5DCE4"/>
            </a:solidFill>
            <a:prstDash val="solid"/>
          </a:ln>
        </p:spPr>
      </p:sp>
      <p:sp>
        <p:nvSpPr>
          <p:cNvPr id="26" name="Text 24"/>
          <p:cNvSpPr/>
          <p:nvPr/>
        </p:nvSpPr>
        <p:spPr>
          <a:xfrm>
            <a:off x="8504767" y="3247566"/>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Graduate Onboarding Tracker</a:t>
            </a:r>
            <a:endParaRPr lang="en-US" sz="1200" dirty="0"/>
          </a:p>
        </p:txBody>
      </p:sp>
      <p:sp>
        <p:nvSpPr>
          <p:cNvPr id="27" name="Shape 25"/>
          <p:cNvSpPr/>
          <p:nvPr/>
        </p:nvSpPr>
        <p:spPr>
          <a:xfrm>
            <a:off x="893233" y="3827264"/>
            <a:ext cx="2540000" cy="0"/>
          </a:xfrm>
          <a:prstGeom prst="line">
            <a:avLst/>
          </a:prstGeom>
          <a:noFill/>
          <a:ln w="6350">
            <a:solidFill>
              <a:srgbClr val="D5DCE4"/>
            </a:solidFill>
            <a:prstDash val="solid"/>
          </a:ln>
        </p:spPr>
      </p:sp>
      <p:sp>
        <p:nvSpPr>
          <p:cNvPr id="28" name="Text 26"/>
          <p:cNvSpPr/>
          <p:nvPr/>
        </p:nvSpPr>
        <p:spPr>
          <a:xfrm>
            <a:off x="893233" y="3942624"/>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4. Constructive Feedback Culture</a:t>
            </a:r>
            <a:endParaRPr lang="en-US" sz="1300" dirty="0"/>
          </a:p>
        </p:txBody>
      </p:sp>
      <p:sp>
        <p:nvSpPr>
          <p:cNvPr id="29" name="Shape 27"/>
          <p:cNvSpPr/>
          <p:nvPr/>
        </p:nvSpPr>
        <p:spPr>
          <a:xfrm>
            <a:off x="3433233" y="3827264"/>
            <a:ext cx="5071533" cy="0"/>
          </a:xfrm>
          <a:prstGeom prst="line">
            <a:avLst/>
          </a:prstGeom>
          <a:noFill/>
          <a:ln w="6350">
            <a:solidFill>
              <a:srgbClr val="D5DCE4"/>
            </a:solidFill>
            <a:prstDash val="solid"/>
          </a:ln>
        </p:spPr>
      </p:sp>
      <p:sp>
        <p:nvSpPr>
          <p:cNvPr id="30" name="Text 28"/>
          <p:cNvSpPr/>
          <p:nvPr/>
        </p:nvSpPr>
        <p:spPr>
          <a:xfrm>
            <a:off x="3433233" y="394262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Built monthly retrospectives for honest and secure feedback exchange.</a:t>
            </a:r>
            <a:endParaRPr lang="en-US" sz="1300" dirty="0"/>
          </a:p>
        </p:txBody>
      </p:sp>
      <p:sp>
        <p:nvSpPr>
          <p:cNvPr id="31" name="Shape 29"/>
          <p:cNvSpPr/>
          <p:nvPr/>
        </p:nvSpPr>
        <p:spPr>
          <a:xfrm>
            <a:off x="8504767" y="3827264"/>
            <a:ext cx="2794000" cy="0"/>
          </a:xfrm>
          <a:prstGeom prst="line">
            <a:avLst/>
          </a:prstGeom>
          <a:noFill/>
          <a:ln w="6350">
            <a:solidFill>
              <a:srgbClr val="D5DCE4"/>
            </a:solidFill>
            <a:prstDash val="solid"/>
          </a:ln>
        </p:spPr>
      </p:sp>
      <p:sp>
        <p:nvSpPr>
          <p:cNvPr id="32" name="Text 30"/>
          <p:cNvSpPr/>
          <p:nvPr/>
        </p:nvSpPr>
        <p:spPr>
          <a:xfrm>
            <a:off x="8504767" y="3942624"/>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a:t>
            </a:r>
            <a:endParaRPr lang="en-US" sz="1200" dirty="0"/>
          </a:p>
        </p:txBody>
      </p:sp>
      <p:sp>
        <p:nvSpPr>
          <p:cNvPr id="33" name="Text 31"/>
          <p:cNvSpPr/>
          <p:nvPr/>
        </p:nvSpPr>
        <p:spPr>
          <a:xfrm>
            <a:off x="711200" y="6289080"/>
            <a:ext cx="28249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Leadership Kompass</a:t>
            </a:r>
            <a:endParaRPr lang="en-US" sz="1200" dirty="0"/>
          </a:p>
        </p:txBody>
      </p:sp>
      <p:sp>
        <p:nvSpPr>
          <p:cNvPr id="34" name="Text 32"/>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11 / 13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711200" y="406400"/>
            <a:ext cx="2272771" cy="289520"/>
          </a:xfrm>
          <a:prstGeom prst="roundRect">
            <a:avLst>
              <a:gd name="adj" fmla="val 13160"/>
            </a:avLst>
          </a:prstGeom>
          <a:solidFill>
            <a:srgbClr val="0F4C81"/>
          </a:solidFill>
          <a:ln/>
        </p:spPr>
        <p:txBody>
          <a:bodyPr wrap="none" lIns="0" tIns="0" rIns="0" bIns="0" rtlCol="0" anchor="ctr">
            <a:normAutofit/>
          </a:bodyPr>
          <a:lstStyle/>
          <a:p>
            <a:pPr algn="ctr" indent="0" marL="0">
              <a:lnSpc>
                <a:spcPts val="1680"/>
              </a:lnSpc>
              <a:buNone/>
            </a:pPr>
            <a:r>
              <a:rPr lang="en-US" sz="1200" b="1" spc="150" kern="0" dirty="0">
                <a:solidFill>
                  <a:srgbClr val="FBFCFD"/>
                </a:solidFill>
                <a:latin typeface="IBM Plex Sans" pitchFamily="34" charset="0"/>
                <a:ea typeface="IBM Plex Sans" pitchFamily="34" charset="-122"/>
                <a:cs typeface="IBM Plex Sans" pitchFamily="34" charset="-120"/>
              </a:rPr>
              <a:t>LEADERSHIP KOMPASS</a:t>
            </a:r>
            <a:endParaRPr lang="en-US" sz="1200" dirty="0"/>
          </a:p>
        </p:txBody>
      </p:sp>
      <p:sp>
        <p:nvSpPr>
          <p:cNvPr id="3" name="Text 1"/>
          <p:cNvSpPr/>
          <p:nvPr/>
        </p:nvSpPr>
        <p:spPr>
          <a:xfrm>
            <a:off x="3110971" y="444500"/>
            <a:ext cx="13350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4C81"/>
                </a:solidFill>
                <a:latin typeface="IBM Plex Sans" pitchFamily="34" charset="0"/>
                <a:ea typeface="IBM Plex Sans" pitchFamily="34" charset="-122"/>
                <a:cs typeface="IBM Plex Sans" pitchFamily="34" charset="-120"/>
              </a:rPr>
              <a:t>Behaviours 5–8</a:t>
            </a:r>
            <a:endParaRPr lang="en-US" sz="1200" dirty="0"/>
          </a:p>
        </p:txBody>
      </p:sp>
      <p:sp>
        <p:nvSpPr>
          <p:cNvPr id="4" name="Text 2"/>
          <p:cNvSpPr/>
          <p:nvPr>
            <p:ph type="title"/>
          </p:nvPr>
        </p:nvSpPr>
        <p:spPr>
          <a:xfrm>
            <a:off x="711200" y="848320"/>
            <a:ext cx="11092688" cy="375907"/>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F4C81"/>
                </a:solidFill>
                <a:latin typeface="IBM Plex Sans" pitchFamily="34" charset="0"/>
                <a:ea typeface="IBM Plex Sans" pitchFamily="34" charset="-122"/>
                <a:cs typeface="IBM Plex Sans" pitchFamily="34" charset="-120"/>
              </a:rPr>
              <a:t>Expected Behaviours of Leaders at the Bank</a:t>
            </a:r>
            <a:endParaRPr lang="en-US" sz="2400" dirty="0"/>
          </a:p>
        </p:txBody>
      </p:sp>
      <p:sp>
        <p:nvSpPr>
          <p:cNvPr id="5" name="Shape 3"/>
          <p:cNvSpPr/>
          <p:nvPr/>
        </p:nvSpPr>
        <p:spPr>
          <a:xfrm>
            <a:off x="714375" y="1354404"/>
            <a:ext cx="10763250" cy="3216606"/>
          </a:xfrm>
          <a:prstGeom prst="roundRect">
            <a:avLst>
              <a:gd name="adj" fmla="val 2270"/>
            </a:avLst>
          </a:prstGeom>
          <a:solidFill>
            <a:srgbClr val="FBFCFD"/>
          </a:solidFill>
          <a:ln w="6350">
            <a:solidFill>
              <a:srgbClr val="D5DCE4"/>
            </a:solidFill>
            <a:prstDash val="solid"/>
          </a:ln>
        </p:spPr>
      </p:sp>
      <p:sp>
        <p:nvSpPr>
          <p:cNvPr id="6" name="Text 4"/>
          <p:cNvSpPr/>
          <p:nvPr/>
        </p:nvSpPr>
        <p:spPr>
          <a:xfrm>
            <a:off x="893233" y="1482465"/>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BEHAVIOUR</a:t>
            </a:r>
            <a:endParaRPr lang="en-US" sz="1200" dirty="0"/>
          </a:p>
        </p:txBody>
      </p:sp>
      <p:sp>
        <p:nvSpPr>
          <p:cNvPr id="7" name="Text 5"/>
          <p:cNvSpPr/>
          <p:nvPr/>
        </p:nvSpPr>
        <p:spPr>
          <a:xfrm>
            <a:off x="3433233" y="1482465"/>
            <a:ext cx="50667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HOW I DEMONSTRATE IT</a:t>
            </a:r>
            <a:endParaRPr lang="en-US" sz="1200" dirty="0"/>
          </a:p>
        </p:txBody>
      </p:sp>
      <p:sp>
        <p:nvSpPr>
          <p:cNvPr id="8" name="Text 6"/>
          <p:cNvSpPr/>
          <p:nvPr/>
        </p:nvSpPr>
        <p:spPr>
          <a:xfrm>
            <a:off x="8504767" y="1482465"/>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EVIDENCE</a:t>
            </a:r>
            <a:endParaRPr lang="en-US" sz="1200" dirty="0"/>
          </a:p>
        </p:txBody>
      </p:sp>
      <p:sp>
        <p:nvSpPr>
          <p:cNvPr id="9" name="Shape 7"/>
          <p:cNvSpPr/>
          <p:nvPr/>
        </p:nvSpPr>
        <p:spPr>
          <a:xfrm>
            <a:off x="893233" y="1775160"/>
            <a:ext cx="2540000" cy="0"/>
          </a:xfrm>
          <a:prstGeom prst="line">
            <a:avLst/>
          </a:prstGeom>
          <a:noFill/>
          <a:ln w="6350">
            <a:solidFill>
              <a:srgbClr val="D5DCE4"/>
            </a:solidFill>
            <a:prstDash val="solid"/>
          </a:ln>
        </p:spPr>
      </p:sp>
      <p:sp>
        <p:nvSpPr>
          <p:cNvPr id="10" name="Text 8"/>
          <p:cNvSpPr/>
          <p:nvPr/>
        </p:nvSpPr>
        <p:spPr>
          <a:xfrm>
            <a:off x="893233" y="1890514"/>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5. Connecting Decisions to Business Value</a:t>
            </a:r>
            <a:endParaRPr lang="en-US" sz="1300" dirty="0"/>
          </a:p>
        </p:txBody>
      </p:sp>
      <p:sp>
        <p:nvSpPr>
          <p:cNvPr id="11" name="Shape 9"/>
          <p:cNvSpPr/>
          <p:nvPr/>
        </p:nvSpPr>
        <p:spPr>
          <a:xfrm>
            <a:off x="3433233" y="1775160"/>
            <a:ext cx="5071533" cy="0"/>
          </a:xfrm>
          <a:prstGeom prst="line">
            <a:avLst/>
          </a:prstGeom>
          <a:noFill/>
          <a:ln w="6350">
            <a:solidFill>
              <a:srgbClr val="D5DCE4"/>
            </a:solidFill>
            <a:prstDash val="solid"/>
          </a:ln>
        </p:spPr>
      </p:sp>
      <p:sp>
        <p:nvSpPr>
          <p:cNvPr id="12" name="Text 10"/>
          <p:cNvSpPr/>
          <p:nvPr/>
        </p:nvSpPr>
        <p:spPr>
          <a:xfrm>
            <a:off x="3433233" y="189051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Connects platform reliability to 600+ tenant application revenue and cost-saving.</a:t>
            </a:r>
            <a:endParaRPr lang="en-US" sz="1300" dirty="0"/>
          </a:p>
        </p:txBody>
      </p:sp>
      <p:sp>
        <p:nvSpPr>
          <p:cNvPr id="13" name="Shape 11"/>
          <p:cNvSpPr/>
          <p:nvPr/>
        </p:nvSpPr>
        <p:spPr>
          <a:xfrm>
            <a:off x="8504767" y="1775160"/>
            <a:ext cx="2794000" cy="0"/>
          </a:xfrm>
          <a:prstGeom prst="line">
            <a:avLst/>
          </a:prstGeom>
          <a:noFill/>
          <a:ln w="6350">
            <a:solidFill>
              <a:srgbClr val="D5DCE4"/>
            </a:solidFill>
            <a:prstDash val="solid"/>
          </a:ln>
        </p:spPr>
      </p:sp>
      <p:sp>
        <p:nvSpPr>
          <p:cNvPr id="14" name="Text 12"/>
          <p:cNvSpPr/>
          <p:nvPr/>
        </p:nvSpPr>
        <p:spPr>
          <a:xfrm>
            <a:off x="8504767" y="1890514"/>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Prioritized Backlog Board</a:t>
            </a:r>
            <a:endParaRPr lang="en-US" sz="1200" dirty="0"/>
          </a:p>
        </p:txBody>
      </p:sp>
      <p:sp>
        <p:nvSpPr>
          <p:cNvPr id="15" name="Shape 13"/>
          <p:cNvSpPr/>
          <p:nvPr/>
        </p:nvSpPr>
        <p:spPr>
          <a:xfrm>
            <a:off x="893233" y="2470218"/>
            <a:ext cx="2540000" cy="0"/>
          </a:xfrm>
          <a:prstGeom prst="line">
            <a:avLst/>
          </a:prstGeom>
          <a:noFill/>
          <a:ln w="6350">
            <a:solidFill>
              <a:srgbClr val="D5DCE4"/>
            </a:solidFill>
            <a:prstDash val="solid"/>
          </a:ln>
        </p:spPr>
      </p:sp>
      <p:sp>
        <p:nvSpPr>
          <p:cNvPr id="16" name="Text 14"/>
          <p:cNvSpPr/>
          <p:nvPr/>
        </p:nvSpPr>
        <p:spPr>
          <a:xfrm>
            <a:off x="893233" y="2585579"/>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6. Silo Breaking</a:t>
            </a:r>
            <a:endParaRPr lang="en-US" sz="1300" dirty="0"/>
          </a:p>
        </p:txBody>
      </p:sp>
      <p:sp>
        <p:nvSpPr>
          <p:cNvPr id="17" name="Shape 15"/>
          <p:cNvSpPr/>
          <p:nvPr/>
        </p:nvSpPr>
        <p:spPr>
          <a:xfrm>
            <a:off x="3433233" y="2470218"/>
            <a:ext cx="5071533" cy="0"/>
          </a:xfrm>
          <a:prstGeom prst="line">
            <a:avLst/>
          </a:prstGeom>
          <a:noFill/>
          <a:ln w="6350">
            <a:solidFill>
              <a:srgbClr val="D5DCE4"/>
            </a:solidFill>
            <a:prstDash val="solid"/>
          </a:ln>
        </p:spPr>
      </p:sp>
      <p:sp>
        <p:nvSpPr>
          <p:cNvPr id="18" name="Text 16"/>
          <p:cNvSpPr/>
          <p:nvPr/>
        </p:nvSpPr>
        <p:spPr>
          <a:xfrm>
            <a:off x="3433233" y="2585579"/>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Built a robust operations handover and hands-on training to minimize post-implementation errors.</a:t>
            </a:r>
            <a:endParaRPr lang="en-US" sz="1300" dirty="0"/>
          </a:p>
        </p:txBody>
      </p:sp>
      <p:sp>
        <p:nvSpPr>
          <p:cNvPr id="19" name="Shape 17"/>
          <p:cNvSpPr/>
          <p:nvPr/>
        </p:nvSpPr>
        <p:spPr>
          <a:xfrm>
            <a:off x="8504767" y="2470218"/>
            <a:ext cx="2794000" cy="0"/>
          </a:xfrm>
          <a:prstGeom prst="line">
            <a:avLst/>
          </a:prstGeom>
          <a:noFill/>
          <a:ln w="6350">
            <a:solidFill>
              <a:srgbClr val="D5DCE4"/>
            </a:solidFill>
            <a:prstDash val="solid"/>
          </a:ln>
        </p:spPr>
      </p:sp>
      <p:sp>
        <p:nvSpPr>
          <p:cNvPr id="20" name="Text 18"/>
          <p:cNvSpPr/>
          <p:nvPr/>
        </p:nvSpPr>
        <p:spPr>
          <a:xfrm>
            <a:off x="8504767" y="2585579"/>
            <a:ext cx="287782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2B2F3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Operations Training Survey</a:t>
            </a:r>
            <a:endParaRPr lang="en-US" sz="1200" dirty="0"/>
          </a:p>
        </p:txBody>
      </p:sp>
      <p:sp>
        <p:nvSpPr>
          <p:cNvPr id="21" name="Shape 19"/>
          <p:cNvSpPr/>
          <p:nvPr/>
        </p:nvSpPr>
        <p:spPr>
          <a:xfrm>
            <a:off x="893233" y="3165277"/>
            <a:ext cx="2540000" cy="0"/>
          </a:xfrm>
          <a:prstGeom prst="line">
            <a:avLst/>
          </a:prstGeom>
          <a:noFill/>
          <a:ln w="6350">
            <a:solidFill>
              <a:srgbClr val="D5DCE4"/>
            </a:solidFill>
            <a:prstDash val="solid"/>
          </a:ln>
        </p:spPr>
      </p:sp>
      <p:sp>
        <p:nvSpPr>
          <p:cNvPr id="22" name="Text 20"/>
          <p:cNvSpPr/>
          <p:nvPr/>
        </p:nvSpPr>
        <p:spPr>
          <a:xfrm>
            <a:off x="893233" y="3280637"/>
            <a:ext cx="2459228"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7. Promoting Belonging &amp; Valuing Contributions</a:t>
            </a:r>
            <a:endParaRPr lang="en-US" sz="1300" dirty="0"/>
          </a:p>
        </p:txBody>
      </p:sp>
      <p:sp>
        <p:nvSpPr>
          <p:cNvPr id="23" name="Shape 21"/>
          <p:cNvSpPr/>
          <p:nvPr/>
        </p:nvSpPr>
        <p:spPr>
          <a:xfrm>
            <a:off x="3433233" y="3165277"/>
            <a:ext cx="5071533" cy="0"/>
          </a:xfrm>
          <a:prstGeom prst="line">
            <a:avLst/>
          </a:prstGeom>
          <a:noFill/>
          <a:ln w="6350">
            <a:solidFill>
              <a:srgbClr val="D5DCE4"/>
            </a:solidFill>
            <a:prstDash val="solid"/>
          </a:ln>
        </p:spPr>
      </p:sp>
      <p:sp>
        <p:nvSpPr>
          <p:cNvPr id="24" name="Text 22"/>
          <p:cNvSpPr/>
          <p:nvPr/>
        </p:nvSpPr>
        <p:spPr>
          <a:xfrm>
            <a:off x="3433233" y="3280637"/>
            <a:ext cx="506670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Encourages quieter voices and publicly calls out great work.</a:t>
            </a:r>
            <a:endParaRPr lang="en-US" sz="1300" dirty="0"/>
          </a:p>
        </p:txBody>
      </p:sp>
      <p:sp>
        <p:nvSpPr>
          <p:cNvPr id="25" name="Shape 23"/>
          <p:cNvSpPr/>
          <p:nvPr/>
        </p:nvSpPr>
        <p:spPr>
          <a:xfrm>
            <a:off x="8504767" y="3165277"/>
            <a:ext cx="2794000" cy="0"/>
          </a:xfrm>
          <a:prstGeom prst="line">
            <a:avLst/>
          </a:prstGeom>
          <a:noFill/>
          <a:ln w="6350">
            <a:solidFill>
              <a:srgbClr val="D5DCE4"/>
            </a:solidFill>
            <a:prstDash val="solid"/>
          </a:ln>
        </p:spPr>
      </p:sp>
      <p:sp>
        <p:nvSpPr>
          <p:cNvPr id="26" name="Text 24"/>
          <p:cNvSpPr/>
          <p:nvPr/>
        </p:nvSpPr>
        <p:spPr>
          <a:xfrm>
            <a:off x="8504767" y="3280637"/>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a:t>
            </a:r>
            <a:endParaRPr lang="en-US" sz="1200" dirty="0"/>
          </a:p>
        </p:txBody>
      </p:sp>
      <p:sp>
        <p:nvSpPr>
          <p:cNvPr id="27" name="Shape 25"/>
          <p:cNvSpPr/>
          <p:nvPr/>
        </p:nvSpPr>
        <p:spPr>
          <a:xfrm>
            <a:off x="893233" y="3827264"/>
            <a:ext cx="2540000" cy="0"/>
          </a:xfrm>
          <a:prstGeom prst="line">
            <a:avLst/>
          </a:prstGeom>
          <a:noFill/>
          <a:ln w="6350">
            <a:solidFill>
              <a:srgbClr val="D5DCE4"/>
            </a:solidFill>
            <a:prstDash val="solid"/>
          </a:ln>
        </p:spPr>
      </p:sp>
      <p:sp>
        <p:nvSpPr>
          <p:cNvPr id="28" name="Text 26"/>
          <p:cNvSpPr/>
          <p:nvPr/>
        </p:nvSpPr>
        <p:spPr>
          <a:xfrm>
            <a:off x="893233" y="3942624"/>
            <a:ext cx="2459228"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4C81"/>
                </a:solidFill>
                <a:latin typeface="IBM Plex Sans" pitchFamily="34" charset="0"/>
                <a:ea typeface="IBM Plex Sans" pitchFamily="34" charset="-122"/>
                <a:cs typeface="IBM Plex Sans" pitchFamily="34" charset="-120"/>
              </a:rPr>
              <a:t>8. Vision Alignment</a:t>
            </a:r>
            <a:endParaRPr lang="en-US" sz="1300" dirty="0"/>
          </a:p>
        </p:txBody>
      </p:sp>
      <p:sp>
        <p:nvSpPr>
          <p:cNvPr id="29" name="Shape 27"/>
          <p:cNvSpPr/>
          <p:nvPr/>
        </p:nvSpPr>
        <p:spPr>
          <a:xfrm>
            <a:off x="3433233" y="3827264"/>
            <a:ext cx="5071533" cy="0"/>
          </a:xfrm>
          <a:prstGeom prst="line">
            <a:avLst/>
          </a:prstGeom>
          <a:noFill/>
          <a:ln w="6350">
            <a:solidFill>
              <a:srgbClr val="D5DCE4"/>
            </a:solidFill>
            <a:prstDash val="solid"/>
          </a:ln>
        </p:spPr>
      </p:sp>
      <p:sp>
        <p:nvSpPr>
          <p:cNvPr id="30" name="Text 28"/>
          <p:cNvSpPr/>
          <p:nvPr/>
        </p:nvSpPr>
        <p:spPr>
          <a:xfrm>
            <a:off x="3433233" y="3942624"/>
            <a:ext cx="506670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2F36"/>
                </a:solidFill>
                <a:latin typeface="IBM Plex Sans" pitchFamily="34" charset="0"/>
                <a:ea typeface="IBM Plex Sans" pitchFamily="34" charset="-122"/>
                <a:cs typeface="IBM Plex Sans" pitchFamily="34" charset="-120"/>
              </a:rPr>
              <a:t>Connects daily engineering excellence directly to the bank's digital mission.</a:t>
            </a:r>
            <a:endParaRPr lang="en-US" sz="1300" dirty="0"/>
          </a:p>
        </p:txBody>
      </p:sp>
      <p:sp>
        <p:nvSpPr>
          <p:cNvPr id="31" name="Shape 29"/>
          <p:cNvSpPr/>
          <p:nvPr/>
        </p:nvSpPr>
        <p:spPr>
          <a:xfrm>
            <a:off x="8504767" y="3827264"/>
            <a:ext cx="2794000" cy="0"/>
          </a:xfrm>
          <a:prstGeom prst="line">
            <a:avLst/>
          </a:prstGeom>
          <a:noFill/>
          <a:ln w="6350">
            <a:solidFill>
              <a:srgbClr val="D5DCE4"/>
            </a:solidFill>
            <a:prstDash val="solid"/>
          </a:ln>
        </p:spPr>
      </p:sp>
      <p:sp>
        <p:nvSpPr>
          <p:cNvPr id="32" name="Text 30"/>
          <p:cNvSpPr/>
          <p:nvPr/>
        </p:nvSpPr>
        <p:spPr>
          <a:xfrm>
            <a:off x="8504767" y="3942624"/>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a:t>
            </a:r>
            <a:endParaRPr lang="en-US" sz="1200" dirty="0"/>
          </a:p>
        </p:txBody>
      </p:sp>
      <p:sp>
        <p:nvSpPr>
          <p:cNvPr id="33" name="Text 31"/>
          <p:cNvSpPr/>
          <p:nvPr/>
        </p:nvSpPr>
        <p:spPr>
          <a:xfrm>
            <a:off x="711200" y="6289080"/>
            <a:ext cx="28249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Saket Badal · Leadership Kompass</a:t>
            </a:r>
            <a:endParaRPr lang="en-US" sz="1200" dirty="0"/>
          </a:p>
        </p:txBody>
      </p:sp>
      <p:sp>
        <p:nvSpPr>
          <p:cNvPr id="34" name="Text 32"/>
          <p:cNvSpPr/>
          <p:nvPr/>
        </p:nvSpPr>
        <p:spPr>
          <a:xfrm>
            <a:off x="108854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12 / 13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4C81"/>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0A458"/>
                </a:solidFill>
                <a:latin typeface="IBM Plex Sans" pitchFamily="34" charset="0"/>
                <a:ea typeface="IBM Plex Sans" pitchFamily="34" charset="-122"/>
                <a:cs typeface="IBM Plex Sans" pitchFamily="34" charset="-120"/>
              </a:rPr>
              <a:t>WHY I AM READY FOR VP</a:t>
            </a:r>
            <a:endParaRPr lang="en-US" sz="1200" dirty="0"/>
          </a:p>
        </p:txBody>
      </p:sp>
      <p:sp>
        <p:nvSpPr>
          <p:cNvPr id="3" name="Shape 1"/>
          <p:cNvSpPr/>
          <p:nvPr/>
        </p:nvSpPr>
        <p:spPr>
          <a:xfrm>
            <a:off x="812800" y="1089620"/>
            <a:ext cx="3318933" cy="0"/>
          </a:xfrm>
          <a:prstGeom prst="line">
            <a:avLst/>
          </a:prstGeom>
          <a:noFill/>
          <a:ln w="25400">
            <a:solidFill>
              <a:srgbClr val="E0A458"/>
            </a:solidFill>
            <a:prstDash val="solid"/>
          </a:ln>
        </p:spPr>
      </p:sp>
      <p:sp>
        <p:nvSpPr>
          <p:cNvPr id="4" name="Text 2"/>
          <p:cNvSpPr/>
          <p:nvPr/>
        </p:nvSpPr>
        <p:spPr>
          <a:xfrm>
            <a:off x="812800" y="1254720"/>
            <a:ext cx="34185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DE0"/>
                </a:solidFill>
                <a:latin typeface="IBM Plex Sans" pitchFamily="34" charset="0"/>
                <a:ea typeface="IBM Plex Sans" pitchFamily="34" charset="-122"/>
                <a:cs typeface="IBM Plex Sans" pitchFamily="34" charset="-120"/>
              </a:rPr>
              <a:t>01</a:t>
            </a:r>
            <a:endParaRPr lang="en-US" sz="1200" dirty="0"/>
          </a:p>
        </p:txBody>
      </p:sp>
      <p:sp>
        <p:nvSpPr>
          <p:cNvPr id="5" name="Text 3"/>
          <p:cNvSpPr/>
          <p:nvPr/>
        </p:nvSpPr>
        <p:spPr>
          <a:xfrm>
            <a:off x="812800" y="1544241"/>
            <a:ext cx="341850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A"/>
                </a:solidFill>
                <a:latin typeface="IBM Plex Sans" pitchFamily="34" charset="0"/>
                <a:ea typeface="IBM Plex Sans" pitchFamily="34" charset="-122"/>
                <a:cs typeface="IBM Plex Sans" pitchFamily="34" charset="-120"/>
              </a:rPr>
              <a:t>Level 4 Thinking</a:t>
            </a:r>
            <a:endParaRPr lang="en-US" sz="1800" dirty="0"/>
          </a:p>
        </p:txBody>
      </p:sp>
      <p:sp>
        <p:nvSpPr>
          <p:cNvPr id="6" name="Text 4"/>
          <p:cNvSpPr/>
          <p:nvPr/>
        </p:nvSpPr>
        <p:spPr>
          <a:xfrm>
            <a:off x="812800" y="1894749"/>
            <a:ext cx="3418501" cy="7435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6E2EE"/>
                </a:solidFill>
                <a:latin typeface="IBM Plex Sans" pitchFamily="34" charset="0"/>
                <a:ea typeface="IBM Plex Sans" pitchFamily="34" charset="-122"/>
                <a:cs typeface="IBM Plex Sans" pitchFamily="34" charset="-120"/>
              </a:rPr>
              <a:t>I identify systemic risks, challenge assumptions and create sustainable platform-level solutions.</a:t>
            </a:r>
            <a:endParaRPr lang="en-US" sz="1300" dirty="0"/>
          </a:p>
        </p:txBody>
      </p:sp>
      <p:sp>
        <p:nvSpPr>
          <p:cNvPr id="7" name="Shape 5"/>
          <p:cNvSpPr/>
          <p:nvPr/>
        </p:nvSpPr>
        <p:spPr>
          <a:xfrm>
            <a:off x="4436533" y="1089620"/>
            <a:ext cx="3318933" cy="0"/>
          </a:xfrm>
          <a:prstGeom prst="line">
            <a:avLst/>
          </a:prstGeom>
          <a:noFill/>
          <a:ln w="25400">
            <a:solidFill>
              <a:srgbClr val="E0A458"/>
            </a:solidFill>
            <a:prstDash val="solid"/>
          </a:ln>
        </p:spPr>
      </p:sp>
      <p:sp>
        <p:nvSpPr>
          <p:cNvPr id="8" name="Text 6"/>
          <p:cNvSpPr/>
          <p:nvPr/>
        </p:nvSpPr>
        <p:spPr>
          <a:xfrm>
            <a:off x="4436533" y="1254720"/>
            <a:ext cx="34185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DE0"/>
                </a:solidFill>
                <a:latin typeface="IBM Plex Sans" pitchFamily="34" charset="0"/>
                <a:ea typeface="IBM Plex Sans" pitchFamily="34" charset="-122"/>
                <a:cs typeface="IBM Plex Sans" pitchFamily="34" charset="-120"/>
              </a:rPr>
              <a:t>02</a:t>
            </a:r>
            <a:endParaRPr lang="en-US" sz="1200" dirty="0"/>
          </a:p>
        </p:txBody>
      </p:sp>
      <p:sp>
        <p:nvSpPr>
          <p:cNvPr id="9" name="Text 7"/>
          <p:cNvSpPr/>
          <p:nvPr/>
        </p:nvSpPr>
        <p:spPr>
          <a:xfrm>
            <a:off x="4436533" y="1544241"/>
            <a:ext cx="341850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A"/>
                </a:solidFill>
                <a:latin typeface="IBM Plex Sans" pitchFamily="34" charset="0"/>
                <a:ea typeface="IBM Plex Sans" pitchFamily="34" charset="-122"/>
                <a:cs typeface="IBM Plex Sans" pitchFamily="34" charset="-120"/>
              </a:rPr>
              <a:t>Level 4 Delivery</a:t>
            </a:r>
            <a:endParaRPr lang="en-US" sz="1800" dirty="0"/>
          </a:p>
        </p:txBody>
      </p:sp>
      <p:sp>
        <p:nvSpPr>
          <p:cNvPr id="10" name="Text 8"/>
          <p:cNvSpPr/>
          <p:nvPr/>
        </p:nvSpPr>
        <p:spPr>
          <a:xfrm>
            <a:off x="4436533" y="1894749"/>
            <a:ext cx="3418501" cy="7435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6E2EE"/>
                </a:solidFill>
                <a:latin typeface="IBM Plex Sans" pitchFamily="34" charset="0"/>
                <a:ea typeface="IBM Plex Sans" pitchFamily="34" charset="-122"/>
                <a:cs typeface="IBM Plex Sans" pitchFamily="34" charset="-120"/>
              </a:rPr>
              <a:t>I personally apply deep technical expertise to remove difficult blockers and deliver high-impact outcomes.</a:t>
            </a:r>
            <a:endParaRPr lang="en-US" sz="1300" dirty="0"/>
          </a:p>
        </p:txBody>
      </p:sp>
      <p:sp>
        <p:nvSpPr>
          <p:cNvPr id="11" name="Shape 9"/>
          <p:cNvSpPr/>
          <p:nvPr/>
        </p:nvSpPr>
        <p:spPr>
          <a:xfrm>
            <a:off x="8060267" y="1089620"/>
            <a:ext cx="3318933" cy="0"/>
          </a:xfrm>
          <a:prstGeom prst="line">
            <a:avLst/>
          </a:prstGeom>
          <a:noFill/>
          <a:ln w="25400">
            <a:solidFill>
              <a:srgbClr val="B9CDE0"/>
            </a:solidFill>
            <a:prstDash val="solid"/>
          </a:ln>
        </p:spPr>
      </p:sp>
      <p:sp>
        <p:nvSpPr>
          <p:cNvPr id="12" name="Text 10"/>
          <p:cNvSpPr/>
          <p:nvPr/>
        </p:nvSpPr>
        <p:spPr>
          <a:xfrm>
            <a:off x="8060267" y="1254720"/>
            <a:ext cx="34185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DE0"/>
                </a:solidFill>
                <a:latin typeface="IBM Plex Sans" pitchFamily="34" charset="0"/>
                <a:ea typeface="IBM Plex Sans" pitchFamily="34" charset="-122"/>
                <a:cs typeface="IBM Plex Sans" pitchFamily="34" charset="-120"/>
              </a:rPr>
              <a:t>03</a:t>
            </a:r>
            <a:endParaRPr lang="en-US" sz="1200" dirty="0"/>
          </a:p>
        </p:txBody>
      </p:sp>
      <p:sp>
        <p:nvSpPr>
          <p:cNvPr id="13" name="Text 11"/>
          <p:cNvSpPr/>
          <p:nvPr/>
        </p:nvSpPr>
        <p:spPr>
          <a:xfrm>
            <a:off x="8060267" y="1544241"/>
            <a:ext cx="341850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A"/>
                </a:solidFill>
                <a:latin typeface="IBM Plex Sans" pitchFamily="34" charset="0"/>
                <a:ea typeface="IBM Plex Sans" pitchFamily="34" charset="-122"/>
                <a:cs typeface="IBM Plex Sans" pitchFamily="34" charset="-120"/>
              </a:rPr>
              <a:t>Level 3 Breadth</a:t>
            </a:r>
            <a:endParaRPr lang="en-US" sz="1800" dirty="0"/>
          </a:p>
        </p:txBody>
      </p:sp>
      <p:sp>
        <p:nvSpPr>
          <p:cNvPr id="14" name="Text 12"/>
          <p:cNvSpPr/>
          <p:nvPr/>
        </p:nvSpPr>
        <p:spPr>
          <a:xfrm>
            <a:off x="8060267" y="1894749"/>
            <a:ext cx="3418501" cy="7435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6E2EE"/>
                </a:solidFill>
                <a:latin typeface="IBM Plex Sans" pitchFamily="34" charset="0"/>
                <a:ea typeface="IBM Plex Sans" pitchFamily="34" charset="-122"/>
                <a:cs typeface="IBM Plex Sans" pitchFamily="34" charset="-120"/>
              </a:rPr>
              <a:t>I demonstrate strong design, controls, operations, business alignment, engagement and influence.</a:t>
            </a:r>
            <a:endParaRPr lang="en-US" sz="1300" dirty="0"/>
          </a:p>
        </p:txBody>
      </p:sp>
      <p:sp>
        <p:nvSpPr>
          <p:cNvPr id="15" name="Text 13"/>
          <p:cNvSpPr/>
          <p:nvPr/>
        </p:nvSpPr>
        <p:spPr>
          <a:xfrm>
            <a:off x="812800" y="5085159"/>
            <a:ext cx="10883392" cy="985441"/>
          </a:xfrm>
          <a:prstGeom prst="rect">
            <a:avLst/>
          </a:prstGeom>
          <a:noFill/>
          <a:ln/>
        </p:spPr>
        <p:txBody>
          <a:bodyPr wrap="square" lIns="0" tIns="0" rIns="0" bIns="0" rtlCol="0" anchor="t">
            <a:normAutofit/>
          </a:bodyPr>
          <a:lstStyle/>
          <a:p>
            <a:pPr algn="l" indent="0" marL="0">
              <a:lnSpc>
                <a:spcPts val="2520"/>
              </a:lnSpc>
              <a:buNone/>
            </a:pPr>
            <a:r>
              <a:rPr lang="en-US" sz="1800" i="1" dirty="0">
                <a:solidFill>
                  <a:srgbClr val="F5F7FA"/>
                </a:solidFill>
                <a:latin typeface="IBM Plex Sans" pitchFamily="34" charset="0"/>
                <a:ea typeface="IBM Plex Sans" pitchFamily="34" charset="-122"/>
                <a:cs typeface="IBM Plex Sans" pitchFamily="34" charset="-120"/>
              </a:rPr>
              <a:t>“My case for VP is not based on the number of projects I have completed. It is based on the change in the scope and nature of my impact. I am increasingly shaping the solution, solving the difficult technical problems, enabling others and improving the engineering system around me.”</a:t>
            </a:r>
            <a:endParaRPr lang="en-US" sz="1800" dirty="0"/>
          </a:p>
        </p:txBody>
      </p:sp>
      <p:sp>
        <p:nvSpPr>
          <p:cNvPr id="16" name="Text 14"/>
          <p:cNvSpPr/>
          <p:nvPr/>
        </p:nvSpPr>
        <p:spPr>
          <a:xfrm>
            <a:off x="812800" y="6289080"/>
            <a:ext cx="23866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DE0"/>
                </a:solidFill>
                <a:latin typeface="IBM Plex Sans" pitchFamily="34" charset="0"/>
                <a:ea typeface="IBM Plex Sans" pitchFamily="34" charset="-122"/>
                <a:cs typeface="IBM Plex Sans" pitchFamily="34" charset="-120"/>
              </a:rPr>
              <a:t>Saket Badal · VP Assessment</a:t>
            </a:r>
            <a:endParaRPr lang="en-US" sz="1200" dirty="0"/>
          </a:p>
        </p:txBody>
      </p:sp>
      <p:sp>
        <p:nvSpPr>
          <p:cNvPr id="17" name="Text 15"/>
          <p:cNvSpPr/>
          <p:nvPr/>
        </p:nvSpPr>
        <p:spPr>
          <a:xfrm>
            <a:off x="10783888" y="62890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DE0"/>
                </a:solidFill>
                <a:latin typeface="IBM Plex Sans" pitchFamily="34" charset="0"/>
                <a:ea typeface="IBM Plex Sans" pitchFamily="34" charset="-122"/>
                <a:cs typeface="IBM Plex Sans" pitchFamily="34" charset="-120"/>
              </a:rPr>
              <a:t>13 / 13</a:t>
            </a:r>
            <a:endParaRPr lang="en-US" sz="1200" dirty="0"/>
          </a:p>
        </p:txBody>
      </p:sp>
    </p:spTree>
  </p:cSld>
  <p:clrMapOvr>
    <a:masterClrMapping/>
  </p:clrMapOvr>
</p:sld>
</file>

<file path=ppt/theme/theme1.xml><?xml version="1.0" encoding="utf-8"?>
<a:theme xmlns:a="http://schemas.openxmlformats.org/drawingml/2006/main" name="Tech Track Promotion: VP Assessment">
  <a:themeElements>
    <a:clrScheme name="Tech Track Promotion: VP Assessment">
      <a:dk1>
        <a:srgbClr val="0F4C81"/>
      </a:dk1>
      <a:lt1>
        <a:srgbClr val="F5F7FA"/>
      </a:lt1>
      <a:dk2>
        <a:srgbClr val="49779F"/>
      </a:dk2>
      <a:lt2>
        <a:srgbClr val="DEE6EE"/>
      </a:lt2>
      <a:accent1>
        <a:srgbClr val="E0A458"/>
      </a:accent1>
      <a:accent2>
        <a:srgbClr val="B9CDE0"/>
      </a:accent2>
      <a:accent3>
        <a:srgbClr val="A4520F"/>
      </a:accent3>
      <a:accent4>
        <a:srgbClr val="2B2F36"/>
      </a:accent4>
      <a:accent5>
        <a:srgbClr val="5B6573"/>
      </a:accent5>
      <a:accent6>
        <a:srgbClr val="D6E2EE"/>
      </a:accent6>
      <a:hlink>
        <a:srgbClr val="0563C1"/>
      </a:hlink>
      <a:folHlink>
        <a:srgbClr val="954F72"/>
      </a:folHlink>
    </a:clrScheme>
    <a:fontScheme name="Tech Track Promotion: VP Assessmen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 Track Promotion: VP Assessment</dc:title>
  <dc:subject/>
  <dc:creator/>
  <cp:lastModifiedBy/>
  <cp:revision>1</cp:revision>
  <dcterms:created xsi:type="dcterms:W3CDTF">2026-10-11T18:25:13Z</dcterms:created>
  <dcterms:modified xsi:type="dcterms:W3CDTF">2026-10-11T18:25:13Z</dcterms:modified>
</cp:coreProperties>
</file>