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Thank the panel. Set the frame: this presentation is structured against the eight ECDF parameters, one parameter per slide, with Thinks and Delivers evidenced at Level 4 and the remaining six at Level 3, in line with the 2026/27 nomination baseline. I will keep to roughly 45 minutes so there is time for questions and deep dives.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The 2026/27 nomination baseline is Level 4 (Expert) for Thinks and Delivers, and Level 3 (Skilled) for Designs, Controls, Operates, Achieves, Engages and Influences. I am not claiming the full Lead Engineer Level 4 profile across all eight; my case is Level 4 in the two critical dimensions and solid Level 3 breadth across the other six. Walk the panel through the order: the slides follow this grid left to right, top to bottom. Emphasise the discipline: every achievement appears under one parameter only, and where two achievements are related I will state the boundary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This is the story of the whole presentation. As an AVP I solve difficult problems well. What has changed is the scope and nature of the work: I now identify systemic risks before they become incidents, challenge long-standing assumptions, personally remove the hardest technical blockers, connect the engineering to business outcomes, build repeatable capabilities that do not depend on me, and influence beyond my own team. Tell the panel that each following slide is one ECDF parameter, and that for every example I will be clear about what the team did versus what I personally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minutes. Strongest Level 4 slide alongside Delivers. 1.1 ACM segregation: the organization had one ACM Hub controlling Dev, UAT and Prod. I recognised that this put production stability for all 36 Fabric clusters at the mercy of non-production change. I challenged the assumption that a single shared control plane was good enough, initiated the segregation, designed and deployed separate ACM-Dev and ACM-UAT hubs, proved it with a PoC in Engineering Test, communicated the strategy and results to Business, Product, Operations, Customer Success and Architecture, and led the end-to-end pilot cluster migration. Evidence: Jira, strategy presentation, stakeholder emails, CR details, Confluence pilot migration documentation. Boundary: here I am presenting the strategic decision; the technical topology and branching design is evidence under Designs. 1.2 Policy reconcile: 400+ active policies; I audited, reviewed and remediated 70+ non-compliant or unused policies on ACM-Prod, removed unused and disabled ones, moved locally managed policies to the ArgoCD GitOps workflow so the drift could not return, consolidated Trident storage policies and cleaned cluster-specific project configuration. Close on why this is Level 4: multiple disparate perspectives, a long-term sustainable model, root causes addressed, divisional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minutes. 2.1: be explicit that this is not the segregation decision (that was Thinks). Here I am showing the technical design: the new evolved ACM model covering ACM-Dev, ACM-UAT and ACM-Prod, the code-promotion branching strategy and the updated policy implementation workflow across the hub clusters, which I presented to my Team Lead and the Architect for approval. 2.2: I designed the multi-repository setup for the Fabric Landing Zone that physically separates Engineering Test, client-facing and Management configuration, securing core configuration from accidental drift; I presented it to Business, Product, Operations, Customer Success and Architecture. 2.3: I updated the Fabric ADRs and established mandatory compliance patterns used by my team and peer teams. 2.4: I designed and integrated the multi-component architecture for the Global DB Hackathon prototype, which won Best Innovative Idea. Level 3 point: autonomous lead in design, considering NFRs and security, and driving design practice across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minutes. Lead with CyberArk as the strongest control. Before: operators used shared master root private keys to reach Fabric cluster nodes, a high-severity misuse risk with no individual accountability. I deployed the end-to-end CyberArk SSH integration with individual authentication and temporary privilege elevation, removed static root private-key usage, and produced Operations onboarding guides. Result: risk removed, auditable access trail. 3.1: clarify that ACM here means Automated Credential Monitoring, not Advanced Cluster Management. As PaaS Confluence space owner I managed, remediated and attested the findings and ran coaching sessions so credentials stop entering Confluence, Jira or repositories. 3.3: completed PoC with the external Tanium team, containerising their vulnerability-compliance agent on Fabric. If asked about automation plans, keep the answer retrospective; the panel assesses what has been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minutes. Spend most of the time on Bafir. The issue: transactions dropping on the Bafir payment application, persisting for about five years and affecting roughly 1% of transaction volume. What I personally did: investigated the complete path from application code to container pods, node routing, firewalls and the destination server; ran packet captures and tcpdump on the source pods and nodes; evaluated different firewall behaviour across the two network routes; wrote up the end-to-end analysis and submitted it to Bafir, Network and Fabric leadership; recommended application connection pooling. After implementation the issue was resolved, protecting critical client transaction pipelines and restoring payment-processing velocity. Evidence: packet analysis, recommendation email chain, meeting invites, appreciation from Fabric and Network leadership. Then briefly: 4.1 India Payments, where I was sole lead engineer under a compressed regulatory timeline across Dev, UAT and Prod; and 4.3 NPA4, hands-on migration with rollback plans and security policy exceptions obtained with CPT SRE and Security, delivered on time with no downtime. Land the Level 4 message: technical SME, personal hands-on contribution, delivery leadership on organization-critical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minutes. Structure: restore, then prevent. 5.1: during the secret-management failure I ruled out the platform, isolated the root cause to application secrets broken by an upstream Artifactory update and coordinated recovery for 50+ production-critical applications. 5.2: after datastore corruption I was engineering technical lead for the full cluster redeployment, orchestrating the team and stakeholders; the cluster was ready for tenant workloads within 2 days, enabling failback from DR. 5.3: during a high-visibility, high-market-volume Federal Reserve announcement I diagnosed and mitigated the platform P1 in real time, stabilised nodes and guided Operations through recovery with low MTTR. Then the VP-level point: I did not stop at fixing incidents. I designed a standardised operations handover and readiness framework, a deliberate path to production rather than just writing runbooks, and I built the Python regression automation that removes manual validation from every cluster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minutes. For each, answer the question: what business capability was unlocked? 6.1: client onboarding was blocked and OCP3 carried unsupported-version risk. I owned the end-to-end delivery plan, business communication, prerequisite management, automated cluster builds, post-build checks and transition to Product and Operations. Value: 15+ production-ready OCP4 clusters, onboarding unblocked, alignment to the strategic technology roadmap and potential extended-support cost avoided (say 'potential'; do not quantify). 6.2: I led Vertex AI enablement in the Fabric Landing Zone, converting a business idea into a compliant platform capability for pre-production AI/ML sandboxing. 6.3: the centralised ACM Hub monitoring integration gave Operations multi-tenant dashboards and reduced MTTD. If the panel sees 6.3 as overlapping with the broader MLA work, offer it as backup instead and do not use MLA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minutes. Walk left to right as widening scope. 7.1: I lead the day-to-day operations of an 8-member team, manage the sprint backlog and workload, make the engineering decisions and support career progression; evidence is sprint reports, backlog and career plans. 7.2: I own engineering demand, working with Business, Product and Architecture so platform delivery follows one cohesive direction. 7.5: I planned and delivered a 5-day interactive Terraform and GitOps training for Operations, which improved Engineering–Operations collaboration and reduced human deployment errors; evidence includes the syllabus, attendee list and feedback. 7.3: I am an active mentor in the internal AI community, running sessions and helping engineers in other divisions with their AI projects. 7.4: I created and delivered DB Landing Zone training for graduates, shortening onboarding. State the boundary: mentoring is capability-building and sits here; enabling external teams to adopt AI is about changing what they do, and I evidence that under Influences.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minutes. Tell each as a short story: stakeholder, their starting position, my approach, what changed. 8.1: as my Team Lead's delegate in senior leadership discussions I presented architecture proposals, resolved cross-team engineering bottlenecks and technical disputes between platform tenants and peer teams, and influenced peers to adopt platform standards; evidence is meeting invitations, decks and email agreements. Prepare one specific example with names removed: [insert the dispute, the other team's concern, how I reframed it, and the agreement reached]. 8.2: the influence is in helping external teams with AI enablement; the certifications are background credibility. I also mentor hackathon teams, act as a GEE interviewer for graduate and intern hiring, and have motivated colleagues to pursue certifications. Avoid leading with awards.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Do not re-tell the stories. Read the two amber Level 4 rows first: Thinks and Delivers are where I am demonstrating Expert behaviour. Then sweep the six Level 3 rows to show breadth. Reinforce that each achievement appears once only, and that I have additional evidence in reserve for any parameter the panel wants to probe.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Slow down. Three pillars: Level 4 thinking, Level 4 delivery, Level 3 breadth. Then deliver the closing statement verbatim and stop. Invite questions. Target: finish slides at around 45 minutes, leaving 10 to 15 minutes for the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presented in the main flow. Use only when the panel asks for another example. MLA (1.3) is held back so it is never double-counted with 6.3; if the panel treats 6.3 and MLA as the same achievement, present MLA here as the additional Thinks example and drop 6.3. Before the interview, prepare personal answers for 'what resistance did you face' and 'what would you do differently'; these must be genuine and 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711200" y="831056"/>
            <a:ext cx="10769600" cy="363207"/>
          </a:xfrm>
          <a:prstGeom prst="rect">
            <a:avLst/>
          </a:prstGeom>
          <a:noFill/>
          <a:ln/>
        </p:spPr>
        <p:txBody>
          <a:bodyPr wrap="square" lIns="0" tIns="0" rIns="0" bIns="0" rtlCol="0" anchor="t"/>
          <a:lstStyle>
            <a:lvl1pPr algn="l" indent="0" marL="0">
              <a:lnSpc>
                <a:spcPct val="115000"/>
              </a:lnSpc>
              <a:buNone/>
              <a:defRPr lang="en-US" sz="2600" dirty="0">
                <a:solidFill>
                  <a:srgbClr val="14202E"/>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711200" y="1499063"/>
            <a:ext cx="10668000" cy="4546137"/>
          </a:xfrm>
          <a:prstGeom prst="rect">
            <a:avLst/>
          </a:prstGeom>
          <a:noFill/>
          <a:ln/>
        </p:spPr>
        <p:txBody>
          <a:bodyPr wrap="square" lIns="0" tIns="0" rIns="0" bIns="0" rtlCol="0" anchor="t"/>
          <a:lstStyle>
            <a:lvl1pPr algn="l" indent="0" marL="0">
              <a:lnSpc>
                <a:spcPct val="140000"/>
              </a:lnSpc>
              <a:buNone/>
              <a:defRPr lang="en-US" sz="1600" dirty="0">
                <a:solidFill>
                  <a:srgbClr val="14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711200" y="831056"/>
            <a:ext cx="10769600" cy="363207"/>
          </a:xfrm>
          <a:prstGeom prst="rect">
            <a:avLst/>
          </a:prstGeom>
          <a:noFill/>
          <a:ln/>
        </p:spPr>
        <p:txBody>
          <a:bodyPr wrap="square" lIns="0" tIns="0" rIns="0" bIns="0" rtlCol="0" anchor="t"/>
          <a:lstStyle>
            <a:lvl1pPr algn="l" indent="0" marL="0">
              <a:lnSpc>
                <a:spcPct val="115000"/>
              </a:lnSpc>
              <a:buNone/>
              <a:defRPr lang="en-US" sz="2600" dirty="0">
                <a:solidFill>
                  <a:srgbClr val="14202E"/>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711200" y="1499063"/>
            <a:ext cx="10668000" cy="4546137"/>
          </a:xfrm>
          <a:prstGeom prst="rect">
            <a:avLst/>
          </a:prstGeom>
          <a:noFill/>
          <a:ln/>
        </p:spPr>
        <p:txBody>
          <a:bodyPr wrap="square" lIns="0" tIns="0" rIns="0" bIns="0" rtlCol="0" anchor="t"/>
          <a:lstStyle>
            <a:lvl1pPr algn="l" indent="0" marL="0">
              <a:lnSpc>
                <a:spcPct val="140000"/>
              </a:lnSpc>
              <a:buNone/>
              <a:defRPr lang="en-US" sz="1600" dirty="0">
                <a:solidFill>
                  <a:srgbClr val="14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E"/>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0A35E"/>
          </a:solidFill>
          <a:ln/>
        </p:spPr>
      </p:sp>
      <p:sp>
        <p:nvSpPr>
          <p:cNvPr id="3" name="Text 1"/>
          <p:cNvSpPr/>
          <p:nvPr/>
        </p:nvSpPr>
        <p:spPr>
          <a:xfrm>
            <a:off x="1016000" y="711200"/>
            <a:ext cx="10674096"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0A35E"/>
                </a:solidFill>
                <a:latin typeface="IBM Plex Sans" pitchFamily="34" charset="0"/>
                <a:ea typeface="IBM Plex Sans" pitchFamily="34" charset="-122"/>
                <a:cs typeface="IBM Plex Sans" pitchFamily="34" charset="-120"/>
              </a:rPr>
              <a:t>AVP → VP PROMOTION INTERVIEW · 2026/27 NOMINATION</a:t>
            </a:r>
            <a:endParaRPr lang="en-US" sz="1200" dirty="0"/>
          </a:p>
        </p:txBody>
      </p:sp>
      <p:sp>
        <p:nvSpPr>
          <p:cNvPr id="4" name="Text 2"/>
          <p:cNvSpPr/>
          <p:nvPr>
            <p:ph type="title"/>
          </p:nvPr>
        </p:nvSpPr>
        <p:spPr>
          <a:xfrm>
            <a:off x="1016000" y="2638227"/>
            <a:ext cx="10674096" cy="612114"/>
          </a:xfrm>
          <a:prstGeom prst="rect">
            <a:avLst/>
          </a:prstGeom>
          <a:noFill/>
          <a:ln/>
        </p:spPr>
        <p:txBody>
          <a:bodyPr wrap="square" lIns="0" tIns="0" rIns="0" bIns="0" rtlCol="0" anchor="t">
            <a:normAutofit/>
          </a:bodyPr>
          <a:lstStyle/>
          <a:p>
            <a:pPr algn="l" indent="0" marL="0">
              <a:lnSpc>
                <a:spcPts val="4620"/>
              </a:lnSpc>
              <a:buNone/>
            </a:pPr>
            <a:r>
              <a:rPr lang="en-US" sz="4400" b="0" i="0" dirty="0">
                <a:solidFill>
                  <a:srgbClr val="F4F2EC"/>
                </a:solidFill>
                <a:latin typeface="Source Serif 4" pitchFamily="18" charset="0"/>
                <a:ea typeface="Source Serif 4" pitchFamily="18" charset="-122"/>
                <a:cs typeface="Source Serif 4" pitchFamily="18" charset="-120"/>
              </a:rPr>
              <a:t>ECDF Evidence &amp; VP Readiness</a:t>
            </a:r>
            <a:endParaRPr lang="en-US" sz="4400" dirty="0"/>
          </a:p>
        </p:txBody>
      </p:sp>
      <p:sp>
        <p:nvSpPr>
          <p:cNvPr id="5" name="Text 3"/>
          <p:cNvSpPr/>
          <p:nvPr/>
        </p:nvSpPr>
        <p:spPr>
          <a:xfrm>
            <a:off x="1016000" y="3377340"/>
            <a:ext cx="9156700" cy="685800"/>
          </a:xfrm>
          <a:prstGeom prst="rect">
            <a:avLst/>
          </a:prstGeom>
          <a:noFill/>
          <a:ln/>
        </p:spPr>
        <p:txBody>
          <a:bodyPr wrap="square" lIns="0" tIns="0" rIns="0" bIns="0" rtlCol="0" anchor="t">
            <a:normAutofit/>
          </a:bodyPr>
          <a:lstStyle/>
          <a:p>
            <a:pPr algn="l" indent="0" marL="0">
              <a:lnSpc>
                <a:spcPts val="2600"/>
              </a:lnSpc>
              <a:buNone/>
            </a:pPr>
            <a:r>
              <a:rPr lang="en-US" sz="2000" i="1" dirty="0">
                <a:solidFill>
                  <a:srgbClr val="9CC0F0"/>
                </a:solidFill>
                <a:latin typeface="Source Serif 4" pitchFamily="18" charset="0"/>
                <a:ea typeface="Source Serif 4" pitchFamily="18" charset="-122"/>
                <a:cs typeface="Source Serif 4" pitchFamily="18" charset="-120"/>
              </a:rPr>
              <a:t>From strong engineering execution to strategic thinking, expert delivery and organizational impact</a:t>
            </a:r>
            <a:endParaRPr lang="en-US" sz="2000" dirty="0"/>
          </a:p>
        </p:txBody>
      </p:sp>
      <p:sp>
        <p:nvSpPr>
          <p:cNvPr id="6" name="Shape 4"/>
          <p:cNvSpPr/>
          <p:nvPr/>
        </p:nvSpPr>
        <p:spPr>
          <a:xfrm>
            <a:off x="1016000" y="5754622"/>
            <a:ext cx="10363200" cy="0"/>
          </a:xfrm>
          <a:prstGeom prst="line">
            <a:avLst/>
          </a:prstGeom>
          <a:noFill/>
          <a:ln w="6350">
            <a:solidFill>
              <a:srgbClr val="3A4A5E"/>
            </a:solidFill>
            <a:prstDash val="solid"/>
          </a:ln>
        </p:spPr>
      </p:sp>
      <p:sp>
        <p:nvSpPr>
          <p:cNvPr id="7" name="Text 5"/>
          <p:cNvSpPr/>
          <p:nvPr/>
        </p:nvSpPr>
        <p:spPr>
          <a:xfrm>
            <a:off x="1016000" y="5933480"/>
            <a:ext cx="15265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2EC"/>
                </a:solidFill>
                <a:latin typeface="IBM Plex Sans" pitchFamily="34" charset="0"/>
                <a:ea typeface="IBM Plex Sans" pitchFamily="34" charset="-122"/>
                <a:cs typeface="IBM Plex Sans" pitchFamily="34" charset="-120"/>
              </a:rPr>
              <a:t>[Candidate name]</a:t>
            </a:r>
            <a:endParaRPr lang="en-US" sz="1200" dirty="0"/>
          </a:p>
        </p:txBody>
      </p:sp>
      <p:sp>
        <p:nvSpPr>
          <p:cNvPr id="8" name="Text 6"/>
          <p:cNvSpPr/>
          <p:nvPr/>
        </p:nvSpPr>
        <p:spPr>
          <a:xfrm>
            <a:off x="2592917" y="5933480"/>
            <a:ext cx="46210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0CC"/>
                </a:solidFill>
                <a:latin typeface="IBM Plex Sans" pitchFamily="34" charset="0"/>
                <a:ea typeface="IBM Plex Sans" pitchFamily="34" charset="-122"/>
                <a:cs typeface="IBM Plex Sans" pitchFamily="34" charset="-120"/>
              </a:rPr>
              <a:t>Assistant Vice President · Engineering Team Lead, Fabric</a:t>
            </a:r>
            <a:endParaRPr lang="en-US" sz="1200" dirty="0"/>
          </a:p>
        </p:txBody>
      </p:sp>
      <p:sp>
        <p:nvSpPr>
          <p:cNvPr id="9" name="Text 7"/>
          <p:cNvSpPr/>
          <p:nvPr/>
        </p:nvSpPr>
        <p:spPr>
          <a:xfrm>
            <a:off x="10962349" y="5933480"/>
            <a:ext cx="4676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0CC"/>
                </a:solidFill>
                <a:latin typeface="IBM Plex Sans" pitchFamily="34" charset="0"/>
                <a:ea typeface="IBM Plex Sans" pitchFamily="34" charset="-122"/>
                <a:cs typeface="IBM Plex Sans" pitchFamily="34" charset="-120"/>
              </a:rPr>
              <a:t>[Date]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711200" y="4064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A6472"/>
                </a:solidFill>
                <a:latin typeface="IBM Plex Sans" pitchFamily="34" charset="0"/>
                <a:ea typeface="IBM Plex Sans" pitchFamily="34" charset="-122"/>
                <a:cs typeface="IBM Plex Sans" pitchFamily="34" charset="-120"/>
              </a:rPr>
              <a:t>ASSESSMENT FRAMEWORK</a:t>
            </a:r>
            <a:endParaRPr lang="en-US" sz="1200" dirty="0"/>
          </a:p>
        </p:txBody>
      </p:sp>
      <p:sp>
        <p:nvSpPr>
          <p:cNvPr id="3" name="Text 1"/>
          <p:cNvSpPr/>
          <p:nvPr>
            <p:ph type="title"/>
          </p:nvPr>
        </p:nvSpPr>
        <p:spPr>
          <a:xfrm>
            <a:off x="711200" y="772120"/>
            <a:ext cx="11092688" cy="388607"/>
          </a:xfrm>
          <a:prstGeom prst="rect">
            <a:avLst/>
          </a:prstGeom>
          <a:noFill/>
          <a:ln/>
        </p:spPr>
        <p:txBody>
          <a:bodyPr wrap="square" lIns="0" tIns="0" rIns="0" bIns="0" rtlCol="0" anchor="t">
            <a:normAutofit/>
          </a:bodyPr>
          <a:lstStyle/>
          <a:p>
            <a:pPr algn="l" indent="0" marL="0">
              <a:lnSpc>
                <a:spcPts val="2860"/>
              </a:lnSpc>
              <a:buNone/>
            </a:pPr>
            <a:r>
              <a:rPr lang="en-US" sz="2600" b="0" i="0" dirty="0">
                <a:solidFill>
                  <a:srgbClr val="14202E"/>
                </a:solidFill>
                <a:latin typeface="Source Serif 4" pitchFamily="18" charset="0"/>
                <a:ea typeface="Source Serif 4" pitchFamily="18" charset="-122"/>
                <a:cs typeface="Source Serif 4" pitchFamily="18" charset="-120"/>
              </a:rPr>
              <a:t>Eight ECDF parameters — Level 4 required in Thinks and Delivers</a:t>
            </a:r>
            <a:endParaRPr lang="en-US" sz="2600" dirty="0"/>
          </a:p>
        </p:txBody>
      </p:sp>
      <p:sp>
        <p:nvSpPr>
          <p:cNvPr id="4" name="Shape 2"/>
          <p:cNvSpPr/>
          <p:nvPr/>
        </p:nvSpPr>
        <p:spPr>
          <a:xfrm>
            <a:off x="717550" y="1294078"/>
            <a:ext cx="2565400" cy="1683875"/>
          </a:xfrm>
          <a:prstGeom prst="roundRect">
            <a:avLst>
              <a:gd name="adj" fmla="val 4148"/>
            </a:avLst>
          </a:prstGeom>
          <a:solidFill>
            <a:srgbClr val="F3E6D8"/>
          </a:solidFill>
          <a:ln w="12700">
            <a:solidFill>
              <a:srgbClr val="A4520F"/>
            </a:solidFill>
            <a:prstDash val="solid"/>
          </a:ln>
        </p:spPr>
      </p:sp>
      <p:sp>
        <p:nvSpPr>
          <p:cNvPr id="5" name="Text 3"/>
          <p:cNvSpPr/>
          <p:nvPr/>
        </p:nvSpPr>
        <p:spPr>
          <a:xfrm>
            <a:off x="901700" y="1478228"/>
            <a:ext cx="22630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01</a:t>
            </a:r>
            <a:endParaRPr lang="en-US" sz="1200" dirty="0"/>
          </a:p>
        </p:txBody>
      </p:sp>
      <p:sp>
        <p:nvSpPr>
          <p:cNvPr id="6" name="Text 4"/>
          <p:cNvSpPr/>
          <p:nvPr/>
        </p:nvSpPr>
        <p:spPr>
          <a:xfrm>
            <a:off x="901700" y="1767748"/>
            <a:ext cx="2263013" cy="274307"/>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4202E"/>
                </a:solidFill>
                <a:latin typeface="Source Serif 4" pitchFamily="18" charset="0"/>
                <a:ea typeface="Source Serif 4" pitchFamily="18" charset="-122"/>
                <a:cs typeface="Source Serif 4" pitchFamily="18" charset="-120"/>
              </a:rPr>
              <a:t>THINKS</a:t>
            </a:r>
            <a:endParaRPr lang="en-US" sz="1400" dirty="0"/>
          </a:p>
        </p:txBody>
      </p:sp>
      <p:sp>
        <p:nvSpPr>
          <p:cNvPr id="7" name="Text 5"/>
          <p:cNvSpPr/>
          <p:nvPr/>
        </p:nvSpPr>
        <p:spPr>
          <a:xfrm>
            <a:off x="901700" y="2092854"/>
            <a:ext cx="226301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20F"/>
                </a:solidFill>
                <a:latin typeface="IBM Plex Sans" pitchFamily="34" charset="0"/>
                <a:ea typeface="IBM Plex Sans" pitchFamily="34" charset="-122"/>
                <a:cs typeface="IBM Plex Sans" pitchFamily="34" charset="-120"/>
              </a:rPr>
              <a:t>Level 4 · Expert</a:t>
            </a:r>
            <a:endParaRPr lang="en-US" sz="1200" dirty="0"/>
          </a:p>
        </p:txBody>
      </p:sp>
      <p:sp>
        <p:nvSpPr>
          <p:cNvPr id="8" name="Text 6"/>
          <p:cNvSpPr/>
          <p:nvPr/>
        </p:nvSpPr>
        <p:spPr>
          <a:xfrm>
            <a:off x="901700" y="2382375"/>
            <a:ext cx="2263013"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Systemic, long-term problem solving</a:t>
            </a:r>
            <a:endParaRPr lang="en-US" sz="1200" dirty="0"/>
          </a:p>
        </p:txBody>
      </p:sp>
      <p:sp>
        <p:nvSpPr>
          <p:cNvPr id="9" name="Shape 7"/>
          <p:cNvSpPr/>
          <p:nvPr/>
        </p:nvSpPr>
        <p:spPr>
          <a:xfrm>
            <a:off x="3444875" y="1290903"/>
            <a:ext cx="2571750" cy="1690225"/>
          </a:xfrm>
          <a:prstGeom prst="roundRect">
            <a:avLst>
              <a:gd name="adj" fmla="val 4320"/>
            </a:avLst>
          </a:prstGeom>
          <a:solidFill>
            <a:srgbClr val="FBFAF6"/>
          </a:solidFill>
          <a:ln w="6350">
            <a:solidFill>
              <a:srgbClr val="D9D4C8"/>
            </a:solidFill>
            <a:prstDash val="solid"/>
          </a:ln>
        </p:spPr>
      </p:sp>
      <p:sp>
        <p:nvSpPr>
          <p:cNvPr id="10" name="Text 8"/>
          <p:cNvSpPr/>
          <p:nvPr/>
        </p:nvSpPr>
        <p:spPr>
          <a:xfrm>
            <a:off x="3623733" y="1469761"/>
            <a:ext cx="22804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02</a:t>
            </a:r>
            <a:endParaRPr lang="en-US" sz="1200" dirty="0"/>
          </a:p>
        </p:txBody>
      </p:sp>
      <p:sp>
        <p:nvSpPr>
          <p:cNvPr id="11" name="Text 9"/>
          <p:cNvSpPr/>
          <p:nvPr/>
        </p:nvSpPr>
        <p:spPr>
          <a:xfrm>
            <a:off x="3623733" y="1759281"/>
            <a:ext cx="2280454" cy="274307"/>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4202E"/>
                </a:solidFill>
                <a:latin typeface="Source Serif 4" pitchFamily="18" charset="0"/>
                <a:ea typeface="Source Serif 4" pitchFamily="18" charset="-122"/>
                <a:cs typeface="Source Serif 4" pitchFamily="18" charset="-120"/>
              </a:rPr>
              <a:t>DESIGNS</a:t>
            </a:r>
            <a:endParaRPr lang="en-US" sz="1400" dirty="0"/>
          </a:p>
        </p:txBody>
      </p:sp>
      <p:sp>
        <p:nvSpPr>
          <p:cNvPr id="12" name="Text 10"/>
          <p:cNvSpPr/>
          <p:nvPr/>
        </p:nvSpPr>
        <p:spPr>
          <a:xfrm>
            <a:off x="3623733" y="2084388"/>
            <a:ext cx="22804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F"/>
                </a:solidFill>
                <a:latin typeface="IBM Plex Sans" pitchFamily="34" charset="0"/>
                <a:ea typeface="IBM Plex Sans" pitchFamily="34" charset="-122"/>
                <a:cs typeface="IBM Plex Sans" pitchFamily="34" charset="-120"/>
              </a:rPr>
              <a:t>Level 3 · Skilled</a:t>
            </a:r>
            <a:endParaRPr lang="en-US" sz="1200" dirty="0"/>
          </a:p>
        </p:txBody>
      </p:sp>
      <p:sp>
        <p:nvSpPr>
          <p:cNvPr id="13" name="Text 11"/>
          <p:cNvSpPr/>
          <p:nvPr/>
        </p:nvSpPr>
        <p:spPr>
          <a:xfrm>
            <a:off x="3623733" y="2373908"/>
            <a:ext cx="2280454"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Autonomous design of complex solutions</a:t>
            </a:r>
            <a:endParaRPr lang="en-US" sz="1200" dirty="0"/>
          </a:p>
        </p:txBody>
      </p:sp>
      <p:sp>
        <p:nvSpPr>
          <p:cNvPr id="14" name="Shape 12"/>
          <p:cNvSpPr/>
          <p:nvPr/>
        </p:nvSpPr>
        <p:spPr>
          <a:xfrm>
            <a:off x="6175375" y="1290903"/>
            <a:ext cx="2571750" cy="1690225"/>
          </a:xfrm>
          <a:prstGeom prst="roundRect">
            <a:avLst>
              <a:gd name="adj" fmla="val 4320"/>
            </a:avLst>
          </a:prstGeom>
          <a:solidFill>
            <a:srgbClr val="FBFAF6"/>
          </a:solidFill>
          <a:ln w="6350">
            <a:solidFill>
              <a:srgbClr val="D9D4C8"/>
            </a:solidFill>
            <a:prstDash val="solid"/>
          </a:ln>
        </p:spPr>
      </p:sp>
      <p:sp>
        <p:nvSpPr>
          <p:cNvPr id="15" name="Text 13"/>
          <p:cNvSpPr/>
          <p:nvPr/>
        </p:nvSpPr>
        <p:spPr>
          <a:xfrm>
            <a:off x="6354233" y="1469761"/>
            <a:ext cx="22804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03</a:t>
            </a:r>
            <a:endParaRPr lang="en-US" sz="1200" dirty="0"/>
          </a:p>
        </p:txBody>
      </p:sp>
      <p:sp>
        <p:nvSpPr>
          <p:cNvPr id="16" name="Text 14"/>
          <p:cNvSpPr/>
          <p:nvPr/>
        </p:nvSpPr>
        <p:spPr>
          <a:xfrm>
            <a:off x="6354233" y="1759281"/>
            <a:ext cx="2280454" cy="274307"/>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4202E"/>
                </a:solidFill>
                <a:latin typeface="Source Serif 4" pitchFamily="18" charset="0"/>
                <a:ea typeface="Source Serif 4" pitchFamily="18" charset="-122"/>
                <a:cs typeface="Source Serif 4" pitchFamily="18" charset="-120"/>
              </a:rPr>
              <a:t>CONTROLS</a:t>
            </a:r>
            <a:endParaRPr lang="en-US" sz="1400" dirty="0"/>
          </a:p>
        </p:txBody>
      </p:sp>
      <p:sp>
        <p:nvSpPr>
          <p:cNvPr id="17" name="Text 15"/>
          <p:cNvSpPr/>
          <p:nvPr/>
        </p:nvSpPr>
        <p:spPr>
          <a:xfrm>
            <a:off x="6354233" y="2084388"/>
            <a:ext cx="22804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F"/>
                </a:solidFill>
                <a:latin typeface="IBM Plex Sans" pitchFamily="34" charset="0"/>
                <a:ea typeface="IBM Plex Sans" pitchFamily="34" charset="-122"/>
                <a:cs typeface="IBM Plex Sans" pitchFamily="34" charset="-120"/>
              </a:rPr>
              <a:t>Level 3 · Skilled</a:t>
            </a:r>
            <a:endParaRPr lang="en-US" sz="1200" dirty="0"/>
          </a:p>
        </p:txBody>
      </p:sp>
      <p:sp>
        <p:nvSpPr>
          <p:cNvPr id="18" name="Text 16"/>
          <p:cNvSpPr/>
          <p:nvPr/>
        </p:nvSpPr>
        <p:spPr>
          <a:xfrm>
            <a:off x="6354233" y="2373908"/>
            <a:ext cx="2280454"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Security and risk embedded in engineering</a:t>
            </a:r>
            <a:endParaRPr lang="en-US" sz="1200" dirty="0"/>
          </a:p>
        </p:txBody>
      </p:sp>
      <p:sp>
        <p:nvSpPr>
          <p:cNvPr id="19" name="Shape 17"/>
          <p:cNvSpPr/>
          <p:nvPr/>
        </p:nvSpPr>
        <p:spPr>
          <a:xfrm>
            <a:off x="8909050" y="1294078"/>
            <a:ext cx="2565400" cy="1683875"/>
          </a:xfrm>
          <a:prstGeom prst="roundRect">
            <a:avLst>
              <a:gd name="adj" fmla="val 4148"/>
            </a:avLst>
          </a:prstGeom>
          <a:solidFill>
            <a:srgbClr val="F3E6D8"/>
          </a:solidFill>
          <a:ln w="12700">
            <a:solidFill>
              <a:srgbClr val="A4520F"/>
            </a:solidFill>
            <a:prstDash val="solid"/>
          </a:ln>
        </p:spPr>
      </p:sp>
      <p:sp>
        <p:nvSpPr>
          <p:cNvPr id="20" name="Text 18"/>
          <p:cNvSpPr/>
          <p:nvPr/>
        </p:nvSpPr>
        <p:spPr>
          <a:xfrm>
            <a:off x="9093200" y="1478228"/>
            <a:ext cx="22630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04</a:t>
            </a:r>
            <a:endParaRPr lang="en-US" sz="1200" dirty="0"/>
          </a:p>
        </p:txBody>
      </p:sp>
      <p:sp>
        <p:nvSpPr>
          <p:cNvPr id="21" name="Text 19"/>
          <p:cNvSpPr/>
          <p:nvPr/>
        </p:nvSpPr>
        <p:spPr>
          <a:xfrm>
            <a:off x="9093200" y="1767748"/>
            <a:ext cx="2263013" cy="274307"/>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4202E"/>
                </a:solidFill>
                <a:latin typeface="Source Serif 4" pitchFamily="18" charset="0"/>
                <a:ea typeface="Source Serif 4" pitchFamily="18" charset="-122"/>
                <a:cs typeface="Source Serif 4" pitchFamily="18" charset="-120"/>
              </a:rPr>
              <a:t>DELIVERS</a:t>
            </a:r>
            <a:endParaRPr lang="en-US" sz="1400" dirty="0"/>
          </a:p>
        </p:txBody>
      </p:sp>
      <p:sp>
        <p:nvSpPr>
          <p:cNvPr id="22" name="Text 20"/>
          <p:cNvSpPr/>
          <p:nvPr/>
        </p:nvSpPr>
        <p:spPr>
          <a:xfrm>
            <a:off x="9093200" y="2092854"/>
            <a:ext cx="226301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20F"/>
                </a:solidFill>
                <a:latin typeface="IBM Plex Sans" pitchFamily="34" charset="0"/>
                <a:ea typeface="IBM Plex Sans" pitchFamily="34" charset="-122"/>
                <a:cs typeface="IBM Plex Sans" pitchFamily="34" charset="-120"/>
              </a:rPr>
              <a:t>Level 4 · Expert</a:t>
            </a:r>
            <a:endParaRPr lang="en-US" sz="1200" dirty="0"/>
          </a:p>
        </p:txBody>
      </p:sp>
      <p:sp>
        <p:nvSpPr>
          <p:cNvPr id="23" name="Text 21"/>
          <p:cNvSpPr/>
          <p:nvPr/>
        </p:nvSpPr>
        <p:spPr>
          <a:xfrm>
            <a:off x="9093200" y="2382375"/>
            <a:ext cx="2263013"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Expert, hands-on technical delivery</a:t>
            </a:r>
            <a:endParaRPr lang="en-US" sz="1200" dirty="0"/>
          </a:p>
        </p:txBody>
      </p:sp>
      <p:sp>
        <p:nvSpPr>
          <p:cNvPr id="24" name="Shape 22"/>
          <p:cNvSpPr/>
          <p:nvPr/>
        </p:nvSpPr>
        <p:spPr>
          <a:xfrm>
            <a:off x="714375" y="3139877"/>
            <a:ext cx="2571750" cy="1673291"/>
          </a:xfrm>
          <a:prstGeom prst="roundRect">
            <a:avLst>
              <a:gd name="adj" fmla="val 4364"/>
            </a:avLst>
          </a:prstGeom>
          <a:solidFill>
            <a:srgbClr val="FBFAF6"/>
          </a:solidFill>
          <a:ln w="6350">
            <a:solidFill>
              <a:srgbClr val="D9D4C8"/>
            </a:solidFill>
            <a:prstDash val="solid"/>
          </a:ln>
        </p:spPr>
      </p:sp>
      <p:sp>
        <p:nvSpPr>
          <p:cNvPr id="25" name="Text 23"/>
          <p:cNvSpPr/>
          <p:nvPr/>
        </p:nvSpPr>
        <p:spPr>
          <a:xfrm>
            <a:off x="893233" y="3318735"/>
            <a:ext cx="22804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05</a:t>
            </a:r>
            <a:endParaRPr lang="en-US" sz="1200" dirty="0"/>
          </a:p>
        </p:txBody>
      </p:sp>
      <p:sp>
        <p:nvSpPr>
          <p:cNvPr id="26" name="Text 24"/>
          <p:cNvSpPr/>
          <p:nvPr/>
        </p:nvSpPr>
        <p:spPr>
          <a:xfrm>
            <a:off x="893233" y="3608256"/>
            <a:ext cx="2280454" cy="274307"/>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4202E"/>
                </a:solidFill>
                <a:latin typeface="Source Serif 4" pitchFamily="18" charset="0"/>
                <a:ea typeface="Source Serif 4" pitchFamily="18" charset="-122"/>
                <a:cs typeface="Source Serif 4" pitchFamily="18" charset="-120"/>
              </a:rPr>
              <a:t>OPERATES</a:t>
            </a:r>
            <a:endParaRPr lang="en-US" sz="1400" dirty="0"/>
          </a:p>
        </p:txBody>
      </p:sp>
      <p:sp>
        <p:nvSpPr>
          <p:cNvPr id="27" name="Text 25"/>
          <p:cNvSpPr/>
          <p:nvPr/>
        </p:nvSpPr>
        <p:spPr>
          <a:xfrm>
            <a:off x="893233" y="3933362"/>
            <a:ext cx="22804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F"/>
                </a:solidFill>
                <a:latin typeface="IBM Plex Sans" pitchFamily="34" charset="0"/>
                <a:ea typeface="IBM Plex Sans" pitchFamily="34" charset="-122"/>
                <a:cs typeface="IBM Plex Sans" pitchFamily="34" charset="-120"/>
              </a:rPr>
              <a:t>Level 3 · Skilled</a:t>
            </a:r>
            <a:endParaRPr lang="en-US" sz="1200" dirty="0"/>
          </a:p>
        </p:txBody>
      </p:sp>
      <p:sp>
        <p:nvSpPr>
          <p:cNvPr id="28" name="Text 26"/>
          <p:cNvSpPr/>
          <p:nvPr/>
        </p:nvSpPr>
        <p:spPr>
          <a:xfrm>
            <a:off x="893233" y="4222883"/>
            <a:ext cx="2280454"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Reliability, incidents and toil reduction</a:t>
            </a:r>
            <a:endParaRPr lang="en-US" sz="1200" dirty="0"/>
          </a:p>
        </p:txBody>
      </p:sp>
      <p:sp>
        <p:nvSpPr>
          <p:cNvPr id="29" name="Shape 27"/>
          <p:cNvSpPr/>
          <p:nvPr/>
        </p:nvSpPr>
        <p:spPr>
          <a:xfrm>
            <a:off x="3444875" y="3139877"/>
            <a:ext cx="2571750" cy="1673291"/>
          </a:xfrm>
          <a:prstGeom prst="roundRect">
            <a:avLst>
              <a:gd name="adj" fmla="val 4364"/>
            </a:avLst>
          </a:prstGeom>
          <a:solidFill>
            <a:srgbClr val="FBFAF6"/>
          </a:solidFill>
          <a:ln w="6350">
            <a:solidFill>
              <a:srgbClr val="D9D4C8"/>
            </a:solidFill>
            <a:prstDash val="solid"/>
          </a:ln>
        </p:spPr>
      </p:sp>
      <p:sp>
        <p:nvSpPr>
          <p:cNvPr id="30" name="Text 28"/>
          <p:cNvSpPr/>
          <p:nvPr/>
        </p:nvSpPr>
        <p:spPr>
          <a:xfrm>
            <a:off x="3623733" y="3318735"/>
            <a:ext cx="22804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06</a:t>
            </a:r>
            <a:endParaRPr lang="en-US" sz="1200" dirty="0"/>
          </a:p>
        </p:txBody>
      </p:sp>
      <p:sp>
        <p:nvSpPr>
          <p:cNvPr id="31" name="Text 29"/>
          <p:cNvSpPr/>
          <p:nvPr/>
        </p:nvSpPr>
        <p:spPr>
          <a:xfrm>
            <a:off x="3623733" y="3608256"/>
            <a:ext cx="2280454" cy="274307"/>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4202E"/>
                </a:solidFill>
                <a:latin typeface="Source Serif 4" pitchFamily="18" charset="0"/>
                <a:ea typeface="Source Serif 4" pitchFamily="18" charset="-122"/>
                <a:cs typeface="Source Serif 4" pitchFamily="18" charset="-120"/>
              </a:rPr>
              <a:t>ACHIEVES</a:t>
            </a:r>
            <a:endParaRPr lang="en-US" sz="1400" dirty="0"/>
          </a:p>
        </p:txBody>
      </p:sp>
      <p:sp>
        <p:nvSpPr>
          <p:cNvPr id="32" name="Text 30"/>
          <p:cNvSpPr/>
          <p:nvPr/>
        </p:nvSpPr>
        <p:spPr>
          <a:xfrm>
            <a:off x="3623733" y="3933362"/>
            <a:ext cx="22804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F"/>
                </a:solidFill>
                <a:latin typeface="IBM Plex Sans" pitchFamily="34" charset="0"/>
                <a:ea typeface="IBM Plex Sans" pitchFamily="34" charset="-122"/>
                <a:cs typeface="IBM Plex Sans" pitchFamily="34" charset="-120"/>
              </a:rPr>
              <a:t>Level 3 · Skilled</a:t>
            </a:r>
            <a:endParaRPr lang="en-US" sz="1200" dirty="0"/>
          </a:p>
        </p:txBody>
      </p:sp>
      <p:sp>
        <p:nvSpPr>
          <p:cNvPr id="33" name="Text 31"/>
          <p:cNvSpPr/>
          <p:nvPr/>
        </p:nvSpPr>
        <p:spPr>
          <a:xfrm>
            <a:off x="3623733" y="4222883"/>
            <a:ext cx="2280454"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Engineering converted into business value</a:t>
            </a:r>
            <a:endParaRPr lang="en-US" sz="1200" dirty="0"/>
          </a:p>
        </p:txBody>
      </p:sp>
      <p:sp>
        <p:nvSpPr>
          <p:cNvPr id="34" name="Shape 32"/>
          <p:cNvSpPr/>
          <p:nvPr/>
        </p:nvSpPr>
        <p:spPr>
          <a:xfrm>
            <a:off x="6175375" y="3139877"/>
            <a:ext cx="2571750" cy="1673291"/>
          </a:xfrm>
          <a:prstGeom prst="roundRect">
            <a:avLst>
              <a:gd name="adj" fmla="val 4364"/>
            </a:avLst>
          </a:prstGeom>
          <a:solidFill>
            <a:srgbClr val="FBFAF6"/>
          </a:solidFill>
          <a:ln w="6350">
            <a:solidFill>
              <a:srgbClr val="D9D4C8"/>
            </a:solidFill>
            <a:prstDash val="solid"/>
          </a:ln>
        </p:spPr>
      </p:sp>
      <p:sp>
        <p:nvSpPr>
          <p:cNvPr id="35" name="Text 33"/>
          <p:cNvSpPr/>
          <p:nvPr/>
        </p:nvSpPr>
        <p:spPr>
          <a:xfrm>
            <a:off x="6354233" y="3318735"/>
            <a:ext cx="22804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07</a:t>
            </a:r>
            <a:endParaRPr lang="en-US" sz="1200" dirty="0"/>
          </a:p>
        </p:txBody>
      </p:sp>
      <p:sp>
        <p:nvSpPr>
          <p:cNvPr id="36" name="Text 34"/>
          <p:cNvSpPr/>
          <p:nvPr/>
        </p:nvSpPr>
        <p:spPr>
          <a:xfrm>
            <a:off x="6354233" y="3608256"/>
            <a:ext cx="2280454" cy="274307"/>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4202E"/>
                </a:solidFill>
                <a:latin typeface="Source Serif 4" pitchFamily="18" charset="0"/>
                <a:ea typeface="Source Serif 4" pitchFamily="18" charset="-122"/>
                <a:cs typeface="Source Serif 4" pitchFamily="18" charset="-120"/>
              </a:rPr>
              <a:t>ENGAGES</a:t>
            </a:r>
            <a:endParaRPr lang="en-US" sz="1400" dirty="0"/>
          </a:p>
        </p:txBody>
      </p:sp>
      <p:sp>
        <p:nvSpPr>
          <p:cNvPr id="37" name="Text 35"/>
          <p:cNvSpPr/>
          <p:nvPr/>
        </p:nvSpPr>
        <p:spPr>
          <a:xfrm>
            <a:off x="6354233" y="3933362"/>
            <a:ext cx="22804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F"/>
                </a:solidFill>
                <a:latin typeface="IBM Plex Sans" pitchFamily="34" charset="0"/>
                <a:ea typeface="IBM Plex Sans" pitchFamily="34" charset="-122"/>
                <a:cs typeface="IBM Plex Sans" pitchFamily="34" charset="-120"/>
              </a:rPr>
              <a:t>Level 3 · Skilled</a:t>
            </a:r>
            <a:endParaRPr lang="en-US" sz="1200" dirty="0"/>
          </a:p>
        </p:txBody>
      </p:sp>
      <p:sp>
        <p:nvSpPr>
          <p:cNvPr id="38" name="Text 36"/>
          <p:cNvSpPr/>
          <p:nvPr/>
        </p:nvSpPr>
        <p:spPr>
          <a:xfrm>
            <a:off x="6354233" y="4222883"/>
            <a:ext cx="2280454"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Relationships and capability building</a:t>
            </a:r>
            <a:endParaRPr lang="en-US" sz="1200" dirty="0"/>
          </a:p>
        </p:txBody>
      </p:sp>
      <p:sp>
        <p:nvSpPr>
          <p:cNvPr id="39" name="Shape 37"/>
          <p:cNvSpPr/>
          <p:nvPr/>
        </p:nvSpPr>
        <p:spPr>
          <a:xfrm>
            <a:off x="8905875" y="3139877"/>
            <a:ext cx="2571750" cy="1673291"/>
          </a:xfrm>
          <a:prstGeom prst="roundRect">
            <a:avLst>
              <a:gd name="adj" fmla="val 4364"/>
            </a:avLst>
          </a:prstGeom>
          <a:solidFill>
            <a:srgbClr val="FBFAF6"/>
          </a:solidFill>
          <a:ln w="6350">
            <a:solidFill>
              <a:srgbClr val="D9D4C8"/>
            </a:solidFill>
            <a:prstDash val="solid"/>
          </a:ln>
        </p:spPr>
      </p:sp>
      <p:sp>
        <p:nvSpPr>
          <p:cNvPr id="40" name="Text 38"/>
          <p:cNvSpPr/>
          <p:nvPr/>
        </p:nvSpPr>
        <p:spPr>
          <a:xfrm>
            <a:off x="9084734" y="3318735"/>
            <a:ext cx="22804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08</a:t>
            </a:r>
            <a:endParaRPr lang="en-US" sz="1200" dirty="0"/>
          </a:p>
        </p:txBody>
      </p:sp>
      <p:sp>
        <p:nvSpPr>
          <p:cNvPr id="41" name="Text 39"/>
          <p:cNvSpPr/>
          <p:nvPr/>
        </p:nvSpPr>
        <p:spPr>
          <a:xfrm>
            <a:off x="9084734" y="3608256"/>
            <a:ext cx="2280454" cy="274307"/>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4202E"/>
                </a:solidFill>
                <a:latin typeface="Source Serif 4" pitchFamily="18" charset="0"/>
                <a:ea typeface="Source Serif 4" pitchFamily="18" charset="-122"/>
                <a:cs typeface="Source Serif 4" pitchFamily="18" charset="-120"/>
              </a:rPr>
              <a:t>INFLUENCES</a:t>
            </a:r>
            <a:endParaRPr lang="en-US" sz="1400" dirty="0"/>
          </a:p>
        </p:txBody>
      </p:sp>
      <p:sp>
        <p:nvSpPr>
          <p:cNvPr id="42" name="Text 40"/>
          <p:cNvSpPr/>
          <p:nvPr/>
        </p:nvSpPr>
        <p:spPr>
          <a:xfrm>
            <a:off x="9084734" y="3933362"/>
            <a:ext cx="22804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F"/>
                </a:solidFill>
                <a:latin typeface="IBM Plex Sans" pitchFamily="34" charset="0"/>
                <a:ea typeface="IBM Plex Sans" pitchFamily="34" charset="-122"/>
                <a:cs typeface="IBM Plex Sans" pitchFamily="34" charset="-120"/>
              </a:rPr>
              <a:t>Level 3 · Skilled</a:t>
            </a:r>
            <a:endParaRPr lang="en-US" sz="1200" dirty="0"/>
          </a:p>
        </p:txBody>
      </p:sp>
      <p:sp>
        <p:nvSpPr>
          <p:cNvPr id="43" name="Text 41"/>
          <p:cNvSpPr/>
          <p:nvPr/>
        </p:nvSpPr>
        <p:spPr>
          <a:xfrm>
            <a:off x="9084734" y="4222883"/>
            <a:ext cx="2280454"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Commitment through clear communication</a:t>
            </a:r>
            <a:endParaRPr lang="en-US" sz="1200" dirty="0"/>
          </a:p>
        </p:txBody>
      </p:sp>
      <p:sp>
        <p:nvSpPr>
          <p:cNvPr id="44" name="Shape 42"/>
          <p:cNvSpPr/>
          <p:nvPr/>
        </p:nvSpPr>
        <p:spPr>
          <a:xfrm>
            <a:off x="711200" y="5505715"/>
            <a:ext cx="10769600" cy="0"/>
          </a:xfrm>
          <a:prstGeom prst="line">
            <a:avLst/>
          </a:prstGeom>
          <a:noFill/>
          <a:ln w="6350">
            <a:solidFill>
              <a:srgbClr val="D9D4C8"/>
            </a:solidFill>
            <a:prstDash val="solid"/>
          </a:ln>
        </p:spPr>
      </p:sp>
      <p:sp>
        <p:nvSpPr>
          <p:cNvPr id="45" name="Text 43"/>
          <p:cNvSpPr/>
          <p:nvPr/>
        </p:nvSpPr>
        <p:spPr>
          <a:xfrm>
            <a:off x="711200" y="5633773"/>
            <a:ext cx="11092688"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02E"/>
                </a:solidFill>
                <a:latin typeface="IBM Plex Sans" pitchFamily="34" charset="0"/>
                <a:ea typeface="IBM Plex Sans" pitchFamily="34" charset="-122"/>
                <a:cs typeface="IBM Plex Sans" pitchFamily="34" charset="-120"/>
              </a:rPr>
              <a:t>How I have built the case:</a:t>
            </a:r>
            <a:r>
              <a:rPr lang="en-US" sz="1200" dirty="0">
                <a:solidFill>
                  <a:srgbClr val="14202E"/>
                </a:solidFill>
                <a:latin typeface="IBM Plex Sans" pitchFamily="34" charset="0"/>
                <a:ea typeface="IBM Plex Sans" pitchFamily="34" charset="-122"/>
                <a:cs typeface="IBM Plex Sans" pitchFamily="34" charset="-120"/>
              </a:rPr>
              <a:t> each achievement is evidenced under exactly one parameter — no evidence is reused across categories. Additional examples are held in reserve for probing.</a:t>
            </a:r>
            <a:endParaRPr lang="en-US" sz="1200" dirty="0"/>
          </a:p>
        </p:txBody>
      </p:sp>
      <p:sp>
        <p:nvSpPr>
          <p:cNvPr id="46" name="Text 44"/>
          <p:cNvSpPr/>
          <p:nvPr/>
        </p:nvSpPr>
        <p:spPr>
          <a:xfrm>
            <a:off x="711200" y="6339880"/>
            <a:ext cx="16450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Framework · ~2 min</a:t>
            </a:r>
            <a:endParaRPr lang="en-US" sz="1200" dirty="0"/>
          </a:p>
        </p:txBody>
      </p:sp>
      <p:sp>
        <p:nvSpPr>
          <p:cNvPr id="47" name="Text 45"/>
          <p:cNvSpPr/>
          <p:nvPr/>
        </p:nvSpPr>
        <p:spPr>
          <a:xfrm>
            <a:off x="10885488" y="63398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02 / 14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711200" y="4064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A6472"/>
                </a:solidFill>
                <a:latin typeface="IBM Plex Sans" pitchFamily="34" charset="0"/>
                <a:ea typeface="IBM Plex Sans" pitchFamily="34" charset="-122"/>
                <a:cs typeface="IBM Plex Sans" pitchFamily="34" charset="-120"/>
              </a:rPr>
              <a:t>MY VP TRANSITION</a:t>
            </a:r>
            <a:endParaRPr lang="en-US" sz="1200" dirty="0"/>
          </a:p>
        </p:txBody>
      </p:sp>
      <p:sp>
        <p:nvSpPr>
          <p:cNvPr id="3" name="Text 1"/>
          <p:cNvSpPr/>
          <p:nvPr>
            <p:ph type="title"/>
          </p:nvPr>
        </p:nvSpPr>
        <p:spPr>
          <a:xfrm>
            <a:off x="711200" y="772120"/>
            <a:ext cx="11092688" cy="388607"/>
          </a:xfrm>
          <a:prstGeom prst="rect">
            <a:avLst/>
          </a:prstGeom>
          <a:noFill/>
          <a:ln/>
        </p:spPr>
        <p:txBody>
          <a:bodyPr wrap="square" lIns="0" tIns="0" rIns="0" bIns="0" rtlCol="0" anchor="t">
            <a:normAutofit/>
          </a:bodyPr>
          <a:lstStyle/>
          <a:p>
            <a:pPr algn="l" indent="0" marL="0">
              <a:lnSpc>
                <a:spcPts val="2860"/>
              </a:lnSpc>
              <a:buNone/>
            </a:pPr>
            <a:r>
              <a:rPr lang="en-US" sz="2600" b="0" i="0" dirty="0">
                <a:solidFill>
                  <a:srgbClr val="14202E"/>
                </a:solidFill>
                <a:latin typeface="Source Serif 4" pitchFamily="18" charset="0"/>
                <a:ea typeface="Source Serif 4" pitchFamily="18" charset="-122"/>
                <a:cs typeface="Source Serif 4" pitchFamily="18" charset="-120"/>
              </a:rPr>
              <a:t>The change is in the scope and nature of my impact</a:t>
            </a:r>
            <a:endParaRPr lang="en-US" sz="2600" dirty="0"/>
          </a:p>
        </p:txBody>
      </p:sp>
      <p:sp>
        <p:nvSpPr>
          <p:cNvPr id="4" name="Shape 2"/>
          <p:cNvSpPr/>
          <p:nvPr/>
        </p:nvSpPr>
        <p:spPr>
          <a:xfrm>
            <a:off x="711200" y="1494301"/>
            <a:ext cx="4475030" cy="2638028"/>
          </a:xfrm>
          <a:prstGeom prst="roundRect">
            <a:avLst>
              <a:gd name="adj" fmla="val 2889"/>
            </a:avLst>
          </a:prstGeom>
          <a:solidFill>
            <a:srgbClr val="ECE8DF"/>
          </a:solidFill>
          <a:ln/>
        </p:spPr>
      </p:sp>
      <p:sp>
        <p:nvSpPr>
          <p:cNvPr id="5" name="Text 3"/>
          <p:cNvSpPr/>
          <p:nvPr/>
        </p:nvSpPr>
        <p:spPr>
          <a:xfrm>
            <a:off x="939800" y="1722901"/>
            <a:ext cx="413836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A6472"/>
                </a:solidFill>
                <a:latin typeface="IBM Plex Sans" pitchFamily="34" charset="0"/>
                <a:ea typeface="IBM Plex Sans" pitchFamily="34" charset="-122"/>
                <a:cs typeface="IBM Plex Sans" pitchFamily="34" charset="-120"/>
              </a:rPr>
              <a:t>STRONG AVP</a:t>
            </a:r>
            <a:endParaRPr lang="en-US" sz="1200" dirty="0"/>
          </a:p>
        </p:txBody>
      </p:sp>
      <p:sp>
        <p:nvSpPr>
          <p:cNvPr id="6" name="Text 4"/>
          <p:cNvSpPr/>
          <p:nvPr/>
        </p:nvSpPr>
        <p:spPr>
          <a:xfrm>
            <a:off x="939800" y="2037821"/>
            <a:ext cx="413836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Source Serif 4" pitchFamily="18" charset="0"/>
                <a:ea typeface="Source Serif 4" pitchFamily="18" charset="-122"/>
                <a:cs typeface="Source Serif 4" pitchFamily="18" charset="-120"/>
              </a:rPr>
              <a:t>Excellent engineering execution</a:t>
            </a:r>
            <a:endParaRPr lang="en-US" sz="1400" dirty="0"/>
          </a:p>
        </p:txBody>
      </p:sp>
      <p:sp>
        <p:nvSpPr>
          <p:cNvPr id="7" name="Shape 5"/>
          <p:cNvSpPr/>
          <p:nvPr/>
        </p:nvSpPr>
        <p:spPr>
          <a:xfrm>
            <a:off x="939800" y="2355917"/>
            <a:ext cx="4017830" cy="0"/>
          </a:xfrm>
          <a:prstGeom prst="line">
            <a:avLst/>
          </a:prstGeom>
          <a:noFill/>
          <a:ln w="6350">
            <a:solidFill>
              <a:srgbClr val="D9D4C8"/>
            </a:solidFill>
            <a:prstDash val="solid"/>
          </a:ln>
        </p:spPr>
      </p:sp>
      <p:sp>
        <p:nvSpPr>
          <p:cNvPr id="8" name="Text 6"/>
          <p:cNvSpPr/>
          <p:nvPr/>
        </p:nvSpPr>
        <p:spPr>
          <a:xfrm>
            <a:off x="939800" y="2458575"/>
            <a:ext cx="4138365"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Solves difficult team-level problems</a:t>
            </a:r>
            <a:endParaRPr lang="en-US" sz="1200" dirty="0"/>
          </a:p>
        </p:txBody>
      </p:sp>
      <p:sp>
        <p:nvSpPr>
          <p:cNvPr id="9" name="Shape 7"/>
          <p:cNvSpPr/>
          <p:nvPr/>
        </p:nvSpPr>
        <p:spPr>
          <a:xfrm>
            <a:off x="939800" y="2769064"/>
            <a:ext cx="4017830" cy="0"/>
          </a:xfrm>
          <a:prstGeom prst="line">
            <a:avLst/>
          </a:prstGeom>
          <a:noFill/>
          <a:ln w="6350">
            <a:solidFill>
              <a:srgbClr val="D9D4C8"/>
            </a:solidFill>
            <a:prstDash val="solid"/>
          </a:ln>
        </p:spPr>
      </p:sp>
      <p:sp>
        <p:nvSpPr>
          <p:cNvPr id="10" name="Text 8"/>
          <p:cNvSpPr/>
          <p:nvPr/>
        </p:nvSpPr>
        <p:spPr>
          <a:xfrm>
            <a:off x="939800" y="2871722"/>
            <a:ext cx="4138365"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Delivers defined requirements</a:t>
            </a:r>
            <a:endParaRPr lang="en-US" sz="1200" dirty="0"/>
          </a:p>
        </p:txBody>
      </p:sp>
      <p:sp>
        <p:nvSpPr>
          <p:cNvPr id="11" name="Shape 9"/>
          <p:cNvSpPr/>
          <p:nvPr/>
        </p:nvSpPr>
        <p:spPr>
          <a:xfrm>
            <a:off x="939800" y="3182210"/>
            <a:ext cx="4017830" cy="0"/>
          </a:xfrm>
          <a:prstGeom prst="line">
            <a:avLst/>
          </a:prstGeom>
          <a:noFill/>
          <a:ln w="6350">
            <a:solidFill>
              <a:srgbClr val="D9D4C8"/>
            </a:solidFill>
            <a:prstDash val="solid"/>
          </a:ln>
        </p:spPr>
      </p:sp>
      <p:sp>
        <p:nvSpPr>
          <p:cNvPr id="12" name="Text 10"/>
          <p:cNvSpPr/>
          <p:nvPr/>
        </p:nvSpPr>
        <p:spPr>
          <a:xfrm>
            <a:off x="939800" y="3284869"/>
            <a:ext cx="4138365"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Operates systems reliably</a:t>
            </a:r>
            <a:endParaRPr lang="en-US" sz="1200" dirty="0"/>
          </a:p>
        </p:txBody>
      </p:sp>
      <p:sp>
        <p:nvSpPr>
          <p:cNvPr id="13" name="Shape 11"/>
          <p:cNvSpPr/>
          <p:nvPr/>
        </p:nvSpPr>
        <p:spPr>
          <a:xfrm>
            <a:off x="939800" y="3595357"/>
            <a:ext cx="4017830" cy="0"/>
          </a:xfrm>
          <a:prstGeom prst="line">
            <a:avLst/>
          </a:prstGeom>
          <a:noFill/>
          <a:ln w="6350">
            <a:solidFill>
              <a:srgbClr val="D9D4C8"/>
            </a:solidFill>
            <a:prstDash val="solid"/>
          </a:ln>
        </p:spPr>
      </p:sp>
      <p:sp>
        <p:nvSpPr>
          <p:cNvPr id="14" name="Text 12"/>
          <p:cNvSpPr/>
          <p:nvPr/>
        </p:nvSpPr>
        <p:spPr>
          <a:xfrm>
            <a:off x="939800" y="3698016"/>
            <a:ext cx="4138365"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Collaborates within the team</a:t>
            </a:r>
            <a:endParaRPr lang="en-US" sz="1200" dirty="0"/>
          </a:p>
        </p:txBody>
      </p:sp>
      <p:pic>
        <p:nvPicPr>
          <p:cNvPr id="15" name="Image 0" descr="arrow-right">    </p:cNvPr>
          <p:cNvPicPr>
            <a:picLocks noChangeAspect="1"/>
          </p:cNvPicPr>
          <p:nvPr/>
        </p:nvPicPr>
        <p:blipFill>
          <a:blip r:embed="rId1"/>
          <a:srcRect l="0" r="0" t="0" b="0"/>
          <a:stretch/>
        </p:blipFill>
        <p:spPr>
          <a:xfrm>
            <a:off x="5440230" y="2673615"/>
            <a:ext cx="508000" cy="279400"/>
          </a:xfrm>
          <a:prstGeom prst="rect">
            <a:avLst/>
          </a:prstGeom>
        </p:spPr>
      </p:pic>
      <p:sp>
        <p:nvSpPr>
          <p:cNvPr id="16" name="Shape 13"/>
          <p:cNvSpPr/>
          <p:nvPr/>
        </p:nvSpPr>
        <p:spPr>
          <a:xfrm>
            <a:off x="6202230" y="1287728"/>
            <a:ext cx="5278570" cy="3051175"/>
          </a:xfrm>
          <a:prstGeom prst="roundRect">
            <a:avLst>
              <a:gd name="adj" fmla="val 2497"/>
            </a:avLst>
          </a:prstGeom>
          <a:solidFill>
            <a:srgbClr val="14202E"/>
          </a:solidFill>
          <a:ln/>
        </p:spPr>
      </p:sp>
      <p:sp>
        <p:nvSpPr>
          <p:cNvPr id="17" name="Text 14"/>
          <p:cNvSpPr/>
          <p:nvPr/>
        </p:nvSpPr>
        <p:spPr>
          <a:xfrm>
            <a:off x="6430830" y="1516328"/>
            <a:ext cx="4966011"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35E"/>
                </a:solidFill>
                <a:latin typeface="IBM Plex Sans" pitchFamily="34" charset="0"/>
                <a:ea typeface="IBM Plex Sans" pitchFamily="34" charset="-122"/>
                <a:cs typeface="IBM Plex Sans" pitchFamily="34" charset="-120"/>
              </a:rPr>
              <a:t>VP-READY ENGINEERING LEADER</a:t>
            </a:r>
            <a:endParaRPr lang="en-US" sz="1200" dirty="0"/>
          </a:p>
        </p:txBody>
      </p:sp>
      <p:sp>
        <p:nvSpPr>
          <p:cNvPr id="18" name="Text 15"/>
          <p:cNvSpPr/>
          <p:nvPr/>
        </p:nvSpPr>
        <p:spPr>
          <a:xfrm>
            <a:off x="6430830" y="1831248"/>
            <a:ext cx="496601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4F2EC"/>
                </a:solidFill>
                <a:latin typeface="Source Serif 4" pitchFamily="18" charset="0"/>
                <a:ea typeface="Source Serif 4" pitchFamily="18" charset="-122"/>
                <a:cs typeface="Source Serif 4" pitchFamily="18" charset="-120"/>
              </a:rPr>
              <a:t>Strategic, expert and organizational impact</a:t>
            </a:r>
            <a:endParaRPr lang="en-US" sz="1400" dirty="0"/>
          </a:p>
        </p:txBody>
      </p:sp>
      <p:sp>
        <p:nvSpPr>
          <p:cNvPr id="19" name="Shape 16"/>
          <p:cNvSpPr/>
          <p:nvPr/>
        </p:nvSpPr>
        <p:spPr>
          <a:xfrm>
            <a:off x="6430830" y="2149343"/>
            <a:ext cx="4821370" cy="0"/>
          </a:xfrm>
          <a:prstGeom prst="line">
            <a:avLst/>
          </a:prstGeom>
          <a:noFill/>
          <a:ln w="6350">
            <a:solidFill>
              <a:srgbClr val="3A4A5E"/>
            </a:solidFill>
            <a:prstDash val="solid"/>
          </a:ln>
        </p:spPr>
      </p:sp>
      <p:sp>
        <p:nvSpPr>
          <p:cNvPr id="20" name="Text 17"/>
          <p:cNvSpPr/>
          <p:nvPr/>
        </p:nvSpPr>
        <p:spPr>
          <a:xfrm>
            <a:off x="6430830" y="2252002"/>
            <a:ext cx="4966011"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4F2EC"/>
                </a:solidFill>
                <a:latin typeface="IBM Plex Sans" pitchFamily="34" charset="0"/>
                <a:ea typeface="IBM Plex Sans" pitchFamily="34" charset="-122"/>
                <a:cs typeface="IBM Plex Sans" pitchFamily="34" charset="-120"/>
              </a:rPr>
              <a:t>Identifies systemic risks and challenges assumptions</a:t>
            </a:r>
            <a:endParaRPr lang="en-US" sz="1200" dirty="0"/>
          </a:p>
        </p:txBody>
      </p:sp>
      <p:sp>
        <p:nvSpPr>
          <p:cNvPr id="21" name="Shape 18"/>
          <p:cNvSpPr/>
          <p:nvPr/>
        </p:nvSpPr>
        <p:spPr>
          <a:xfrm>
            <a:off x="6430830" y="2562490"/>
            <a:ext cx="4821370" cy="0"/>
          </a:xfrm>
          <a:prstGeom prst="line">
            <a:avLst/>
          </a:prstGeom>
          <a:noFill/>
          <a:ln w="6350">
            <a:solidFill>
              <a:srgbClr val="3A4A5E"/>
            </a:solidFill>
            <a:prstDash val="solid"/>
          </a:ln>
        </p:spPr>
      </p:sp>
      <p:sp>
        <p:nvSpPr>
          <p:cNvPr id="22" name="Text 19"/>
          <p:cNvSpPr/>
          <p:nvPr/>
        </p:nvSpPr>
        <p:spPr>
          <a:xfrm>
            <a:off x="6430830" y="2665148"/>
            <a:ext cx="4966011"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4F2EC"/>
                </a:solidFill>
                <a:latin typeface="IBM Plex Sans" pitchFamily="34" charset="0"/>
                <a:ea typeface="IBM Plex Sans" pitchFamily="34" charset="-122"/>
                <a:cs typeface="IBM Plex Sans" pitchFamily="34" charset="-120"/>
              </a:rPr>
              <a:t>Personally solves expert-level technical blockers</a:t>
            </a:r>
            <a:endParaRPr lang="en-US" sz="1200" dirty="0"/>
          </a:p>
        </p:txBody>
      </p:sp>
      <p:sp>
        <p:nvSpPr>
          <p:cNvPr id="23" name="Shape 20"/>
          <p:cNvSpPr/>
          <p:nvPr/>
        </p:nvSpPr>
        <p:spPr>
          <a:xfrm>
            <a:off x="6430830" y="2975637"/>
            <a:ext cx="4821370" cy="0"/>
          </a:xfrm>
          <a:prstGeom prst="line">
            <a:avLst/>
          </a:prstGeom>
          <a:noFill/>
          <a:ln w="6350">
            <a:solidFill>
              <a:srgbClr val="3A4A5E"/>
            </a:solidFill>
            <a:prstDash val="solid"/>
          </a:ln>
        </p:spPr>
      </p:sp>
      <p:sp>
        <p:nvSpPr>
          <p:cNvPr id="24" name="Text 21"/>
          <p:cNvSpPr/>
          <p:nvPr/>
        </p:nvSpPr>
        <p:spPr>
          <a:xfrm>
            <a:off x="6430830" y="3078295"/>
            <a:ext cx="4966011"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4F2EC"/>
                </a:solidFill>
                <a:latin typeface="IBM Plex Sans" pitchFamily="34" charset="0"/>
                <a:ea typeface="IBM Plex Sans" pitchFamily="34" charset="-122"/>
                <a:cs typeface="IBM Plex Sans" pitchFamily="34" charset="-120"/>
              </a:rPr>
              <a:t>Connects engineering to business outcomes</a:t>
            </a:r>
            <a:endParaRPr lang="en-US" sz="1200" dirty="0"/>
          </a:p>
        </p:txBody>
      </p:sp>
      <p:sp>
        <p:nvSpPr>
          <p:cNvPr id="25" name="Shape 22"/>
          <p:cNvSpPr/>
          <p:nvPr/>
        </p:nvSpPr>
        <p:spPr>
          <a:xfrm>
            <a:off x="6430830" y="3388784"/>
            <a:ext cx="4821370" cy="0"/>
          </a:xfrm>
          <a:prstGeom prst="line">
            <a:avLst/>
          </a:prstGeom>
          <a:noFill/>
          <a:ln w="6350">
            <a:solidFill>
              <a:srgbClr val="3A4A5E"/>
            </a:solidFill>
            <a:prstDash val="solid"/>
          </a:ln>
        </p:spPr>
      </p:sp>
      <p:sp>
        <p:nvSpPr>
          <p:cNvPr id="26" name="Text 23"/>
          <p:cNvSpPr/>
          <p:nvPr/>
        </p:nvSpPr>
        <p:spPr>
          <a:xfrm>
            <a:off x="6430830" y="3491442"/>
            <a:ext cx="4966011"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4F2EC"/>
                </a:solidFill>
                <a:latin typeface="IBM Plex Sans" pitchFamily="34" charset="0"/>
                <a:ea typeface="IBM Plex Sans" pitchFamily="34" charset="-122"/>
                <a:cs typeface="IBM Plex Sans" pitchFamily="34" charset="-120"/>
              </a:rPr>
              <a:t>Creates repeatable capabilities, not one-off fixes</a:t>
            </a:r>
            <a:endParaRPr lang="en-US" sz="1200" dirty="0"/>
          </a:p>
        </p:txBody>
      </p:sp>
      <p:sp>
        <p:nvSpPr>
          <p:cNvPr id="27" name="Shape 24"/>
          <p:cNvSpPr/>
          <p:nvPr/>
        </p:nvSpPr>
        <p:spPr>
          <a:xfrm>
            <a:off x="6430830" y="3801931"/>
            <a:ext cx="4821370" cy="0"/>
          </a:xfrm>
          <a:prstGeom prst="line">
            <a:avLst/>
          </a:prstGeom>
          <a:noFill/>
          <a:ln w="6350">
            <a:solidFill>
              <a:srgbClr val="3A4A5E"/>
            </a:solidFill>
            <a:prstDash val="solid"/>
          </a:ln>
        </p:spPr>
      </p:sp>
      <p:sp>
        <p:nvSpPr>
          <p:cNvPr id="28" name="Text 25"/>
          <p:cNvSpPr/>
          <p:nvPr/>
        </p:nvSpPr>
        <p:spPr>
          <a:xfrm>
            <a:off x="6430830" y="3904589"/>
            <a:ext cx="4966011"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4F2EC"/>
                </a:solidFill>
                <a:latin typeface="IBM Plex Sans" pitchFamily="34" charset="0"/>
                <a:ea typeface="IBM Plex Sans" pitchFamily="34" charset="-122"/>
                <a:cs typeface="IBM Plex Sans" pitchFamily="34" charset="-120"/>
              </a:rPr>
              <a:t>Influences beyond the immediate team</a:t>
            </a:r>
            <a:endParaRPr lang="en-US" sz="1200" dirty="0"/>
          </a:p>
        </p:txBody>
      </p:sp>
      <p:sp>
        <p:nvSpPr>
          <p:cNvPr id="29" name="Text 26"/>
          <p:cNvSpPr/>
          <p:nvPr/>
        </p:nvSpPr>
        <p:spPr>
          <a:xfrm>
            <a:off x="711200" y="5839487"/>
            <a:ext cx="11092688"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6472"/>
                </a:solidFill>
                <a:latin typeface="IBM Plex Sans" pitchFamily="34" charset="0"/>
                <a:ea typeface="IBM Plex Sans" pitchFamily="34" charset="-122"/>
                <a:cs typeface="IBM Plex Sans" pitchFamily="34" charset="-120"/>
              </a:rPr>
              <a:t>The next eight slides evidence this shift — one ECDF parameter per slide.</a:t>
            </a:r>
            <a:endParaRPr lang="en-US" sz="1200" dirty="0"/>
          </a:p>
        </p:txBody>
      </p:sp>
      <p:sp>
        <p:nvSpPr>
          <p:cNvPr id="30" name="Text 27"/>
          <p:cNvSpPr/>
          <p:nvPr/>
        </p:nvSpPr>
        <p:spPr>
          <a:xfrm>
            <a:off x="711200" y="6339880"/>
            <a:ext cx="17838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My transition · ~2 min</a:t>
            </a:r>
            <a:endParaRPr lang="en-US" sz="1200" dirty="0"/>
          </a:p>
        </p:txBody>
      </p:sp>
      <p:sp>
        <p:nvSpPr>
          <p:cNvPr id="31" name="Text 28"/>
          <p:cNvSpPr/>
          <p:nvPr/>
        </p:nvSpPr>
        <p:spPr>
          <a:xfrm>
            <a:off x="10885488" y="63398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03 / 14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711200" y="331259"/>
            <a:ext cx="910101" cy="289520"/>
          </a:xfrm>
          <a:prstGeom prst="roundRect">
            <a:avLst>
              <a:gd name="adj" fmla="val 13160"/>
            </a:avLst>
          </a:prstGeom>
          <a:solidFill>
            <a:srgbClr val="A4520F"/>
          </a:solidFill>
          <a:ln/>
        </p:spPr>
        <p:txBody>
          <a:bodyPr wrap="none" lIns="0" tIns="0" rIns="0" bIns="0" rtlCol="0" anchor="ctr">
            <a:normAutofit/>
          </a:bodyPr>
          <a:lstStyle/>
          <a:p>
            <a:pPr algn="ctr" indent="0" marL="0">
              <a:lnSpc>
                <a:spcPts val="1680"/>
              </a:lnSpc>
              <a:buNone/>
            </a:pPr>
            <a:r>
              <a:rPr lang="en-US" sz="1200" b="1" spc="150" kern="0" dirty="0">
                <a:solidFill>
                  <a:srgbClr val="FBFAF6"/>
                </a:solidFill>
                <a:latin typeface="IBM Plex Sans" pitchFamily="34" charset="0"/>
                <a:ea typeface="IBM Plex Sans" pitchFamily="34" charset="-122"/>
                <a:cs typeface="IBM Plex Sans" pitchFamily="34" charset="-120"/>
              </a:rPr>
              <a:t>THINKS</a:t>
            </a:r>
            <a:endParaRPr lang="en-US" sz="1200" dirty="0"/>
          </a:p>
        </p:txBody>
      </p:sp>
      <p:sp>
        <p:nvSpPr>
          <p:cNvPr id="3" name="Text 1"/>
          <p:cNvSpPr/>
          <p:nvPr/>
        </p:nvSpPr>
        <p:spPr>
          <a:xfrm>
            <a:off x="1748301" y="369359"/>
            <a:ext cx="218154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20F"/>
                </a:solidFill>
                <a:latin typeface="IBM Plex Sans" pitchFamily="34" charset="0"/>
                <a:ea typeface="IBM Plex Sans" pitchFamily="34" charset="-122"/>
                <a:cs typeface="IBM Plex Sans" pitchFamily="34" charset="-120"/>
              </a:rPr>
              <a:t>Required: Level 4 · Expert</a:t>
            </a:r>
            <a:endParaRPr lang="en-US" sz="1200" dirty="0"/>
          </a:p>
        </p:txBody>
      </p:sp>
      <p:sp>
        <p:nvSpPr>
          <p:cNvPr id="4" name="Text 2"/>
          <p:cNvSpPr/>
          <p:nvPr/>
        </p:nvSpPr>
        <p:spPr>
          <a:xfrm>
            <a:off x="10254589" y="369359"/>
            <a:ext cx="14714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Evidence 1.1 · 1.2</a:t>
            </a:r>
            <a:endParaRPr lang="en-US" sz="1200" dirty="0"/>
          </a:p>
        </p:txBody>
      </p:sp>
      <p:sp>
        <p:nvSpPr>
          <p:cNvPr id="5" name="Text 3"/>
          <p:cNvSpPr/>
          <p:nvPr>
            <p:ph type="title"/>
          </p:nvPr>
        </p:nvSpPr>
        <p:spPr>
          <a:xfrm>
            <a:off x="711200" y="697971"/>
            <a:ext cx="11092688" cy="200025"/>
          </a:xfrm>
          <a:prstGeom prst="rect">
            <a:avLst/>
          </a:prstGeom>
          <a:noFill/>
          <a:ln/>
        </p:spPr>
        <p:txBody>
          <a:bodyPr wrap="square" lIns="0" tIns="0" rIns="0" bIns="0" rtlCol="0" anchor="t">
            <a:normAutofit/>
          </a:bodyPr>
          <a:lstStyle/>
          <a:p>
            <a:pPr algn="l" indent="0" marL="0">
              <a:lnSpc>
                <a:spcPts val="1716"/>
              </a:lnSpc>
              <a:buNone/>
            </a:pPr>
            <a:r>
              <a:rPr lang="en-US" sz="1560" b="0" i="0" dirty="0">
                <a:solidFill>
                  <a:srgbClr val="14202E"/>
                </a:solidFill>
                <a:latin typeface="Source Serif 4" pitchFamily="18" charset="0"/>
                <a:ea typeface="Source Serif 4" pitchFamily="18" charset="-122"/>
                <a:cs typeface="Source Serif 4" pitchFamily="18" charset="-120"/>
              </a:rPr>
              <a:t>I identify systemic problems and create sustainable solutions</a:t>
            </a:r>
            <a:endParaRPr lang="en-US" sz="1560" dirty="0"/>
          </a:p>
        </p:txBody>
      </p:sp>
      <p:sp>
        <p:nvSpPr>
          <p:cNvPr id="6" name="Text 4"/>
          <p:cNvSpPr/>
          <p:nvPr/>
        </p:nvSpPr>
        <p:spPr>
          <a:xfrm>
            <a:off x="711200" y="1024996"/>
            <a:ext cx="1308100" cy="153128"/>
          </a:xfrm>
          <a:prstGeom prst="rect">
            <a:avLst/>
          </a:prstGeom>
          <a:noFill/>
          <a:ln/>
        </p:spPr>
        <p:txBody>
          <a:bodyPr wrap="square" lIns="0" tIns="0" rIns="0" bIns="0" rtlCol="0" anchor="t">
            <a:normAutofit/>
          </a:bodyPr>
          <a:lstStyle/>
          <a:p>
            <a:pPr algn="l" indent="0" marL="0">
              <a:lnSpc>
                <a:spcPts val="1024"/>
              </a:lnSpc>
              <a:buNone/>
            </a:pPr>
            <a:r>
              <a:rPr lang="en-US" sz="731" b="1" spc="100" kern="0" dirty="0">
                <a:solidFill>
                  <a:srgbClr val="A4520F"/>
                </a:solidFill>
                <a:latin typeface="IBM Plex Sans" pitchFamily="34" charset="0"/>
                <a:ea typeface="IBM Plex Sans" pitchFamily="34" charset="-122"/>
                <a:cs typeface="IBM Plex Sans" pitchFamily="34" charset="-120"/>
              </a:rPr>
              <a:t>1.1</a:t>
            </a:r>
            <a:endParaRPr lang="en-US" sz="731" dirty="0"/>
          </a:p>
        </p:txBody>
      </p:sp>
      <p:sp>
        <p:nvSpPr>
          <p:cNvPr id="7" name="Text 5"/>
          <p:cNvSpPr/>
          <p:nvPr/>
        </p:nvSpPr>
        <p:spPr>
          <a:xfrm>
            <a:off x="711200" y="1152723"/>
            <a:ext cx="1308100" cy="536244"/>
          </a:xfrm>
          <a:prstGeom prst="rect">
            <a:avLst/>
          </a:prstGeom>
          <a:noFill/>
          <a:ln/>
        </p:spPr>
        <p:txBody>
          <a:bodyPr wrap="square" lIns="0" tIns="0" rIns="0" bIns="0" rtlCol="0" anchor="t">
            <a:normAutofit/>
          </a:bodyPr>
          <a:lstStyle/>
          <a:p>
            <a:pPr algn="l" indent="0" marL="0">
              <a:lnSpc>
                <a:spcPts val="1323"/>
              </a:lnSpc>
              <a:buNone/>
            </a:pPr>
            <a:r>
              <a:rPr lang="en-US" sz="1103" b="1" dirty="0">
                <a:solidFill>
                  <a:srgbClr val="14202E"/>
                </a:solidFill>
                <a:latin typeface="Source Serif 4" pitchFamily="18" charset="0"/>
                <a:ea typeface="Source Serif 4" pitchFamily="18" charset="-122"/>
                <a:cs typeface="Source Serif 4" pitchFamily="18" charset="-120"/>
              </a:rPr>
              <a:t>ACM Architectural Segregation Strategy</a:t>
            </a:r>
            <a:endParaRPr lang="en-US" sz="1103" dirty="0"/>
          </a:p>
        </p:txBody>
      </p:sp>
      <p:sp>
        <p:nvSpPr>
          <p:cNvPr id="8" name="Text 6"/>
          <p:cNvSpPr/>
          <p:nvPr/>
        </p:nvSpPr>
        <p:spPr>
          <a:xfrm>
            <a:off x="2171700" y="1024996"/>
            <a:ext cx="479418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20F"/>
                </a:solidFill>
                <a:latin typeface="IBM Plex Sans" pitchFamily="34" charset="0"/>
                <a:ea typeface="IBM Plex Sans" pitchFamily="34" charset="-122"/>
                <a:cs typeface="IBM Plex Sans" pitchFamily="34" charset="-120"/>
              </a:rPr>
              <a:t>1.2</a:t>
            </a:r>
            <a:endParaRPr lang="en-US" sz="1200" dirty="0"/>
          </a:p>
        </p:txBody>
      </p:sp>
      <p:sp>
        <p:nvSpPr>
          <p:cNvPr id="9" name="Text 7"/>
          <p:cNvSpPr/>
          <p:nvPr/>
        </p:nvSpPr>
        <p:spPr>
          <a:xfrm>
            <a:off x="2171700" y="1238317"/>
            <a:ext cx="479418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Source Serif 4" pitchFamily="18" charset="0"/>
                <a:ea typeface="Source Serif 4" pitchFamily="18" charset="-122"/>
                <a:cs typeface="Source Serif 4" pitchFamily="18" charset="-120"/>
              </a:rPr>
              <a:t>ACM Policy Reconcile &amp; Standardization</a:t>
            </a:r>
            <a:endParaRPr lang="en-US" sz="1400" dirty="0"/>
          </a:p>
        </p:txBody>
      </p:sp>
      <p:sp>
        <p:nvSpPr>
          <p:cNvPr id="10" name="Shape 8"/>
          <p:cNvSpPr/>
          <p:nvPr/>
        </p:nvSpPr>
        <p:spPr>
          <a:xfrm>
            <a:off x="6826250" y="1028171"/>
            <a:ext cx="4654550" cy="0"/>
          </a:xfrm>
          <a:prstGeom prst="line">
            <a:avLst/>
          </a:prstGeom>
          <a:noFill/>
          <a:ln w="6350">
            <a:solidFill>
              <a:srgbClr val="D9D4C8"/>
            </a:solidFill>
            <a:prstDash val="solid"/>
          </a:ln>
        </p:spPr>
      </p:sp>
      <p:sp>
        <p:nvSpPr>
          <p:cNvPr id="11" name="Text 9"/>
          <p:cNvSpPr/>
          <p:nvPr/>
        </p:nvSpPr>
        <p:spPr>
          <a:xfrm>
            <a:off x="6826250" y="1105430"/>
            <a:ext cx="4637215" cy="223507"/>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A4520F"/>
                </a:solidFill>
                <a:latin typeface="IBM Plex Sans" pitchFamily="34" charset="0"/>
                <a:ea typeface="IBM Plex Sans" pitchFamily="34" charset="-122"/>
                <a:cs typeface="IBM Plex Sans" pitchFamily="34" charset="-120"/>
              </a:rPr>
              <a:t>Challenge</a:t>
            </a:r>
            <a:endParaRPr lang="en-US" sz="1200" dirty="0"/>
          </a:p>
        </p:txBody>
      </p:sp>
      <p:sp>
        <p:nvSpPr>
          <p:cNvPr id="12" name="Shape 10"/>
          <p:cNvSpPr/>
          <p:nvPr/>
        </p:nvSpPr>
        <p:spPr>
          <a:xfrm>
            <a:off x="711200" y="1742943"/>
            <a:ext cx="1460500" cy="0"/>
          </a:xfrm>
          <a:prstGeom prst="line">
            <a:avLst/>
          </a:prstGeom>
          <a:noFill/>
          <a:ln w="6350">
            <a:solidFill>
              <a:srgbClr val="D9D4C8"/>
            </a:solidFill>
            <a:prstDash val="solid"/>
          </a:ln>
        </p:spPr>
      </p:sp>
      <p:sp>
        <p:nvSpPr>
          <p:cNvPr id="13" name="Text 11"/>
          <p:cNvSpPr/>
          <p:nvPr/>
        </p:nvSpPr>
        <p:spPr>
          <a:xfrm>
            <a:off x="711200" y="1820202"/>
            <a:ext cx="1308100" cy="583605"/>
          </a:xfrm>
          <a:prstGeom prst="rect">
            <a:avLst/>
          </a:prstGeom>
          <a:noFill/>
          <a:ln/>
        </p:spPr>
        <p:txBody>
          <a:bodyPr wrap="square" lIns="0" tIns="0" rIns="0" bIns="0" rtlCol="0" anchor="t">
            <a:normAutofit/>
          </a:bodyPr>
          <a:lstStyle/>
          <a:p>
            <a:pPr algn="l" indent="0" marL="0">
              <a:lnSpc>
                <a:spcPts val="1083"/>
              </a:lnSpc>
              <a:buNone/>
            </a:pPr>
            <a:r>
              <a:rPr lang="en-US" sz="802" dirty="0">
                <a:solidFill>
                  <a:srgbClr val="14202E"/>
                </a:solidFill>
                <a:latin typeface="IBM Plex Sans" pitchFamily="34" charset="0"/>
                <a:ea typeface="IBM Plex Sans" pitchFamily="34" charset="-122"/>
                <a:cs typeface="IBM Plex Sans" pitchFamily="34" charset="-120"/>
              </a:rPr>
              <a:t>A single ACM Hub managed Dev, UAT and Prod together — a non-production change could reach production.</a:t>
            </a:r>
            <a:endParaRPr lang="en-US" sz="802" dirty="0"/>
          </a:p>
        </p:txBody>
      </p:sp>
      <p:sp>
        <p:nvSpPr>
          <p:cNvPr id="14" name="Shape 12"/>
          <p:cNvSpPr/>
          <p:nvPr/>
        </p:nvSpPr>
        <p:spPr>
          <a:xfrm>
            <a:off x="2171700" y="1742943"/>
            <a:ext cx="4654550" cy="0"/>
          </a:xfrm>
          <a:prstGeom prst="line">
            <a:avLst/>
          </a:prstGeom>
          <a:noFill/>
          <a:ln w="6350">
            <a:solidFill>
              <a:srgbClr val="D9D4C8"/>
            </a:solidFill>
            <a:prstDash val="solid"/>
          </a:ln>
        </p:spPr>
      </p:sp>
      <p:sp>
        <p:nvSpPr>
          <p:cNvPr id="15" name="Text 13"/>
          <p:cNvSpPr/>
          <p:nvPr/>
        </p:nvSpPr>
        <p:spPr>
          <a:xfrm>
            <a:off x="2171700" y="1820202"/>
            <a:ext cx="479418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400+ active policies on ACM-Prod had accumulated drift, configuration clutter and non-compliance.</a:t>
            </a:r>
            <a:endParaRPr lang="en-US" sz="1200" dirty="0"/>
          </a:p>
        </p:txBody>
      </p:sp>
      <p:sp>
        <p:nvSpPr>
          <p:cNvPr id="16" name="Shape 14"/>
          <p:cNvSpPr/>
          <p:nvPr/>
        </p:nvSpPr>
        <p:spPr>
          <a:xfrm>
            <a:off x="6826250" y="1742943"/>
            <a:ext cx="4654550" cy="0"/>
          </a:xfrm>
          <a:prstGeom prst="line">
            <a:avLst/>
          </a:prstGeom>
          <a:noFill/>
          <a:ln w="6350">
            <a:solidFill>
              <a:srgbClr val="D9D4C8"/>
            </a:solidFill>
            <a:prstDash val="solid"/>
          </a:ln>
        </p:spPr>
      </p:sp>
      <p:sp>
        <p:nvSpPr>
          <p:cNvPr id="17" name="Text 15"/>
          <p:cNvSpPr/>
          <p:nvPr/>
        </p:nvSpPr>
        <p:spPr>
          <a:xfrm>
            <a:off x="6826250" y="1820202"/>
            <a:ext cx="4637215" cy="223507"/>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A4520F"/>
                </a:solidFill>
                <a:latin typeface="IBM Plex Sans" pitchFamily="34" charset="0"/>
                <a:ea typeface="IBM Plex Sans" pitchFamily="34" charset="-122"/>
                <a:cs typeface="IBM Plex Sans" pitchFamily="34" charset="-120"/>
              </a:rPr>
              <a:t>My insight</a:t>
            </a:r>
            <a:endParaRPr lang="en-US" sz="1200" dirty="0"/>
          </a:p>
        </p:txBody>
      </p:sp>
      <p:sp>
        <p:nvSpPr>
          <p:cNvPr id="18" name="Shape 16"/>
          <p:cNvSpPr/>
          <p:nvPr/>
        </p:nvSpPr>
        <p:spPr>
          <a:xfrm>
            <a:off x="711200" y="2457782"/>
            <a:ext cx="1460500" cy="0"/>
          </a:xfrm>
          <a:prstGeom prst="line">
            <a:avLst/>
          </a:prstGeom>
          <a:noFill/>
          <a:ln w="6350">
            <a:solidFill>
              <a:srgbClr val="D9D4C8"/>
            </a:solidFill>
            <a:prstDash val="solid"/>
          </a:ln>
        </p:spPr>
      </p:sp>
      <p:sp>
        <p:nvSpPr>
          <p:cNvPr id="19" name="Text 17"/>
          <p:cNvSpPr/>
          <p:nvPr/>
        </p:nvSpPr>
        <p:spPr>
          <a:xfrm>
            <a:off x="711200" y="2535039"/>
            <a:ext cx="1308100" cy="583605"/>
          </a:xfrm>
          <a:prstGeom prst="rect">
            <a:avLst/>
          </a:prstGeom>
          <a:noFill/>
          <a:ln/>
        </p:spPr>
        <p:txBody>
          <a:bodyPr wrap="square" lIns="0" tIns="0" rIns="0" bIns="0" rtlCol="0" anchor="t">
            <a:normAutofit/>
          </a:bodyPr>
          <a:lstStyle/>
          <a:p>
            <a:pPr algn="l" indent="0" marL="0">
              <a:lnSpc>
                <a:spcPts val="1104"/>
              </a:lnSpc>
              <a:buNone/>
            </a:pPr>
            <a:r>
              <a:rPr lang="en-US" sz="817" dirty="0">
                <a:solidFill>
                  <a:srgbClr val="14202E"/>
                </a:solidFill>
                <a:latin typeface="IBM Plex Sans" pitchFamily="34" charset="0"/>
                <a:ea typeface="IBM Plex Sans" pitchFamily="34" charset="-122"/>
                <a:cs typeface="IBM Plex Sans" pitchFamily="34" charset="-120"/>
              </a:rPr>
              <a:t>I identified the shared hub as an estate-wide architectural risk, not a local configuration issue.</a:t>
            </a:r>
            <a:endParaRPr lang="en-US" sz="817" dirty="0"/>
          </a:p>
        </p:txBody>
      </p:sp>
      <p:sp>
        <p:nvSpPr>
          <p:cNvPr id="20" name="Shape 18"/>
          <p:cNvSpPr/>
          <p:nvPr/>
        </p:nvSpPr>
        <p:spPr>
          <a:xfrm>
            <a:off x="2171700" y="2457782"/>
            <a:ext cx="4654550" cy="0"/>
          </a:xfrm>
          <a:prstGeom prst="line">
            <a:avLst/>
          </a:prstGeom>
          <a:noFill/>
          <a:ln w="6350">
            <a:solidFill>
              <a:srgbClr val="D9D4C8"/>
            </a:solidFill>
            <a:prstDash val="solid"/>
          </a:ln>
        </p:spPr>
      </p:sp>
      <p:sp>
        <p:nvSpPr>
          <p:cNvPr id="21" name="Text 19"/>
          <p:cNvSpPr/>
          <p:nvPr/>
        </p:nvSpPr>
        <p:spPr>
          <a:xfrm>
            <a:off x="2171700" y="2535039"/>
            <a:ext cx="479418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Cleanup alone would not hold: locally managed policies had to move into a governed GitOps workflow.</a:t>
            </a:r>
            <a:endParaRPr lang="en-US" sz="1200" dirty="0"/>
          </a:p>
        </p:txBody>
      </p:sp>
      <p:sp>
        <p:nvSpPr>
          <p:cNvPr id="22" name="Shape 20"/>
          <p:cNvSpPr/>
          <p:nvPr/>
        </p:nvSpPr>
        <p:spPr>
          <a:xfrm>
            <a:off x="6826250" y="2457782"/>
            <a:ext cx="4654550" cy="0"/>
          </a:xfrm>
          <a:prstGeom prst="line">
            <a:avLst/>
          </a:prstGeom>
          <a:noFill/>
          <a:ln w="6350">
            <a:solidFill>
              <a:srgbClr val="D9D4C8"/>
            </a:solidFill>
            <a:prstDash val="solid"/>
          </a:ln>
        </p:spPr>
      </p:sp>
      <p:sp>
        <p:nvSpPr>
          <p:cNvPr id="23" name="Text 21"/>
          <p:cNvSpPr/>
          <p:nvPr/>
        </p:nvSpPr>
        <p:spPr>
          <a:xfrm>
            <a:off x="6826250" y="2535039"/>
            <a:ext cx="4637215" cy="223507"/>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A4520F"/>
                </a:solidFill>
                <a:latin typeface="IBM Plex Sans" pitchFamily="34" charset="0"/>
                <a:ea typeface="IBM Plex Sans" pitchFamily="34" charset="-122"/>
                <a:cs typeface="IBM Plex Sans" pitchFamily="34" charset="-120"/>
              </a:rPr>
              <a:t>Assumption I challenged</a:t>
            </a:r>
            <a:endParaRPr lang="en-US" sz="1200" dirty="0"/>
          </a:p>
        </p:txBody>
      </p:sp>
      <p:sp>
        <p:nvSpPr>
          <p:cNvPr id="24" name="Shape 22"/>
          <p:cNvSpPr/>
          <p:nvPr/>
        </p:nvSpPr>
        <p:spPr>
          <a:xfrm>
            <a:off x="711200" y="3172619"/>
            <a:ext cx="1460500" cy="0"/>
          </a:xfrm>
          <a:prstGeom prst="line">
            <a:avLst/>
          </a:prstGeom>
          <a:noFill/>
          <a:ln w="6350">
            <a:solidFill>
              <a:srgbClr val="D9D4C8"/>
            </a:solidFill>
            <a:prstDash val="solid"/>
          </a:ln>
        </p:spPr>
      </p:sp>
      <p:sp>
        <p:nvSpPr>
          <p:cNvPr id="25" name="Text 23"/>
          <p:cNvSpPr/>
          <p:nvPr/>
        </p:nvSpPr>
        <p:spPr>
          <a:xfrm>
            <a:off x="711200" y="3249878"/>
            <a:ext cx="1308100" cy="583605"/>
          </a:xfrm>
          <a:prstGeom prst="rect">
            <a:avLst/>
          </a:prstGeom>
          <a:noFill/>
          <a:ln/>
        </p:spPr>
        <p:txBody>
          <a:bodyPr wrap="square" lIns="0" tIns="0" rIns="0" bIns="0" rtlCol="0" anchor="t">
            <a:normAutofit/>
          </a:bodyPr>
          <a:lstStyle/>
          <a:p>
            <a:pPr algn="l" indent="0" marL="0">
              <a:lnSpc>
                <a:spcPts val="1058"/>
              </a:lnSpc>
              <a:buNone/>
            </a:pPr>
            <a:r>
              <a:rPr lang="en-US" sz="784" dirty="0">
                <a:solidFill>
                  <a:srgbClr val="14202E"/>
                </a:solidFill>
                <a:latin typeface="IBM Plex Sans" pitchFamily="34" charset="0"/>
                <a:ea typeface="IBM Plex Sans" pitchFamily="34" charset="-122"/>
                <a:cs typeface="IBM Plex Sans" pitchFamily="34" charset="-120"/>
              </a:rPr>
              <a:t>That one shared control plane for every environment was an acceptable operating model.</a:t>
            </a:r>
            <a:endParaRPr lang="en-US" sz="784" dirty="0"/>
          </a:p>
        </p:txBody>
      </p:sp>
      <p:sp>
        <p:nvSpPr>
          <p:cNvPr id="26" name="Shape 24"/>
          <p:cNvSpPr/>
          <p:nvPr/>
        </p:nvSpPr>
        <p:spPr>
          <a:xfrm>
            <a:off x="2171700" y="3172619"/>
            <a:ext cx="4654550" cy="0"/>
          </a:xfrm>
          <a:prstGeom prst="line">
            <a:avLst/>
          </a:prstGeom>
          <a:noFill/>
          <a:ln w="6350">
            <a:solidFill>
              <a:srgbClr val="D9D4C8"/>
            </a:solidFill>
            <a:prstDash val="solid"/>
          </a:ln>
        </p:spPr>
      </p:sp>
      <p:sp>
        <p:nvSpPr>
          <p:cNvPr id="27" name="Text 25"/>
          <p:cNvSpPr/>
          <p:nvPr/>
        </p:nvSpPr>
        <p:spPr>
          <a:xfrm>
            <a:off x="2171700" y="3249878"/>
            <a:ext cx="479418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That accumulated policies should be kept by default rather than audited and retired.</a:t>
            </a:r>
            <a:endParaRPr lang="en-US" sz="1200" dirty="0"/>
          </a:p>
        </p:txBody>
      </p:sp>
      <p:sp>
        <p:nvSpPr>
          <p:cNvPr id="28" name="Shape 26"/>
          <p:cNvSpPr/>
          <p:nvPr/>
        </p:nvSpPr>
        <p:spPr>
          <a:xfrm>
            <a:off x="6826250" y="3172619"/>
            <a:ext cx="4654550" cy="0"/>
          </a:xfrm>
          <a:prstGeom prst="line">
            <a:avLst/>
          </a:prstGeom>
          <a:noFill/>
          <a:ln w="6350">
            <a:solidFill>
              <a:srgbClr val="D9D4C8"/>
            </a:solidFill>
            <a:prstDash val="solid"/>
          </a:ln>
        </p:spPr>
      </p:sp>
      <p:sp>
        <p:nvSpPr>
          <p:cNvPr id="29" name="Text 27"/>
          <p:cNvSpPr/>
          <p:nvPr/>
        </p:nvSpPr>
        <p:spPr>
          <a:xfrm>
            <a:off x="6826250" y="3249878"/>
            <a:ext cx="4637215" cy="223507"/>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A4520F"/>
                </a:solidFill>
                <a:latin typeface="IBM Plex Sans" pitchFamily="34" charset="0"/>
                <a:ea typeface="IBM Plex Sans" pitchFamily="34" charset="-122"/>
                <a:cs typeface="IBM Plex Sans" pitchFamily="34" charset="-120"/>
              </a:rPr>
              <a:t>What I engineered</a:t>
            </a:r>
            <a:endParaRPr lang="en-US" sz="1200" dirty="0"/>
          </a:p>
        </p:txBody>
      </p:sp>
      <p:sp>
        <p:nvSpPr>
          <p:cNvPr id="30" name="Shape 28"/>
          <p:cNvSpPr/>
          <p:nvPr/>
        </p:nvSpPr>
        <p:spPr>
          <a:xfrm>
            <a:off x="711200" y="3887457"/>
            <a:ext cx="1460500" cy="0"/>
          </a:xfrm>
          <a:prstGeom prst="line">
            <a:avLst/>
          </a:prstGeom>
          <a:noFill/>
          <a:ln w="6350">
            <a:solidFill>
              <a:srgbClr val="D9D4C8"/>
            </a:solidFill>
            <a:prstDash val="solid"/>
          </a:ln>
        </p:spPr>
      </p:sp>
      <p:sp>
        <p:nvSpPr>
          <p:cNvPr id="31" name="Text 29"/>
          <p:cNvSpPr/>
          <p:nvPr/>
        </p:nvSpPr>
        <p:spPr>
          <a:xfrm>
            <a:off x="711200" y="3964716"/>
            <a:ext cx="1308100" cy="583605"/>
          </a:xfrm>
          <a:prstGeom prst="rect">
            <a:avLst/>
          </a:prstGeom>
          <a:noFill/>
          <a:ln/>
        </p:spPr>
        <p:txBody>
          <a:bodyPr wrap="square" lIns="0" tIns="0" rIns="0" bIns="0" rtlCol="0" anchor="t">
            <a:normAutofit/>
          </a:bodyPr>
          <a:lstStyle/>
          <a:p>
            <a:pPr algn="l" indent="0" marL="0">
              <a:lnSpc>
                <a:spcPts val="972"/>
              </a:lnSpc>
              <a:buNone/>
            </a:pPr>
            <a:r>
              <a:rPr lang="en-US" sz="720" dirty="0">
                <a:solidFill>
                  <a:srgbClr val="14202E"/>
                </a:solidFill>
                <a:latin typeface="IBM Plex Sans" pitchFamily="34" charset="0"/>
                <a:ea typeface="IBM Plex Sans" pitchFamily="34" charset="-122"/>
                <a:cs typeface="IBM Plex Sans" pitchFamily="34" charset="-120"/>
              </a:rPr>
              <a:t>Initiated the segregation; built ACM-Dev and ACM-UAT hubs; proved it via PoC in Engineering Test; led the end-to-end pilot migration.</a:t>
            </a:r>
            <a:endParaRPr lang="en-US" sz="720" dirty="0"/>
          </a:p>
        </p:txBody>
      </p:sp>
      <p:sp>
        <p:nvSpPr>
          <p:cNvPr id="32" name="Shape 30"/>
          <p:cNvSpPr/>
          <p:nvPr/>
        </p:nvSpPr>
        <p:spPr>
          <a:xfrm>
            <a:off x="2171700" y="3887457"/>
            <a:ext cx="4654550" cy="0"/>
          </a:xfrm>
          <a:prstGeom prst="line">
            <a:avLst/>
          </a:prstGeom>
          <a:noFill/>
          <a:ln w="6350">
            <a:solidFill>
              <a:srgbClr val="D9D4C8"/>
            </a:solidFill>
            <a:prstDash val="solid"/>
          </a:ln>
        </p:spPr>
      </p:sp>
      <p:sp>
        <p:nvSpPr>
          <p:cNvPr id="33" name="Text 31"/>
          <p:cNvSpPr/>
          <p:nvPr/>
        </p:nvSpPr>
        <p:spPr>
          <a:xfrm>
            <a:off x="2171700" y="3964716"/>
            <a:ext cx="4794187" cy="583605"/>
          </a:xfrm>
          <a:prstGeom prst="rect">
            <a:avLst/>
          </a:prstGeom>
          <a:noFill/>
          <a:ln/>
        </p:spPr>
        <p:txBody>
          <a:bodyPr wrap="square" lIns="0" tIns="0" rIns="0" bIns="0" rtlCol="0" anchor="t">
            <a:normAutofit/>
          </a:bodyPr>
          <a:lstStyle/>
          <a:p>
            <a:pPr algn="l" indent="0" marL="0">
              <a:lnSpc>
                <a:spcPts val="1585"/>
              </a:lnSpc>
              <a:buNone/>
            </a:pPr>
            <a:r>
              <a:rPr lang="en-US" sz="1174" dirty="0">
                <a:solidFill>
                  <a:srgbClr val="14202E"/>
                </a:solidFill>
                <a:latin typeface="IBM Plex Sans" pitchFamily="34" charset="0"/>
                <a:ea typeface="IBM Plex Sans" pitchFamily="34" charset="-122"/>
                <a:cs typeface="IBM Plex Sans" pitchFamily="34" charset="-120"/>
              </a:rPr>
              <a:t>Led cleanup of 400+ policies; audited and remediated 70+; migrated local policies to ArgoCD GitOps; consolidated Trident storage policies.</a:t>
            </a:r>
            <a:endParaRPr lang="en-US" sz="1174" dirty="0"/>
          </a:p>
        </p:txBody>
      </p:sp>
      <p:sp>
        <p:nvSpPr>
          <p:cNvPr id="34" name="Shape 32"/>
          <p:cNvSpPr/>
          <p:nvPr/>
        </p:nvSpPr>
        <p:spPr>
          <a:xfrm>
            <a:off x="6826250" y="3887457"/>
            <a:ext cx="4654550" cy="0"/>
          </a:xfrm>
          <a:prstGeom prst="line">
            <a:avLst/>
          </a:prstGeom>
          <a:noFill/>
          <a:ln w="6350">
            <a:solidFill>
              <a:srgbClr val="D9D4C8"/>
            </a:solidFill>
            <a:prstDash val="solid"/>
          </a:ln>
        </p:spPr>
      </p:sp>
      <p:sp>
        <p:nvSpPr>
          <p:cNvPr id="35" name="Text 33"/>
          <p:cNvSpPr/>
          <p:nvPr/>
        </p:nvSpPr>
        <p:spPr>
          <a:xfrm>
            <a:off x="6826250" y="3964716"/>
            <a:ext cx="4637215" cy="223507"/>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A4520F"/>
                </a:solidFill>
                <a:latin typeface="IBM Plex Sans" pitchFamily="34" charset="0"/>
                <a:ea typeface="IBM Plex Sans" pitchFamily="34" charset="-122"/>
                <a:cs typeface="IBM Plex Sans" pitchFamily="34" charset="-120"/>
              </a:rPr>
              <a:t>Divisional impact</a:t>
            </a:r>
            <a:endParaRPr lang="en-US" sz="1200" dirty="0"/>
          </a:p>
        </p:txBody>
      </p:sp>
      <p:sp>
        <p:nvSpPr>
          <p:cNvPr id="36" name="Shape 34"/>
          <p:cNvSpPr/>
          <p:nvPr/>
        </p:nvSpPr>
        <p:spPr>
          <a:xfrm>
            <a:off x="711200" y="4602296"/>
            <a:ext cx="1460500" cy="0"/>
          </a:xfrm>
          <a:prstGeom prst="line">
            <a:avLst/>
          </a:prstGeom>
          <a:noFill/>
          <a:ln w="6350">
            <a:solidFill>
              <a:srgbClr val="D9D4C8"/>
            </a:solidFill>
            <a:prstDash val="solid"/>
          </a:ln>
        </p:spPr>
      </p:sp>
      <p:sp>
        <p:nvSpPr>
          <p:cNvPr id="37" name="Text 35"/>
          <p:cNvSpPr/>
          <p:nvPr/>
        </p:nvSpPr>
        <p:spPr>
          <a:xfrm>
            <a:off x="711200" y="4679553"/>
            <a:ext cx="1308100" cy="583605"/>
          </a:xfrm>
          <a:prstGeom prst="rect">
            <a:avLst/>
          </a:prstGeom>
          <a:noFill/>
          <a:ln/>
        </p:spPr>
        <p:txBody>
          <a:bodyPr wrap="square" lIns="0" tIns="0" rIns="0" bIns="0" rtlCol="0" anchor="t">
            <a:normAutofit/>
          </a:bodyPr>
          <a:lstStyle/>
          <a:p>
            <a:pPr algn="l" indent="0" marL="0">
              <a:lnSpc>
                <a:spcPts val="1104"/>
              </a:lnSpc>
              <a:buNone/>
            </a:pPr>
            <a:r>
              <a:rPr lang="en-US" sz="817" b="1" dirty="0">
                <a:solidFill>
                  <a:srgbClr val="14202E"/>
                </a:solidFill>
                <a:latin typeface="IBM Plex Sans" pitchFamily="34" charset="0"/>
                <a:ea typeface="IBM Plex Sans" pitchFamily="34" charset="-122"/>
                <a:cs typeface="IBM Plex Sans" pitchFamily="34" charset="-120"/>
              </a:rPr>
              <a:t>Critical stability risk removed for production across all 36 Fabric clusters.</a:t>
            </a:r>
            <a:endParaRPr lang="en-US" sz="817" dirty="0"/>
          </a:p>
        </p:txBody>
      </p:sp>
      <p:sp>
        <p:nvSpPr>
          <p:cNvPr id="38" name="Shape 36"/>
          <p:cNvSpPr/>
          <p:nvPr/>
        </p:nvSpPr>
        <p:spPr>
          <a:xfrm>
            <a:off x="2171700" y="4602296"/>
            <a:ext cx="4654550" cy="0"/>
          </a:xfrm>
          <a:prstGeom prst="line">
            <a:avLst/>
          </a:prstGeom>
          <a:noFill/>
          <a:ln w="6350">
            <a:solidFill>
              <a:srgbClr val="D9D4C8"/>
            </a:solidFill>
            <a:prstDash val="solid"/>
          </a:ln>
        </p:spPr>
      </p:sp>
      <p:sp>
        <p:nvSpPr>
          <p:cNvPr id="39" name="Text 37"/>
          <p:cNvSpPr/>
          <p:nvPr/>
        </p:nvSpPr>
        <p:spPr>
          <a:xfrm>
            <a:off x="2171700" y="4679553"/>
            <a:ext cx="4794187"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02E"/>
                </a:solidFill>
                <a:latin typeface="IBM Plex Sans" pitchFamily="34" charset="0"/>
                <a:ea typeface="IBM Plex Sans" pitchFamily="34" charset="-122"/>
                <a:cs typeface="IBM Plex Sans" pitchFamily="34" charset="-120"/>
              </a:rPr>
              <a:t>Stability restored, drift reduced and security compliance improved across 36 managed clusters.</a:t>
            </a:r>
            <a:endParaRPr lang="en-US" sz="1200" dirty="0"/>
          </a:p>
        </p:txBody>
      </p:sp>
      <p:sp>
        <p:nvSpPr>
          <p:cNvPr id="40" name="Shape 38"/>
          <p:cNvSpPr/>
          <p:nvPr/>
        </p:nvSpPr>
        <p:spPr>
          <a:xfrm>
            <a:off x="711200" y="5618758"/>
            <a:ext cx="10769600" cy="426442"/>
          </a:xfrm>
          <a:prstGeom prst="roundRect">
            <a:avLst>
              <a:gd name="adj" fmla="val 5956"/>
            </a:avLst>
          </a:prstGeom>
          <a:solidFill>
            <a:srgbClr val="F3E6D8"/>
          </a:solidFill>
          <a:ln/>
        </p:spPr>
      </p:sp>
      <p:sp>
        <p:nvSpPr>
          <p:cNvPr id="41" name="Shape 39"/>
          <p:cNvSpPr/>
          <p:nvPr/>
        </p:nvSpPr>
        <p:spPr>
          <a:xfrm>
            <a:off x="711200" y="5618758"/>
            <a:ext cx="10769600" cy="426442"/>
          </a:xfrm>
          <a:custGeom>
            <a:avLst/>
            <a:gdLst/>
            <a:ahLst/>
            <a:cxnLst/>
            <a:rect l="l" t="t" r="r" b="b"/>
            <a:pathLst>
              <a:path w="10769600" h="426442">
                <a:moveTo>
                  <a:pt x="38100" y="426442"/>
                </a:moveTo>
                <a:lnTo>
                  <a:pt x="25400" y="426442"/>
                </a:lnTo>
                <a:arcTo hR="25400" wR="25400" stAng="5400000" swAng="5400000"/>
                <a:lnTo>
                  <a:pt x="0" y="25400"/>
                </a:lnTo>
                <a:arcTo hR="25400" wR="25400" stAng="10800000" swAng="5400000"/>
                <a:lnTo>
                  <a:pt x="38100" y="0"/>
                </a:lnTo>
                <a:lnTo>
                  <a:pt x="38100" y="426442"/>
                </a:lnTo>
                <a:close/>
              </a:path>
            </a:pathLst>
          </a:custGeom>
          <a:solidFill>
            <a:srgbClr val="A4520F"/>
          </a:solidFill>
          <a:ln/>
        </p:spPr>
      </p:sp>
      <p:sp>
        <p:nvSpPr>
          <p:cNvPr id="42" name="Text 40"/>
          <p:cNvSpPr/>
          <p:nvPr/>
        </p:nvSpPr>
        <p:spPr>
          <a:xfrm>
            <a:off x="927100" y="5725319"/>
            <a:ext cx="149840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20F"/>
                </a:solidFill>
                <a:latin typeface="IBM Plex Sans" pitchFamily="34" charset="0"/>
                <a:ea typeface="IBM Plex Sans" pitchFamily="34" charset="-122"/>
                <a:cs typeface="IBM Plex Sans" pitchFamily="34" charset="-120"/>
              </a:rPr>
              <a:t>Why this is Level 4</a:t>
            </a:r>
            <a:endParaRPr lang="en-US" sz="1200" dirty="0"/>
          </a:p>
        </p:txBody>
      </p:sp>
      <p:sp>
        <p:nvSpPr>
          <p:cNvPr id="43" name="Text 41"/>
          <p:cNvSpPr/>
          <p:nvPr/>
        </p:nvSpPr>
        <p:spPr>
          <a:xfrm>
            <a:off x="2425502" y="5626298"/>
            <a:ext cx="9143823"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I integrated Business, Product, Operations, Customer Success and Architecture perspectives into one long-term control-plane model, went after root causes rather than symptoms, and the impact is divisional — all 36 Fabric clusters.</a:t>
            </a:r>
            <a:endParaRPr lang="en-US" sz="1200" dirty="0"/>
          </a:p>
        </p:txBody>
      </p:sp>
      <p:sp>
        <p:nvSpPr>
          <p:cNvPr id="44" name="Text 42"/>
          <p:cNvSpPr/>
          <p:nvPr/>
        </p:nvSpPr>
        <p:spPr>
          <a:xfrm>
            <a:off x="711200" y="6126559"/>
            <a:ext cx="1061611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ECDF · THINKS · ~6 min · Evidence: Jira, strategy slides, CRs, stakeholder emails, Confluence pilot docs, GitOps PRs · Boundary: hub topology sits under DESIGNS</a:t>
            </a:r>
            <a:endParaRPr lang="en-US" sz="1200" dirty="0"/>
          </a:p>
        </p:txBody>
      </p:sp>
      <p:sp>
        <p:nvSpPr>
          <p:cNvPr id="45" name="Text 43"/>
          <p:cNvSpPr/>
          <p:nvPr/>
        </p:nvSpPr>
        <p:spPr>
          <a:xfrm>
            <a:off x="11018110" y="6126559"/>
            <a:ext cx="51349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04 / 14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711200" y="406400"/>
            <a:ext cx="1027179" cy="289520"/>
          </a:xfrm>
          <a:prstGeom prst="roundRect">
            <a:avLst>
              <a:gd name="adj" fmla="val 13160"/>
            </a:avLst>
          </a:prstGeom>
          <a:solidFill>
            <a:srgbClr val="1F5FAF"/>
          </a:solidFill>
          <a:ln/>
        </p:spPr>
        <p:txBody>
          <a:bodyPr wrap="none" lIns="0" tIns="0" rIns="0" bIns="0" rtlCol="0" anchor="ctr">
            <a:normAutofit/>
          </a:bodyPr>
          <a:lstStyle/>
          <a:p>
            <a:pPr algn="ctr" indent="0" marL="0">
              <a:lnSpc>
                <a:spcPts val="1680"/>
              </a:lnSpc>
              <a:buNone/>
            </a:pPr>
            <a:r>
              <a:rPr lang="en-US" sz="1200" b="1" spc="150" kern="0" dirty="0">
                <a:solidFill>
                  <a:srgbClr val="FBFAF6"/>
                </a:solidFill>
                <a:latin typeface="IBM Plex Sans" pitchFamily="34" charset="0"/>
                <a:ea typeface="IBM Plex Sans" pitchFamily="34" charset="-122"/>
                <a:cs typeface="IBM Plex Sans" pitchFamily="34" charset="-120"/>
              </a:rPr>
              <a:t>DESIGNS</a:t>
            </a:r>
            <a:endParaRPr lang="en-US" sz="1200" dirty="0"/>
          </a:p>
        </p:txBody>
      </p:sp>
      <p:sp>
        <p:nvSpPr>
          <p:cNvPr id="3" name="Text 1"/>
          <p:cNvSpPr/>
          <p:nvPr/>
        </p:nvSpPr>
        <p:spPr>
          <a:xfrm>
            <a:off x="1865379" y="444500"/>
            <a:ext cx="220233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F"/>
                </a:solidFill>
                <a:latin typeface="IBM Plex Sans" pitchFamily="34" charset="0"/>
                <a:ea typeface="IBM Plex Sans" pitchFamily="34" charset="-122"/>
                <a:cs typeface="IBM Plex Sans" pitchFamily="34" charset="-120"/>
              </a:rPr>
              <a:t>Required: Level 3 · Skilled</a:t>
            </a:r>
            <a:endParaRPr lang="en-US" sz="1200" dirty="0"/>
          </a:p>
        </p:txBody>
      </p:sp>
      <p:sp>
        <p:nvSpPr>
          <p:cNvPr id="4" name="Text 2"/>
          <p:cNvSpPr/>
          <p:nvPr/>
        </p:nvSpPr>
        <p:spPr>
          <a:xfrm>
            <a:off x="10214637" y="444500"/>
            <a:ext cx="15193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Evidence 2.1 – 2.4</a:t>
            </a:r>
            <a:endParaRPr lang="en-US" sz="1200" dirty="0"/>
          </a:p>
        </p:txBody>
      </p:sp>
      <p:sp>
        <p:nvSpPr>
          <p:cNvPr id="5" name="Text 3"/>
          <p:cNvSpPr/>
          <p:nvPr>
            <p:ph type="title"/>
          </p:nvPr>
        </p:nvSpPr>
        <p:spPr>
          <a:xfrm>
            <a:off x="711200" y="848320"/>
            <a:ext cx="11092688" cy="751814"/>
          </a:xfrm>
          <a:prstGeom prst="rect">
            <a:avLst/>
          </a:prstGeom>
          <a:noFill/>
          <a:ln/>
        </p:spPr>
        <p:txBody>
          <a:bodyPr wrap="square" lIns="0" tIns="0" rIns="0" bIns="0" rtlCol="0" anchor="t">
            <a:normAutofit/>
          </a:bodyPr>
          <a:lstStyle/>
          <a:p>
            <a:pPr algn="l" indent="0" marL="0">
              <a:lnSpc>
                <a:spcPts val="2860"/>
              </a:lnSpc>
              <a:buNone/>
            </a:pPr>
            <a:r>
              <a:rPr lang="en-US" sz="2600" b="0" i="0" dirty="0">
                <a:solidFill>
                  <a:srgbClr val="14202E"/>
                </a:solidFill>
                <a:latin typeface="Source Serif 4" pitchFamily="18" charset="0"/>
                <a:ea typeface="Source Serif 4" pitchFamily="18" charset="-122"/>
                <a:cs typeface="Source Serif 4" pitchFamily="18" charset="-120"/>
              </a:rPr>
              <a:t>I autonomously translate complex requirements into secure, scalable architectures</a:t>
            </a:r>
            <a:endParaRPr lang="en-US" sz="2600" dirty="0"/>
          </a:p>
        </p:txBody>
      </p:sp>
      <p:sp>
        <p:nvSpPr>
          <p:cNvPr id="6" name="Shape 4"/>
          <p:cNvSpPr/>
          <p:nvPr/>
        </p:nvSpPr>
        <p:spPr>
          <a:xfrm>
            <a:off x="714375" y="1730310"/>
            <a:ext cx="2571750" cy="3519289"/>
          </a:xfrm>
          <a:prstGeom prst="roundRect">
            <a:avLst>
              <a:gd name="adj" fmla="val 2840"/>
            </a:avLst>
          </a:prstGeom>
          <a:solidFill>
            <a:srgbClr val="FBFAF6"/>
          </a:solidFill>
          <a:ln w="6350">
            <a:solidFill>
              <a:srgbClr val="D9D4C8"/>
            </a:solidFill>
            <a:prstDash val="solid"/>
          </a:ln>
        </p:spPr>
      </p:sp>
      <p:sp>
        <p:nvSpPr>
          <p:cNvPr id="7" name="Text 5"/>
          <p:cNvSpPr/>
          <p:nvPr/>
        </p:nvSpPr>
        <p:spPr>
          <a:xfrm>
            <a:off x="893233" y="1896467"/>
            <a:ext cx="2280454" cy="183092"/>
          </a:xfrm>
          <a:prstGeom prst="rect">
            <a:avLst/>
          </a:prstGeom>
          <a:noFill/>
          <a:ln/>
        </p:spPr>
        <p:txBody>
          <a:bodyPr wrap="square" lIns="0" tIns="0" rIns="0" bIns="0" rtlCol="0" anchor="t">
            <a:normAutofit/>
          </a:bodyPr>
          <a:lstStyle/>
          <a:p>
            <a:pPr algn="l" indent="0" marL="0">
              <a:lnSpc>
                <a:spcPts val="1270"/>
              </a:lnSpc>
              <a:buNone/>
            </a:pPr>
            <a:r>
              <a:rPr lang="en-US" sz="907" b="1" spc="100" kern="0" dirty="0">
                <a:solidFill>
                  <a:srgbClr val="1F5FAF"/>
                </a:solidFill>
                <a:latin typeface="IBM Plex Sans" pitchFamily="34" charset="0"/>
                <a:ea typeface="IBM Plex Sans" pitchFamily="34" charset="-122"/>
                <a:cs typeface="IBM Plex Sans" pitchFamily="34" charset="-120"/>
              </a:rPr>
              <a:t>2.1</a:t>
            </a:r>
            <a:endParaRPr lang="en-US" sz="907" dirty="0"/>
          </a:p>
        </p:txBody>
      </p:sp>
      <p:sp>
        <p:nvSpPr>
          <p:cNvPr id="8" name="Text 6"/>
          <p:cNvSpPr/>
          <p:nvPr/>
        </p:nvSpPr>
        <p:spPr>
          <a:xfrm>
            <a:off x="893233" y="2117660"/>
            <a:ext cx="2280454" cy="340717"/>
          </a:xfrm>
          <a:prstGeom prst="rect">
            <a:avLst/>
          </a:prstGeom>
          <a:noFill/>
          <a:ln/>
        </p:spPr>
        <p:txBody>
          <a:bodyPr wrap="square" lIns="0" tIns="0" rIns="0" bIns="0" rtlCol="0" anchor="t">
            <a:normAutofit/>
          </a:bodyPr>
          <a:lstStyle/>
          <a:p>
            <a:pPr algn="l" indent="0" marL="0">
              <a:lnSpc>
                <a:spcPts val="1260"/>
              </a:lnSpc>
              <a:buNone/>
            </a:pPr>
            <a:r>
              <a:rPr lang="en-US" sz="1050" b="1" dirty="0">
                <a:solidFill>
                  <a:srgbClr val="14202E"/>
                </a:solidFill>
                <a:latin typeface="Source Serif 4" pitchFamily="18" charset="0"/>
                <a:ea typeface="Source Serif 4" pitchFamily="18" charset="-122"/>
                <a:cs typeface="Source Serif 4" pitchFamily="18" charset="-120"/>
              </a:rPr>
              <a:t>Non-Production ACM Hub Architecture</a:t>
            </a:r>
            <a:endParaRPr lang="en-US" sz="1050" dirty="0"/>
          </a:p>
        </p:txBody>
      </p:sp>
      <p:sp>
        <p:nvSpPr>
          <p:cNvPr id="9" name="Text 7"/>
          <p:cNvSpPr/>
          <p:nvPr/>
        </p:nvSpPr>
        <p:spPr>
          <a:xfrm>
            <a:off x="893233" y="2496477"/>
            <a:ext cx="2280454" cy="183092"/>
          </a:xfrm>
          <a:prstGeom prst="rect">
            <a:avLst/>
          </a:prstGeom>
          <a:noFill/>
          <a:ln/>
        </p:spPr>
        <p:txBody>
          <a:bodyPr wrap="square" lIns="0" tIns="0" rIns="0" bIns="0" rtlCol="0" anchor="t">
            <a:normAutofit/>
          </a:bodyPr>
          <a:lstStyle/>
          <a:p>
            <a:pPr algn="l" indent="0" marL="0">
              <a:lnSpc>
                <a:spcPts val="1270"/>
              </a:lnSpc>
              <a:buNone/>
            </a:pPr>
            <a:r>
              <a:rPr lang="en-US" sz="907" b="1" spc="100" kern="0" dirty="0">
                <a:solidFill>
                  <a:srgbClr val="5A6472"/>
                </a:solidFill>
                <a:latin typeface="IBM Plex Sans" pitchFamily="34" charset="0"/>
                <a:ea typeface="IBM Plex Sans" pitchFamily="34" charset="-122"/>
                <a:cs typeface="IBM Plex Sans" pitchFamily="34" charset="-120"/>
              </a:rPr>
              <a:t>I DESIGNED</a:t>
            </a:r>
            <a:endParaRPr lang="en-US" sz="907" dirty="0"/>
          </a:p>
        </p:txBody>
      </p:sp>
      <p:sp>
        <p:nvSpPr>
          <p:cNvPr id="10" name="Text 8"/>
          <p:cNvSpPr/>
          <p:nvPr/>
        </p:nvSpPr>
        <p:spPr>
          <a:xfrm>
            <a:off x="893233" y="2717670"/>
            <a:ext cx="2280454" cy="785614"/>
          </a:xfrm>
          <a:prstGeom prst="rect">
            <a:avLst/>
          </a:prstGeom>
          <a:noFill/>
          <a:ln/>
        </p:spPr>
        <p:txBody>
          <a:bodyPr wrap="square" lIns="0" tIns="0" rIns="0" bIns="0" rtlCol="0" anchor="t">
            <a:normAutofit/>
          </a:bodyPr>
          <a:lstStyle/>
          <a:p>
            <a:pPr algn="l" indent="0" marL="0">
              <a:lnSpc>
                <a:spcPts val="1352"/>
              </a:lnSpc>
              <a:buNone/>
            </a:pPr>
            <a:r>
              <a:rPr lang="en-US" sz="1001" dirty="0">
                <a:solidFill>
                  <a:srgbClr val="14202E"/>
                </a:solidFill>
                <a:latin typeface="IBM Plex Sans" pitchFamily="34" charset="0"/>
                <a:ea typeface="IBM Plex Sans" pitchFamily="34" charset="-122"/>
                <a:cs typeface="IBM Plex Sans" pitchFamily="34" charset="-120"/>
              </a:rPr>
              <a:t>The evolved three-hub model (ACM-Dev → UAT → Prod), its code-promotion branching strategy and updated policy workflows across hubs.</a:t>
            </a:r>
            <a:endParaRPr lang="en-US" sz="1001" dirty="0"/>
          </a:p>
        </p:txBody>
      </p:sp>
      <p:sp>
        <p:nvSpPr>
          <p:cNvPr id="11" name="Text 9"/>
          <p:cNvSpPr/>
          <p:nvPr/>
        </p:nvSpPr>
        <p:spPr>
          <a:xfrm>
            <a:off x="893233" y="3541384"/>
            <a:ext cx="2280454" cy="183092"/>
          </a:xfrm>
          <a:prstGeom prst="rect">
            <a:avLst/>
          </a:prstGeom>
          <a:noFill/>
          <a:ln/>
        </p:spPr>
        <p:txBody>
          <a:bodyPr wrap="square" lIns="0" tIns="0" rIns="0" bIns="0" rtlCol="0" anchor="t">
            <a:normAutofit/>
          </a:bodyPr>
          <a:lstStyle/>
          <a:p>
            <a:pPr algn="l" indent="0" marL="0">
              <a:lnSpc>
                <a:spcPts val="1270"/>
              </a:lnSpc>
              <a:buNone/>
            </a:pPr>
            <a:r>
              <a:rPr lang="en-US" sz="907" b="1" spc="100" kern="0" dirty="0">
                <a:solidFill>
                  <a:srgbClr val="5A6472"/>
                </a:solidFill>
                <a:latin typeface="IBM Plex Sans" pitchFamily="34" charset="0"/>
                <a:ea typeface="IBM Plex Sans" pitchFamily="34" charset="-122"/>
                <a:cs typeface="IBM Plex Sans" pitchFamily="34" charset="-120"/>
              </a:rPr>
              <a:t>OUTCOME</a:t>
            </a:r>
            <a:endParaRPr lang="en-US" sz="907" dirty="0"/>
          </a:p>
        </p:txBody>
      </p:sp>
      <p:sp>
        <p:nvSpPr>
          <p:cNvPr id="12" name="Text 10"/>
          <p:cNvSpPr/>
          <p:nvPr/>
        </p:nvSpPr>
        <p:spPr>
          <a:xfrm>
            <a:off x="893233" y="3762573"/>
            <a:ext cx="2280454" cy="633545"/>
          </a:xfrm>
          <a:prstGeom prst="rect">
            <a:avLst/>
          </a:prstGeom>
          <a:noFill/>
          <a:ln/>
        </p:spPr>
        <p:txBody>
          <a:bodyPr wrap="square" lIns="0" tIns="0" rIns="0" bIns="0" rtlCol="0" anchor="t">
            <a:normAutofit/>
          </a:bodyPr>
          <a:lstStyle/>
          <a:p>
            <a:pPr algn="l" indent="0" marL="0">
              <a:lnSpc>
                <a:spcPts val="1509"/>
              </a:lnSpc>
              <a:buNone/>
            </a:pPr>
            <a:r>
              <a:rPr lang="en-US" sz="1118" b="1" dirty="0">
                <a:solidFill>
                  <a:srgbClr val="14202E"/>
                </a:solidFill>
                <a:latin typeface="IBM Plex Sans" pitchFamily="34" charset="0"/>
                <a:ea typeface="IBM Plex Sans" pitchFamily="34" charset="-122"/>
                <a:cs typeface="IBM Plex Sans" pitchFamily="34" charset="-120"/>
              </a:rPr>
              <a:t>Secure, segregated control plane; standardized code promotion across the cluster suite.</a:t>
            </a:r>
            <a:endParaRPr lang="en-US" sz="1118" dirty="0"/>
          </a:p>
        </p:txBody>
      </p:sp>
      <p:sp>
        <p:nvSpPr>
          <p:cNvPr id="13" name="Text 11"/>
          <p:cNvSpPr/>
          <p:nvPr/>
        </p:nvSpPr>
        <p:spPr>
          <a:xfrm>
            <a:off x="893233" y="4497719"/>
            <a:ext cx="2280454" cy="611121"/>
          </a:xfrm>
          <a:prstGeom prst="rect">
            <a:avLst/>
          </a:prstGeom>
          <a:noFill/>
          <a:ln/>
        </p:spPr>
        <p:txBody>
          <a:bodyPr wrap="square" lIns="0" tIns="0" rIns="0" bIns="0" rtlCol="0" anchor="t">
            <a:normAutofit/>
          </a:bodyPr>
          <a:lstStyle/>
          <a:p>
            <a:pPr algn="l" indent="0" marL="0">
              <a:lnSpc>
                <a:spcPts val="1341"/>
              </a:lnSpc>
              <a:buNone/>
            </a:pPr>
            <a:r>
              <a:rPr lang="en-US" sz="1031" b="1" dirty="0">
                <a:solidFill>
                  <a:srgbClr val="5A6472"/>
                </a:solidFill>
                <a:latin typeface="IBM Plex Sans" pitchFamily="34" charset="0"/>
                <a:ea typeface="IBM Plex Sans" pitchFamily="34" charset="-122"/>
                <a:cs typeface="IBM Plex Sans" pitchFamily="34" charset="-120"/>
              </a:rPr>
              <a:t>Evidence:</a:t>
            </a:r>
            <a:r>
              <a:rPr lang="en-US" sz="1031" dirty="0">
                <a:solidFill>
                  <a:srgbClr val="5A6472"/>
                </a:solidFill>
                <a:latin typeface="IBM Plex Sans" pitchFamily="34" charset="0"/>
                <a:ea typeface="IBM Plex Sans" pitchFamily="34" charset="-122"/>
                <a:cs typeface="IBM Plex Sans" pitchFamily="34" charset="-120"/>
              </a:rPr>
              <a:t> Confluence architecture page, topology, branching strategy; approved by Team Lead and Architect</a:t>
            </a:r>
            <a:endParaRPr lang="en-US" sz="1031" dirty="0"/>
          </a:p>
        </p:txBody>
      </p:sp>
      <p:sp>
        <p:nvSpPr>
          <p:cNvPr id="14" name="Shape 12"/>
          <p:cNvSpPr/>
          <p:nvPr/>
        </p:nvSpPr>
        <p:spPr>
          <a:xfrm>
            <a:off x="3444875" y="1730310"/>
            <a:ext cx="2571750" cy="3519289"/>
          </a:xfrm>
          <a:prstGeom prst="roundRect">
            <a:avLst>
              <a:gd name="adj" fmla="val 2840"/>
            </a:avLst>
          </a:prstGeom>
          <a:solidFill>
            <a:srgbClr val="FBFAF6"/>
          </a:solidFill>
          <a:ln w="6350">
            <a:solidFill>
              <a:srgbClr val="D9D4C8"/>
            </a:solidFill>
            <a:prstDash val="solid"/>
          </a:ln>
        </p:spPr>
      </p:sp>
      <p:sp>
        <p:nvSpPr>
          <p:cNvPr id="15" name="Text 13"/>
          <p:cNvSpPr/>
          <p:nvPr/>
        </p:nvSpPr>
        <p:spPr>
          <a:xfrm>
            <a:off x="3623733" y="1896467"/>
            <a:ext cx="2280454" cy="213585"/>
          </a:xfrm>
          <a:prstGeom prst="rect">
            <a:avLst/>
          </a:prstGeom>
          <a:noFill/>
          <a:ln/>
        </p:spPr>
        <p:txBody>
          <a:bodyPr wrap="square" lIns="0" tIns="0" rIns="0" bIns="0" rtlCol="0" anchor="t">
            <a:normAutofit/>
          </a:bodyPr>
          <a:lstStyle/>
          <a:p>
            <a:pPr algn="l" indent="0" marL="0">
              <a:lnSpc>
                <a:spcPts val="1523"/>
              </a:lnSpc>
              <a:buNone/>
            </a:pPr>
            <a:r>
              <a:rPr lang="en-US" sz="1088" b="1" spc="100" kern="0" dirty="0">
                <a:solidFill>
                  <a:srgbClr val="1F5FAF"/>
                </a:solidFill>
                <a:latin typeface="IBM Plex Sans" pitchFamily="34" charset="0"/>
                <a:ea typeface="IBM Plex Sans" pitchFamily="34" charset="-122"/>
                <a:cs typeface="IBM Plex Sans" pitchFamily="34" charset="-120"/>
              </a:rPr>
              <a:t>2.2</a:t>
            </a:r>
            <a:endParaRPr lang="en-US" sz="1088" dirty="0"/>
          </a:p>
        </p:txBody>
      </p:sp>
      <p:sp>
        <p:nvSpPr>
          <p:cNvPr id="16" name="Text 14"/>
          <p:cNvSpPr/>
          <p:nvPr/>
        </p:nvSpPr>
        <p:spPr>
          <a:xfrm>
            <a:off x="3623733" y="2148154"/>
            <a:ext cx="2280454" cy="401836"/>
          </a:xfrm>
          <a:prstGeom prst="rect">
            <a:avLst/>
          </a:prstGeom>
          <a:noFill/>
          <a:ln/>
        </p:spPr>
        <p:txBody>
          <a:bodyPr wrap="square" lIns="0" tIns="0" rIns="0" bIns="0" rtlCol="0" anchor="t">
            <a:normAutofit/>
          </a:bodyPr>
          <a:lstStyle/>
          <a:p>
            <a:pPr algn="l" indent="0" marL="0">
              <a:lnSpc>
                <a:spcPts val="1486"/>
              </a:lnSpc>
              <a:buNone/>
            </a:pPr>
            <a:r>
              <a:rPr lang="en-US" sz="1238" b="1" dirty="0">
                <a:solidFill>
                  <a:srgbClr val="14202E"/>
                </a:solidFill>
                <a:latin typeface="Source Serif 4" pitchFamily="18" charset="0"/>
                <a:ea typeface="Source Serif 4" pitchFamily="18" charset="-122"/>
                <a:cs typeface="Source Serif 4" pitchFamily="18" charset="-120"/>
              </a:rPr>
              <a:t>Multi-Repo Fabric Landing Zone</a:t>
            </a:r>
            <a:endParaRPr lang="en-US" sz="1238" dirty="0"/>
          </a:p>
        </p:txBody>
      </p:sp>
      <p:sp>
        <p:nvSpPr>
          <p:cNvPr id="17" name="Text 15"/>
          <p:cNvSpPr/>
          <p:nvPr/>
        </p:nvSpPr>
        <p:spPr>
          <a:xfrm>
            <a:off x="3623733" y="2588090"/>
            <a:ext cx="2280454" cy="213585"/>
          </a:xfrm>
          <a:prstGeom prst="rect">
            <a:avLst/>
          </a:prstGeom>
          <a:noFill/>
          <a:ln/>
        </p:spPr>
        <p:txBody>
          <a:bodyPr wrap="square" lIns="0" tIns="0" rIns="0" bIns="0" rtlCol="0" anchor="t">
            <a:normAutofit/>
          </a:bodyPr>
          <a:lstStyle/>
          <a:p>
            <a:pPr algn="l" indent="0" marL="0">
              <a:lnSpc>
                <a:spcPts val="1523"/>
              </a:lnSpc>
              <a:buNone/>
            </a:pPr>
            <a:r>
              <a:rPr lang="en-US" sz="1088" b="1" spc="100" kern="0" dirty="0">
                <a:solidFill>
                  <a:srgbClr val="5A6472"/>
                </a:solidFill>
                <a:latin typeface="IBM Plex Sans" pitchFamily="34" charset="0"/>
                <a:ea typeface="IBM Plex Sans" pitchFamily="34" charset="-122"/>
                <a:cs typeface="IBM Plex Sans" pitchFamily="34" charset="-120"/>
              </a:rPr>
              <a:t>I DESIGNED</a:t>
            </a:r>
            <a:endParaRPr lang="en-US" sz="1088" dirty="0"/>
          </a:p>
        </p:txBody>
      </p:sp>
      <p:sp>
        <p:nvSpPr>
          <p:cNvPr id="18" name="Text 16"/>
          <p:cNvSpPr/>
          <p:nvPr/>
        </p:nvSpPr>
        <p:spPr>
          <a:xfrm>
            <a:off x="3623733" y="2839774"/>
            <a:ext cx="2280454" cy="932855"/>
          </a:xfrm>
          <a:prstGeom prst="rect">
            <a:avLst/>
          </a:prstGeom>
          <a:noFill/>
          <a:ln/>
        </p:spPr>
        <p:txBody>
          <a:bodyPr wrap="square" lIns="0" tIns="0" rIns="0" bIns="0" rtlCol="0" anchor="t">
            <a:normAutofit/>
          </a:bodyPr>
          <a:lstStyle/>
          <a:p>
            <a:pPr algn="l" indent="0" marL="0">
              <a:lnSpc>
                <a:spcPts val="1600"/>
              </a:lnSpc>
              <a:buNone/>
            </a:pPr>
            <a:r>
              <a:rPr lang="en-US" sz="1185" dirty="0">
                <a:solidFill>
                  <a:srgbClr val="14202E"/>
                </a:solidFill>
                <a:latin typeface="IBM Plex Sans" pitchFamily="34" charset="0"/>
                <a:ea typeface="IBM Plex Sans" pitchFamily="34" charset="-122"/>
                <a:cs typeface="IBM Plex Sans" pitchFamily="34" charset="-120"/>
              </a:rPr>
              <a:t>A multi-repository codebase physically separating Engineering Test, client-facing and Management configurations.</a:t>
            </a:r>
            <a:endParaRPr lang="en-US" sz="1185" dirty="0"/>
          </a:p>
        </p:txBody>
      </p:sp>
      <p:sp>
        <p:nvSpPr>
          <p:cNvPr id="19" name="Text 17"/>
          <p:cNvSpPr/>
          <p:nvPr/>
        </p:nvSpPr>
        <p:spPr>
          <a:xfrm>
            <a:off x="3623733" y="3810729"/>
            <a:ext cx="2280454" cy="213585"/>
          </a:xfrm>
          <a:prstGeom prst="rect">
            <a:avLst/>
          </a:prstGeom>
          <a:noFill/>
          <a:ln/>
        </p:spPr>
        <p:txBody>
          <a:bodyPr wrap="square" lIns="0" tIns="0" rIns="0" bIns="0" rtlCol="0" anchor="t">
            <a:normAutofit/>
          </a:bodyPr>
          <a:lstStyle/>
          <a:p>
            <a:pPr algn="l" indent="0" marL="0">
              <a:lnSpc>
                <a:spcPts val="1523"/>
              </a:lnSpc>
              <a:buNone/>
            </a:pPr>
            <a:r>
              <a:rPr lang="en-US" sz="1088" b="1" spc="100" kern="0" dirty="0">
                <a:solidFill>
                  <a:srgbClr val="5A6472"/>
                </a:solidFill>
                <a:latin typeface="IBM Plex Sans" pitchFamily="34" charset="0"/>
                <a:ea typeface="IBM Plex Sans" pitchFamily="34" charset="-122"/>
                <a:cs typeface="IBM Plex Sans" pitchFamily="34" charset="-120"/>
              </a:rPr>
              <a:t>OUTCOME</a:t>
            </a:r>
            <a:endParaRPr lang="en-US" sz="1088" dirty="0"/>
          </a:p>
        </p:txBody>
      </p:sp>
      <p:sp>
        <p:nvSpPr>
          <p:cNvPr id="20" name="Text 18"/>
          <p:cNvSpPr/>
          <p:nvPr/>
        </p:nvSpPr>
        <p:spPr>
          <a:xfrm>
            <a:off x="3623733" y="4062412"/>
            <a:ext cx="2280454" cy="569913"/>
          </a:xfrm>
          <a:prstGeom prst="rect">
            <a:avLst/>
          </a:prstGeom>
          <a:noFill/>
          <a:ln/>
        </p:spPr>
        <p:txBody>
          <a:bodyPr wrap="square" lIns="0" tIns="0" rIns="0" bIns="0" rtlCol="0" anchor="t">
            <a:normAutofit/>
          </a:bodyPr>
          <a:lstStyle/>
          <a:p>
            <a:pPr algn="l" indent="0" marL="0">
              <a:lnSpc>
                <a:spcPts val="1438"/>
              </a:lnSpc>
              <a:buNone/>
            </a:pPr>
            <a:r>
              <a:rPr lang="en-US" sz="1065" b="1" dirty="0">
                <a:solidFill>
                  <a:srgbClr val="14202E"/>
                </a:solidFill>
                <a:latin typeface="IBM Plex Sans" pitchFamily="34" charset="0"/>
                <a:ea typeface="IBM Plex Sans" pitchFamily="34" charset="-122"/>
                <a:cs typeface="IBM Plex Sans" pitchFamily="34" charset="-120"/>
              </a:rPr>
              <a:t>Reduced configuration drift; standardized Landing Zone operating model.</a:t>
            </a:r>
            <a:endParaRPr lang="en-US" sz="1065" dirty="0"/>
          </a:p>
        </p:txBody>
      </p:sp>
      <p:sp>
        <p:nvSpPr>
          <p:cNvPr id="21" name="Text 19"/>
          <p:cNvSpPr/>
          <p:nvPr/>
        </p:nvSpPr>
        <p:spPr>
          <a:xfrm>
            <a:off x="3623733" y="4733925"/>
            <a:ext cx="2280454" cy="374915"/>
          </a:xfrm>
          <a:prstGeom prst="rect">
            <a:avLst/>
          </a:prstGeom>
          <a:noFill/>
          <a:ln/>
        </p:spPr>
        <p:txBody>
          <a:bodyPr wrap="square" lIns="0" tIns="0" rIns="0" bIns="0" rtlCol="0" anchor="t">
            <a:normAutofit/>
          </a:bodyPr>
          <a:lstStyle/>
          <a:p>
            <a:pPr algn="l" indent="0" marL="0">
              <a:lnSpc>
                <a:spcPts val="1385"/>
              </a:lnSpc>
              <a:buNone/>
            </a:pPr>
            <a:r>
              <a:rPr lang="en-US" sz="1065" b="1" dirty="0">
                <a:solidFill>
                  <a:srgbClr val="5A6472"/>
                </a:solidFill>
                <a:latin typeface="IBM Plex Sans" pitchFamily="34" charset="0"/>
                <a:ea typeface="IBM Plex Sans" pitchFamily="34" charset="-122"/>
                <a:cs typeface="IBM Plex Sans" pitchFamily="34" charset="-120"/>
              </a:rPr>
              <a:t>Evidence:</a:t>
            </a:r>
            <a:r>
              <a:rPr lang="en-US" sz="1065" dirty="0">
                <a:solidFill>
                  <a:srgbClr val="5A6472"/>
                </a:solidFill>
                <a:latin typeface="IBM Plex Sans" pitchFamily="34" charset="0"/>
                <a:ea typeface="IBM Plex Sans" pitchFamily="34" charset="-122"/>
                <a:cs typeface="IBM Plex Sans" pitchFamily="34" charset="-120"/>
              </a:rPr>
              <a:t> Jira; Sprint-1 architecture alignment decks</a:t>
            </a:r>
            <a:endParaRPr lang="en-US" sz="1065" dirty="0"/>
          </a:p>
        </p:txBody>
      </p:sp>
      <p:sp>
        <p:nvSpPr>
          <p:cNvPr id="22" name="Shape 20"/>
          <p:cNvSpPr/>
          <p:nvPr/>
        </p:nvSpPr>
        <p:spPr>
          <a:xfrm>
            <a:off x="6175375" y="1730310"/>
            <a:ext cx="2571750" cy="3519289"/>
          </a:xfrm>
          <a:prstGeom prst="roundRect">
            <a:avLst>
              <a:gd name="adj" fmla="val 2840"/>
            </a:avLst>
          </a:prstGeom>
          <a:solidFill>
            <a:srgbClr val="FBFAF6"/>
          </a:solidFill>
          <a:ln w="6350">
            <a:solidFill>
              <a:srgbClr val="D9D4C8"/>
            </a:solidFill>
            <a:prstDash val="solid"/>
          </a:ln>
        </p:spPr>
      </p:sp>
      <p:sp>
        <p:nvSpPr>
          <p:cNvPr id="23" name="Text 21"/>
          <p:cNvSpPr/>
          <p:nvPr/>
        </p:nvSpPr>
        <p:spPr>
          <a:xfrm>
            <a:off x="6354233" y="1896467"/>
            <a:ext cx="228045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AF"/>
                </a:solidFill>
                <a:latin typeface="IBM Plex Sans" pitchFamily="34" charset="0"/>
                <a:ea typeface="IBM Plex Sans" pitchFamily="34" charset="-122"/>
                <a:cs typeface="IBM Plex Sans" pitchFamily="34" charset="-120"/>
              </a:rPr>
              <a:t>2.3</a:t>
            </a:r>
            <a:endParaRPr lang="en-US" sz="1200" dirty="0"/>
          </a:p>
        </p:txBody>
      </p:sp>
      <p:sp>
        <p:nvSpPr>
          <p:cNvPr id="24" name="Text 22"/>
          <p:cNvSpPr/>
          <p:nvPr/>
        </p:nvSpPr>
        <p:spPr>
          <a:xfrm>
            <a:off x="6354233" y="2173288"/>
            <a:ext cx="228045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Source Serif 4" pitchFamily="18" charset="0"/>
                <a:ea typeface="Source Serif 4" pitchFamily="18" charset="-122"/>
                <a:cs typeface="Source Serif 4" pitchFamily="18" charset="-120"/>
              </a:rPr>
              <a:t>Fabric ADR Governance</a:t>
            </a:r>
            <a:endParaRPr lang="en-US" sz="1400" dirty="0"/>
          </a:p>
        </p:txBody>
      </p:sp>
      <p:sp>
        <p:nvSpPr>
          <p:cNvPr id="25" name="Text 23"/>
          <p:cNvSpPr/>
          <p:nvPr/>
        </p:nvSpPr>
        <p:spPr>
          <a:xfrm>
            <a:off x="6354233" y="2450108"/>
            <a:ext cx="228045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6472"/>
                </a:solidFill>
                <a:latin typeface="IBM Plex Sans" pitchFamily="34" charset="0"/>
                <a:ea typeface="IBM Plex Sans" pitchFamily="34" charset="-122"/>
                <a:cs typeface="IBM Plex Sans" pitchFamily="34" charset="-120"/>
              </a:rPr>
              <a:t>I DESIGNED</a:t>
            </a:r>
            <a:endParaRPr lang="en-US" sz="1200" dirty="0"/>
          </a:p>
        </p:txBody>
      </p:sp>
      <p:sp>
        <p:nvSpPr>
          <p:cNvPr id="26" name="Text 24"/>
          <p:cNvSpPr/>
          <p:nvPr/>
        </p:nvSpPr>
        <p:spPr>
          <a:xfrm>
            <a:off x="6354233" y="2726928"/>
            <a:ext cx="2280454" cy="84825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Updated Fabric ADRs that set mandatory technical compliance patterns for my team and peer teams.</a:t>
            </a:r>
            <a:endParaRPr lang="en-US" sz="1200" dirty="0"/>
          </a:p>
        </p:txBody>
      </p:sp>
      <p:sp>
        <p:nvSpPr>
          <p:cNvPr id="27" name="Text 25"/>
          <p:cNvSpPr/>
          <p:nvPr/>
        </p:nvSpPr>
        <p:spPr>
          <a:xfrm>
            <a:off x="6354233" y="3613283"/>
            <a:ext cx="228045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6472"/>
                </a:solidFill>
                <a:latin typeface="IBM Plex Sans" pitchFamily="34" charset="0"/>
                <a:ea typeface="IBM Plex Sans" pitchFamily="34" charset="-122"/>
                <a:cs typeface="IBM Plex Sans" pitchFamily="34" charset="-120"/>
              </a:rPr>
              <a:t>OUTCOME</a:t>
            </a:r>
            <a:endParaRPr lang="en-US" sz="1200" dirty="0"/>
          </a:p>
        </p:txBody>
      </p:sp>
      <p:sp>
        <p:nvSpPr>
          <p:cNvPr id="28" name="Text 26"/>
          <p:cNvSpPr/>
          <p:nvPr/>
        </p:nvSpPr>
        <p:spPr>
          <a:xfrm>
            <a:off x="6354233" y="3890104"/>
            <a:ext cx="2280454" cy="64254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02E"/>
                </a:solidFill>
                <a:latin typeface="IBM Plex Sans" pitchFamily="34" charset="0"/>
                <a:ea typeface="IBM Plex Sans" pitchFamily="34" charset="-122"/>
                <a:cs typeface="IBM Plex Sans" pitchFamily="34" charset="-120"/>
              </a:rPr>
              <a:t>Unified design standards; better compliance, security and engineering quality.</a:t>
            </a:r>
            <a:endParaRPr lang="en-US" sz="1200" dirty="0"/>
          </a:p>
        </p:txBody>
      </p:sp>
      <p:sp>
        <p:nvSpPr>
          <p:cNvPr id="29" name="Text 27"/>
          <p:cNvSpPr/>
          <p:nvPr/>
        </p:nvSpPr>
        <p:spPr>
          <a:xfrm>
            <a:off x="6354233" y="4687227"/>
            <a:ext cx="2280454" cy="421614"/>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A6472"/>
                </a:solidFill>
                <a:latin typeface="IBM Plex Sans" pitchFamily="34" charset="0"/>
                <a:ea typeface="IBM Plex Sans" pitchFamily="34" charset="-122"/>
                <a:cs typeface="IBM Plex Sans" pitchFamily="34" charset="-120"/>
              </a:rPr>
              <a:t>Evidence:</a:t>
            </a:r>
            <a:r>
              <a:rPr lang="en-US" sz="1200" dirty="0">
                <a:solidFill>
                  <a:srgbClr val="5A6472"/>
                </a:solidFill>
                <a:latin typeface="IBM Plex Sans" pitchFamily="34" charset="0"/>
                <a:ea typeface="IBM Plex Sans" pitchFamily="34" charset="-122"/>
                <a:cs typeface="IBM Plex Sans" pitchFamily="34" charset="-120"/>
              </a:rPr>
              <a:t> Published ADRs; approved PRs</a:t>
            </a:r>
            <a:endParaRPr lang="en-US" sz="1200" dirty="0"/>
          </a:p>
        </p:txBody>
      </p:sp>
      <p:sp>
        <p:nvSpPr>
          <p:cNvPr id="30" name="Shape 28"/>
          <p:cNvSpPr/>
          <p:nvPr/>
        </p:nvSpPr>
        <p:spPr>
          <a:xfrm>
            <a:off x="8905875" y="1730310"/>
            <a:ext cx="2571750" cy="3519289"/>
          </a:xfrm>
          <a:prstGeom prst="roundRect">
            <a:avLst>
              <a:gd name="adj" fmla="val 2840"/>
            </a:avLst>
          </a:prstGeom>
          <a:solidFill>
            <a:srgbClr val="FBFAF6"/>
          </a:solidFill>
          <a:ln w="6350">
            <a:solidFill>
              <a:srgbClr val="D9D4C8"/>
            </a:solidFill>
            <a:prstDash val="solid"/>
          </a:ln>
        </p:spPr>
      </p:sp>
      <p:sp>
        <p:nvSpPr>
          <p:cNvPr id="31" name="Text 29"/>
          <p:cNvSpPr/>
          <p:nvPr/>
        </p:nvSpPr>
        <p:spPr>
          <a:xfrm>
            <a:off x="9084734" y="1896467"/>
            <a:ext cx="228045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AF"/>
                </a:solidFill>
                <a:latin typeface="IBM Plex Sans" pitchFamily="34" charset="0"/>
                <a:ea typeface="IBM Plex Sans" pitchFamily="34" charset="-122"/>
                <a:cs typeface="IBM Plex Sans" pitchFamily="34" charset="-120"/>
              </a:rPr>
              <a:t>2.4</a:t>
            </a:r>
            <a:endParaRPr lang="en-US" sz="1200" dirty="0"/>
          </a:p>
        </p:txBody>
      </p:sp>
      <p:sp>
        <p:nvSpPr>
          <p:cNvPr id="32" name="Text 30"/>
          <p:cNvSpPr/>
          <p:nvPr/>
        </p:nvSpPr>
        <p:spPr>
          <a:xfrm>
            <a:off x="9084734" y="2173288"/>
            <a:ext cx="2280454"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Source Serif 4" pitchFamily="18" charset="0"/>
                <a:ea typeface="Source Serif 4" pitchFamily="18" charset="-122"/>
                <a:cs typeface="Source Serif 4" pitchFamily="18" charset="-120"/>
              </a:rPr>
              <a:t>Cloud-Native Hackathon Prototype</a:t>
            </a:r>
            <a:endParaRPr lang="en-US" sz="1400" dirty="0"/>
          </a:p>
        </p:txBody>
      </p:sp>
      <p:sp>
        <p:nvSpPr>
          <p:cNvPr id="33" name="Text 31"/>
          <p:cNvSpPr/>
          <p:nvPr/>
        </p:nvSpPr>
        <p:spPr>
          <a:xfrm>
            <a:off x="9084734" y="2663428"/>
            <a:ext cx="228045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6472"/>
                </a:solidFill>
                <a:latin typeface="IBM Plex Sans" pitchFamily="34" charset="0"/>
                <a:ea typeface="IBM Plex Sans" pitchFamily="34" charset="-122"/>
                <a:cs typeface="IBM Plex Sans" pitchFamily="34" charset="-120"/>
              </a:rPr>
              <a:t>I DESIGNED</a:t>
            </a:r>
            <a:endParaRPr lang="en-US" sz="1200" dirty="0"/>
          </a:p>
        </p:txBody>
      </p:sp>
      <p:sp>
        <p:nvSpPr>
          <p:cNvPr id="34" name="Text 32"/>
          <p:cNvSpPr/>
          <p:nvPr/>
        </p:nvSpPr>
        <p:spPr>
          <a:xfrm>
            <a:off x="9084734" y="2940248"/>
            <a:ext cx="2280454"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A multi-component architecture integrating Cloud Run, secure APIs and modern databases.</a:t>
            </a:r>
            <a:endParaRPr lang="en-US" sz="1200" dirty="0"/>
          </a:p>
        </p:txBody>
      </p:sp>
      <p:sp>
        <p:nvSpPr>
          <p:cNvPr id="35" name="Text 33"/>
          <p:cNvSpPr/>
          <p:nvPr/>
        </p:nvSpPr>
        <p:spPr>
          <a:xfrm>
            <a:off x="9084734" y="3620889"/>
            <a:ext cx="228045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6472"/>
                </a:solidFill>
                <a:latin typeface="IBM Plex Sans" pitchFamily="34" charset="0"/>
                <a:ea typeface="IBM Plex Sans" pitchFamily="34" charset="-122"/>
                <a:cs typeface="IBM Plex Sans" pitchFamily="34" charset="-120"/>
              </a:rPr>
              <a:t>OUTCOME</a:t>
            </a:r>
            <a:endParaRPr lang="en-US" sz="1200" dirty="0"/>
          </a:p>
        </p:txBody>
      </p:sp>
      <p:sp>
        <p:nvSpPr>
          <p:cNvPr id="36" name="Text 34"/>
          <p:cNvSpPr/>
          <p:nvPr/>
        </p:nvSpPr>
        <p:spPr>
          <a:xfrm>
            <a:off x="9084734" y="3897709"/>
            <a:ext cx="2280454" cy="64254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02E"/>
                </a:solidFill>
                <a:latin typeface="IBM Plex Sans" pitchFamily="34" charset="0"/>
                <a:ea typeface="IBM Plex Sans" pitchFamily="34" charset="-122"/>
                <a:cs typeface="IBM Plex Sans" pitchFamily="34" charset="-120"/>
              </a:rPr>
              <a:t>“Best Innovative Idea”, Global DB Hackathon; safe, rapid serverless prototyping.</a:t>
            </a:r>
            <a:endParaRPr lang="en-US" sz="1200" dirty="0"/>
          </a:p>
        </p:txBody>
      </p:sp>
      <p:sp>
        <p:nvSpPr>
          <p:cNvPr id="37" name="Text 35"/>
          <p:cNvSpPr/>
          <p:nvPr/>
        </p:nvSpPr>
        <p:spPr>
          <a:xfrm>
            <a:off x="9084734" y="4687227"/>
            <a:ext cx="2280454" cy="421614"/>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A6472"/>
                </a:solidFill>
                <a:latin typeface="IBM Plex Sans" pitchFamily="34" charset="0"/>
                <a:ea typeface="IBM Plex Sans" pitchFamily="34" charset="-122"/>
                <a:cs typeface="IBM Plex Sans" pitchFamily="34" charset="-120"/>
              </a:rPr>
              <a:t>Evidence:</a:t>
            </a:r>
            <a:r>
              <a:rPr lang="en-US" sz="1200" dirty="0">
                <a:solidFill>
                  <a:srgbClr val="5A6472"/>
                </a:solidFill>
                <a:latin typeface="IBM Plex Sans" pitchFamily="34" charset="0"/>
                <a:ea typeface="IBM Plex Sans" pitchFamily="34" charset="-122"/>
                <a:cs typeface="IBM Plex Sans" pitchFamily="34" charset="-120"/>
              </a:rPr>
              <a:t> Architecture diagrams; hackathon evidence</a:t>
            </a:r>
            <a:endParaRPr lang="en-US" sz="1200" dirty="0"/>
          </a:p>
        </p:txBody>
      </p:sp>
      <p:sp>
        <p:nvSpPr>
          <p:cNvPr id="38" name="Shape 36"/>
          <p:cNvSpPr/>
          <p:nvPr/>
        </p:nvSpPr>
        <p:spPr>
          <a:xfrm>
            <a:off x="711200" y="5405174"/>
            <a:ext cx="10769600" cy="640027"/>
          </a:xfrm>
          <a:prstGeom prst="roundRect">
            <a:avLst>
              <a:gd name="adj" fmla="val 3969"/>
            </a:avLst>
          </a:prstGeom>
          <a:solidFill>
            <a:srgbClr val="E3EAF4"/>
          </a:solidFill>
          <a:ln/>
        </p:spPr>
      </p:sp>
      <p:sp>
        <p:nvSpPr>
          <p:cNvPr id="39" name="Shape 37"/>
          <p:cNvSpPr/>
          <p:nvPr/>
        </p:nvSpPr>
        <p:spPr>
          <a:xfrm>
            <a:off x="711200" y="5405174"/>
            <a:ext cx="10769600" cy="640027"/>
          </a:xfrm>
          <a:custGeom>
            <a:avLst/>
            <a:gdLst/>
            <a:ahLst/>
            <a:cxnLst/>
            <a:rect l="l" t="t" r="r" b="b"/>
            <a:pathLst>
              <a:path w="10769600" h="640027">
                <a:moveTo>
                  <a:pt x="38100" y="640027"/>
                </a:moveTo>
                <a:lnTo>
                  <a:pt x="25400" y="640027"/>
                </a:lnTo>
                <a:arcTo hR="25400" wR="25400" stAng="5400000" swAng="5400000"/>
                <a:lnTo>
                  <a:pt x="0" y="25400"/>
                </a:lnTo>
                <a:arcTo hR="25400" wR="25400" stAng="10800000" swAng="5400000"/>
                <a:lnTo>
                  <a:pt x="38100" y="0"/>
                </a:lnTo>
                <a:lnTo>
                  <a:pt x="38100" y="640027"/>
                </a:lnTo>
                <a:close/>
              </a:path>
            </a:pathLst>
          </a:custGeom>
          <a:solidFill>
            <a:srgbClr val="1F5FAF"/>
          </a:solidFill>
          <a:ln/>
        </p:spPr>
      </p:sp>
      <p:sp>
        <p:nvSpPr>
          <p:cNvPr id="40" name="Text 38"/>
          <p:cNvSpPr/>
          <p:nvPr/>
        </p:nvSpPr>
        <p:spPr>
          <a:xfrm>
            <a:off x="927100" y="5618494"/>
            <a:ext cx="18207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F"/>
                </a:solidFill>
                <a:latin typeface="IBM Plex Sans" pitchFamily="34" charset="0"/>
                <a:ea typeface="IBM Plex Sans" pitchFamily="34" charset="-122"/>
                <a:cs typeface="IBM Plex Sans" pitchFamily="34" charset="-120"/>
              </a:rPr>
              <a:t>Why this meets Level 3</a:t>
            </a:r>
            <a:endParaRPr lang="en-US" sz="1200" dirty="0"/>
          </a:p>
        </p:txBody>
      </p:sp>
      <p:sp>
        <p:nvSpPr>
          <p:cNvPr id="41" name="Text 39"/>
          <p:cNvSpPr/>
          <p:nvPr/>
        </p:nvSpPr>
        <p:spPr>
          <a:xfrm>
            <a:off x="2747830" y="5519474"/>
            <a:ext cx="881182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I lead complex designs end to end — weighing architecture, non-functional requirements, security and user needs — and raise design standards across teams through ADRs.</a:t>
            </a:r>
            <a:endParaRPr lang="en-US" sz="1200" dirty="0"/>
          </a:p>
        </p:txBody>
      </p:sp>
      <p:sp>
        <p:nvSpPr>
          <p:cNvPr id="42" name="Text 40"/>
          <p:cNvSpPr/>
          <p:nvPr/>
        </p:nvSpPr>
        <p:spPr>
          <a:xfrm>
            <a:off x="711200" y="6339880"/>
            <a:ext cx="95519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ECDF · DESIGNS · ~4 min · Boundary with THINKS: here = topology, branching and workflow design, not the decision to segregate</a:t>
            </a:r>
            <a:endParaRPr lang="en-US" sz="1200" dirty="0"/>
          </a:p>
        </p:txBody>
      </p:sp>
      <p:sp>
        <p:nvSpPr>
          <p:cNvPr id="43" name="Text 41"/>
          <p:cNvSpPr/>
          <p:nvPr/>
        </p:nvSpPr>
        <p:spPr>
          <a:xfrm>
            <a:off x="10885488" y="63398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05 / 14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711200" y="406400"/>
            <a:ext cx="1164034" cy="289520"/>
          </a:xfrm>
          <a:prstGeom prst="roundRect">
            <a:avLst>
              <a:gd name="adj" fmla="val 13160"/>
            </a:avLst>
          </a:prstGeom>
          <a:solidFill>
            <a:srgbClr val="1F5FAF"/>
          </a:solidFill>
          <a:ln/>
        </p:spPr>
        <p:txBody>
          <a:bodyPr wrap="none" lIns="0" tIns="0" rIns="0" bIns="0" rtlCol="0" anchor="ctr">
            <a:normAutofit/>
          </a:bodyPr>
          <a:lstStyle/>
          <a:p>
            <a:pPr algn="ctr" indent="0" marL="0">
              <a:lnSpc>
                <a:spcPts val="1680"/>
              </a:lnSpc>
              <a:buNone/>
            </a:pPr>
            <a:r>
              <a:rPr lang="en-US" sz="1200" b="1" spc="150" kern="0" dirty="0">
                <a:solidFill>
                  <a:srgbClr val="FBFAF6"/>
                </a:solidFill>
                <a:latin typeface="IBM Plex Sans" pitchFamily="34" charset="0"/>
                <a:ea typeface="IBM Plex Sans" pitchFamily="34" charset="-122"/>
                <a:cs typeface="IBM Plex Sans" pitchFamily="34" charset="-120"/>
              </a:rPr>
              <a:t>CONTROLS</a:t>
            </a:r>
            <a:endParaRPr lang="en-US" sz="1200" dirty="0"/>
          </a:p>
        </p:txBody>
      </p:sp>
      <p:sp>
        <p:nvSpPr>
          <p:cNvPr id="3" name="Text 1"/>
          <p:cNvSpPr/>
          <p:nvPr/>
        </p:nvSpPr>
        <p:spPr>
          <a:xfrm>
            <a:off x="2002234" y="444500"/>
            <a:ext cx="220233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F"/>
                </a:solidFill>
                <a:latin typeface="IBM Plex Sans" pitchFamily="34" charset="0"/>
                <a:ea typeface="IBM Plex Sans" pitchFamily="34" charset="-122"/>
                <a:cs typeface="IBM Plex Sans" pitchFamily="34" charset="-120"/>
              </a:rPr>
              <a:t>Required: Level 3 · Skilled</a:t>
            </a:r>
            <a:endParaRPr lang="en-US" sz="1200" dirty="0"/>
          </a:p>
        </p:txBody>
      </p:sp>
      <p:sp>
        <p:nvSpPr>
          <p:cNvPr id="4" name="Text 2"/>
          <p:cNvSpPr/>
          <p:nvPr/>
        </p:nvSpPr>
        <p:spPr>
          <a:xfrm>
            <a:off x="10214637" y="444500"/>
            <a:ext cx="15193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Evidence 3.1 – 3.3</a:t>
            </a:r>
            <a:endParaRPr lang="en-US" sz="1200" dirty="0"/>
          </a:p>
        </p:txBody>
      </p:sp>
      <p:sp>
        <p:nvSpPr>
          <p:cNvPr id="5" name="Text 3"/>
          <p:cNvSpPr/>
          <p:nvPr>
            <p:ph type="title"/>
          </p:nvPr>
        </p:nvSpPr>
        <p:spPr>
          <a:xfrm>
            <a:off x="711200" y="848320"/>
            <a:ext cx="11092688" cy="388607"/>
          </a:xfrm>
          <a:prstGeom prst="rect">
            <a:avLst/>
          </a:prstGeom>
          <a:noFill/>
          <a:ln/>
        </p:spPr>
        <p:txBody>
          <a:bodyPr wrap="square" lIns="0" tIns="0" rIns="0" bIns="0" rtlCol="0" anchor="t">
            <a:normAutofit/>
          </a:bodyPr>
          <a:lstStyle/>
          <a:p>
            <a:pPr algn="l" indent="0" marL="0">
              <a:lnSpc>
                <a:spcPts val="2860"/>
              </a:lnSpc>
              <a:buNone/>
            </a:pPr>
            <a:r>
              <a:rPr lang="en-US" sz="2600" b="0" i="0" dirty="0">
                <a:solidFill>
                  <a:srgbClr val="14202E"/>
                </a:solidFill>
                <a:latin typeface="Source Serif 4" pitchFamily="18" charset="0"/>
                <a:ea typeface="Source Serif 4" pitchFamily="18" charset="-122"/>
                <a:cs typeface="Source Serif 4" pitchFamily="18" charset="-120"/>
              </a:rPr>
              <a:t>I embed security and risk mitigation into engineering</a:t>
            </a:r>
            <a:endParaRPr lang="en-US" sz="2600" dirty="0"/>
          </a:p>
        </p:txBody>
      </p:sp>
      <p:sp>
        <p:nvSpPr>
          <p:cNvPr id="6" name="Shape 4"/>
          <p:cNvSpPr/>
          <p:nvPr/>
        </p:nvSpPr>
        <p:spPr>
          <a:xfrm>
            <a:off x="714375" y="1367104"/>
            <a:ext cx="3481917" cy="3882496"/>
          </a:xfrm>
          <a:prstGeom prst="roundRect">
            <a:avLst>
              <a:gd name="adj" fmla="val 2097"/>
            </a:avLst>
          </a:prstGeom>
          <a:solidFill>
            <a:srgbClr val="FBFAF6"/>
          </a:solidFill>
          <a:ln w="6350">
            <a:solidFill>
              <a:srgbClr val="D9D4C8"/>
            </a:solidFill>
            <a:prstDash val="solid"/>
          </a:ln>
        </p:spPr>
      </p:sp>
      <p:sp>
        <p:nvSpPr>
          <p:cNvPr id="7" name="Text 5"/>
          <p:cNvSpPr/>
          <p:nvPr/>
        </p:nvSpPr>
        <p:spPr>
          <a:xfrm>
            <a:off x="893233" y="1533261"/>
            <a:ext cx="3217926" cy="217157"/>
          </a:xfrm>
          <a:prstGeom prst="rect">
            <a:avLst/>
          </a:prstGeom>
          <a:noFill/>
          <a:ln/>
        </p:spPr>
        <p:txBody>
          <a:bodyPr wrap="square" lIns="0" tIns="0" rIns="0" bIns="0" rtlCol="0" anchor="t">
            <a:normAutofit/>
          </a:bodyPr>
          <a:lstStyle/>
          <a:p>
            <a:pPr algn="l" indent="0" marL="0">
              <a:lnSpc>
                <a:spcPts val="1523"/>
              </a:lnSpc>
              <a:buNone/>
            </a:pPr>
            <a:r>
              <a:rPr lang="en-US" sz="1088" b="1" spc="100" kern="0" dirty="0">
                <a:solidFill>
                  <a:srgbClr val="1F5FAF"/>
                </a:solidFill>
                <a:latin typeface="IBM Plex Sans" pitchFamily="34" charset="0"/>
                <a:ea typeface="IBM Plex Sans" pitchFamily="34" charset="-122"/>
                <a:cs typeface="IBM Plex Sans" pitchFamily="34" charset="-120"/>
              </a:rPr>
              <a:t>3.2</a:t>
            </a:r>
            <a:endParaRPr lang="en-US" sz="1088" dirty="0"/>
          </a:p>
        </p:txBody>
      </p:sp>
      <p:sp>
        <p:nvSpPr>
          <p:cNvPr id="8" name="Text 6"/>
          <p:cNvSpPr/>
          <p:nvPr/>
        </p:nvSpPr>
        <p:spPr>
          <a:xfrm>
            <a:off x="893233" y="1788517"/>
            <a:ext cx="3217926" cy="217091"/>
          </a:xfrm>
          <a:prstGeom prst="rect">
            <a:avLst/>
          </a:prstGeom>
          <a:noFill/>
          <a:ln/>
        </p:spPr>
        <p:txBody>
          <a:bodyPr wrap="square" lIns="0" tIns="0" rIns="0" bIns="0" rtlCol="0" anchor="t">
            <a:normAutofit/>
          </a:bodyPr>
          <a:lstStyle/>
          <a:p>
            <a:pPr algn="l" indent="0" marL="0">
              <a:lnSpc>
                <a:spcPts val="1523"/>
              </a:lnSpc>
              <a:buNone/>
            </a:pPr>
            <a:r>
              <a:rPr lang="en-US" sz="1269" b="1" dirty="0">
                <a:solidFill>
                  <a:srgbClr val="14202E"/>
                </a:solidFill>
                <a:latin typeface="Source Serif 4" pitchFamily="18" charset="0"/>
                <a:ea typeface="Source Serif 4" pitchFamily="18" charset="-122"/>
                <a:cs typeface="Source Serif 4" pitchFamily="18" charset="-120"/>
              </a:rPr>
              <a:t>CyberArk Privileged SSH Access</a:t>
            </a:r>
            <a:endParaRPr lang="en-US" sz="1269" dirty="0"/>
          </a:p>
        </p:txBody>
      </p:sp>
      <p:sp>
        <p:nvSpPr>
          <p:cNvPr id="9" name="Text 7"/>
          <p:cNvSpPr/>
          <p:nvPr/>
        </p:nvSpPr>
        <p:spPr>
          <a:xfrm>
            <a:off x="893233" y="2043708"/>
            <a:ext cx="3217926" cy="217157"/>
          </a:xfrm>
          <a:prstGeom prst="rect">
            <a:avLst/>
          </a:prstGeom>
          <a:noFill/>
          <a:ln/>
        </p:spPr>
        <p:txBody>
          <a:bodyPr wrap="square" lIns="0" tIns="0" rIns="0" bIns="0" rtlCol="0" anchor="t">
            <a:normAutofit/>
          </a:bodyPr>
          <a:lstStyle/>
          <a:p>
            <a:pPr algn="l" indent="0" marL="0">
              <a:lnSpc>
                <a:spcPts val="1523"/>
              </a:lnSpc>
              <a:buNone/>
            </a:pPr>
            <a:r>
              <a:rPr lang="en-US" sz="1088" b="1" spc="100" kern="0" dirty="0">
                <a:solidFill>
                  <a:srgbClr val="5A6472"/>
                </a:solidFill>
                <a:latin typeface="IBM Plex Sans" pitchFamily="34" charset="0"/>
                <a:ea typeface="IBM Plex Sans" pitchFamily="34" charset="-122"/>
                <a:cs typeface="IBM Plex Sans" pitchFamily="34" charset="-120"/>
              </a:rPr>
              <a:t>RISK</a:t>
            </a:r>
            <a:endParaRPr lang="en-US" sz="1088" dirty="0"/>
          </a:p>
        </p:txBody>
      </p:sp>
      <p:sp>
        <p:nvSpPr>
          <p:cNvPr id="10" name="Text 8"/>
          <p:cNvSpPr/>
          <p:nvPr/>
        </p:nvSpPr>
        <p:spPr>
          <a:xfrm>
            <a:off x="893233" y="2298967"/>
            <a:ext cx="3217926" cy="580033"/>
          </a:xfrm>
          <a:prstGeom prst="rect">
            <a:avLst/>
          </a:prstGeom>
          <a:noFill/>
          <a:ln/>
        </p:spPr>
        <p:txBody>
          <a:bodyPr wrap="square" lIns="0" tIns="0" rIns="0" bIns="0" rtlCol="0" anchor="t">
            <a:normAutofit/>
          </a:bodyPr>
          <a:lstStyle/>
          <a:p>
            <a:pPr algn="l" indent="0" marL="0">
              <a:lnSpc>
                <a:spcPts val="1458"/>
              </a:lnSpc>
              <a:buNone/>
            </a:pPr>
            <a:r>
              <a:rPr lang="en-US" sz="1080" dirty="0">
                <a:solidFill>
                  <a:srgbClr val="14202E"/>
                </a:solidFill>
                <a:latin typeface="IBM Plex Sans" pitchFamily="34" charset="0"/>
                <a:ea typeface="IBM Plex Sans" pitchFamily="34" charset="-122"/>
                <a:cs typeface="IBM Plex Sans" pitchFamily="34" charset="-120"/>
              </a:rPr>
              <a:t>Shared master root private keys created high-severity credential-misuse exposure on cluster nodes.</a:t>
            </a:r>
            <a:endParaRPr lang="en-US" sz="1080" dirty="0"/>
          </a:p>
        </p:txBody>
      </p:sp>
      <p:sp>
        <p:nvSpPr>
          <p:cNvPr id="11" name="Text 9"/>
          <p:cNvSpPr/>
          <p:nvPr/>
        </p:nvSpPr>
        <p:spPr>
          <a:xfrm>
            <a:off x="893233" y="2917099"/>
            <a:ext cx="3217926" cy="217157"/>
          </a:xfrm>
          <a:prstGeom prst="rect">
            <a:avLst/>
          </a:prstGeom>
          <a:noFill/>
          <a:ln/>
        </p:spPr>
        <p:txBody>
          <a:bodyPr wrap="square" lIns="0" tIns="0" rIns="0" bIns="0" rtlCol="0" anchor="t">
            <a:normAutofit/>
          </a:bodyPr>
          <a:lstStyle/>
          <a:p>
            <a:pPr algn="l" indent="0" marL="0">
              <a:lnSpc>
                <a:spcPts val="1523"/>
              </a:lnSpc>
              <a:buNone/>
            </a:pPr>
            <a:r>
              <a:rPr lang="en-US" sz="1088" b="1" spc="100" kern="0" dirty="0">
                <a:solidFill>
                  <a:srgbClr val="5A6472"/>
                </a:solidFill>
                <a:latin typeface="IBM Plex Sans" pitchFamily="34" charset="0"/>
                <a:ea typeface="IBM Plex Sans" pitchFamily="34" charset="-122"/>
                <a:cs typeface="IBM Plex Sans" pitchFamily="34" charset="-120"/>
              </a:rPr>
              <a:t>CONTROL I EMBEDDED</a:t>
            </a:r>
            <a:endParaRPr lang="en-US" sz="1088" dirty="0"/>
          </a:p>
        </p:txBody>
      </p:sp>
      <p:sp>
        <p:nvSpPr>
          <p:cNvPr id="12" name="Text 10"/>
          <p:cNvSpPr/>
          <p:nvPr/>
        </p:nvSpPr>
        <p:spPr>
          <a:xfrm>
            <a:off x="893233" y="3172355"/>
            <a:ext cx="3217926" cy="764910"/>
          </a:xfrm>
          <a:prstGeom prst="rect">
            <a:avLst/>
          </a:prstGeom>
          <a:noFill/>
          <a:ln/>
        </p:spPr>
        <p:txBody>
          <a:bodyPr wrap="square" lIns="0" tIns="0" rIns="0" bIns="0" rtlCol="0" anchor="t">
            <a:normAutofit/>
          </a:bodyPr>
          <a:lstStyle/>
          <a:p>
            <a:pPr algn="l" indent="0" marL="0">
              <a:lnSpc>
                <a:spcPts val="1564"/>
              </a:lnSpc>
              <a:buNone/>
            </a:pPr>
            <a:r>
              <a:rPr lang="en-US" sz="1159" dirty="0">
                <a:solidFill>
                  <a:srgbClr val="14202E"/>
                </a:solidFill>
                <a:latin typeface="IBM Plex Sans" pitchFamily="34" charset="0"/>
                <a:ea typeface="IBM Plex Sans" pitchFamily="34" charset="-122"/>
                <a:cs typeface="IBM Plex Sans" pitchFamily="34" charset="-120"/>
              </a:rPr>
              <a:t>End-to-end CyberArk SSH integration for Fabric nodes: individual authentication, temporary privilege elevation, static root keys removed.</a:t>
            </a:r>
            <a:endParaRPr lang="en-US" sz="1159" dirty="0"/>
          </a:p>
        </p:txBody>
      </p:sp>
      <p:sp>
        <p:nvSpPr>
          <p:cNvPr id="13" name="Text 11"/>
          <p:cNvSpPr/>
          <p:nvPr/>
        </p:nvSpPr>
        <p:spPr>
          <a:xfrm>
            <a:off x="893233" y="3975367"/>
            <a:ext cx="3217926" cy="217157"/>
          </a:xfrm>
          <a:prstGeom prst="rect">
            <a:avLst/>
          </a:prstGeom>
          <a:noFill/>
          <a:ln/>
        </p:spPr>
        <p:txBody>
          <a:bodyPr wrap="square" lIns="0" tIns="0" rIns="0" bIns="0" rtlCol="0" anchor="t">
            <a:normAutofit/>
          </a:bodyPr>
          <a:lstStyle/>
          <a:p>
            <a:pPr algn="l" indent="0" marL="0">
              <a:lnSpc>
                <a:spcPts val="1523"/>
              </a:lnSpc>
              <a:buNone/>
            </a:pPr>
            <a:r>
              <a:rPr lang="en-US" sz="1088" b="1" spc="100" kern="0" dirty="0">
                <a:solidFill>
                  <a:srgbClr val="5A6472"/>
                </a:solidFill>
                <a:latin typeface="IBM Plex Sans" pitchFamily="34" charset="0"/>
                <a:ea typeface="IBM Plex Sans" pitchFamily="34" charset="-122"/>
                <a:cs typeface="IBM Plex Sans" pitchFamily="34" charset="-120"/>
              </a:rPr>
              <a:t>RESULT</a:t>
            </a:r>
            <a:endParaRPr lang="en-US" sz="1088" dirty="0"/>
          </a:p>
        </p:txBody>
      </p:sp>
      <p:sp>
        <p:nvSpPr>
          <p:cNvPr id="14" name="Text 12"/>
          <p:cNvSpPr/>
          <p:nvPr/>
        </p:nvSpPr>
        <p:spPr>
          <a:xfrm>
            <a:off x="893233" y="4230622"/>
            <a:ext cx="3217926" cy="395155"/>
          </a:xfrm>
          <a:prstGeom prst="rect">
            <a:avLst/>
          </a:prstGeom>
          <a:noFill/>
          <a:ln/>
        </p:spPr>
        <p:txBody>
          <a:bodyPr wrap="square" lIns="0" tIns="0" rIns="0" bIns="0" rtlCol="0" anchor="t">
            <a:normAutofit/>
          </a:bodyPr>
          <a:lstStyle/>
          <a:p>
            <a:pPr algn="l" indent="0" marL="0">
              <a:lnSpc>
                <a:spcPts val="1458"/>
              </a:lnSpc>
              <a:buNone/>
            </a:pPr>
            <a:r>
              <a:rPr lang="en-US" sz="1080" b="1" dirty="0">
                <a:solidFill>
                  <a:srgbClr val="14202E"/>
                </a:solidFill>
                <a:latin typeface="IBM Plex Sans" pitchFamily="34" charset="0"/>
                <a:ea typeface="IBM Plex Sans" pitchFamily="34" charset="-122"/>
                <a:cs typeface="IBM Plex Sans" pitchFamily="34" charset="-120"/>
              </a:rPr>
              <a:t>Misuse risk removed; full auditable user-access trail.</a:t>
            </a:r>
            <a:endParaRPr lang="en-US" sz="1080" dirty="0"/>
          </a:p>
        </p:txBody>
      </p:sp>
      <p:sp>
        <p:nvSpPr>
          <p:cNvPr id="15" name="Text 13"/>
          <p:cNvSpPr/>
          <p:nvPr/>
        </p:nvSpPr>
        <p:spPr>
          <a:xfrm>
            <a:off x="893233" y="4727377"/>
            <a:ext cx="3217926" cy="381463"/>
          </a:xfrm>
          <a:prstGeom prst="rect">
            <a:avLst/>
          </a:prstGeom>
          <a:noFill/>
          <a:ln/>
        </p:spPr>
        <p:txBody>
          <a:bodyPr wrap="square" lIns="0" tIns="0" rIns="0" bIns="0" rtlCol="0" anchor="t">
            <a:normAutofit/>
          </a:bodyPr>
          <a:lstStyle/>
          <a:p>
            <a:pPr algn="l" indent="0" marL="0">
              <a:lnSpc>
                <a:spcPts val="1409"/>
              </a:lnSpc>
              <a:buNone/>
            </a:pPr>
            <a:r>
              <a:rPr lang="en-US" sz="1084" b="1" dirty="0">
                <a:solidFill>
                  <a:srgbClr val="5A6472"/>
                </a:solidFill>
                <a:latin typeface="IBM Plex Sans" pitchFamily="34" charset="0"/>
                <a:ea typeface="IBM Plex Sans" pitchFamily="34" charset="-122"/>
                <a:cs typeface="IBM Plex Sans" pitchFamily="34" charset="-120"/>
              </a:rPr>
              <a:t>Evidence:</a:t>
            </a:r>
            <a:r>
              <a:rPr lang="en-US" sz="1084" dirty="0">
                <a:solidFill>
                  <a:srgbClr val="5A6472"/>
                </a:solidFill>
                <a:latin typeface="IBM Plex Sans" pitchFamily="34" charset="0"/>
                <a:ea typeface="IBM Plex Sans" pitchFamily="34" charset="-122"/>
                <a:cs typeface="IBM Plex Sans" pitchFamily="34" charset="-120"/>
              </a:rPr>
              <a:t> Project Jira; PAM screenshots; Operations onboarding guides</a:t>
            </a:r>
            <a:endParaRPr lang="en-US" sz="1084" dirty="0"/>
          </a:p>
        </p:txBody>
      </p:sp>
      <p:sp>
        <p:nvSpPr>
          <p:cNvPr id="16" name="Shape 14"/>
          <p:cNvSpPr/>
          <p:nvPr/>
        </p:nvSpPr>
        <p:spPr>
          <a:xfrm>
            <a:off x="4355042" y="1367104"/>
            <a:ext cx="3481917" cy="3882496"/>
          </a:xfrm>
          <a:prstGeom prst="roundRect">
            <a:avLst>
              <a:gd name="adj" fmla="val 2097"/>
            </a:avLst>
          </a:prstGeom>
          <a:solidFill>
            <a:srgbClr val="FBFAF6"/>
          </a:solidFill>
          <a:ln w="6350">
            <a:solidFill>
              <a:srgbClr val="D9D4C8"/>
            </a:solidFill>
            <a:prstDash val="solid"/>
          </a:ln>
        </p:spPr>
      </p:sp>
      <p:sp>
        <p:nvSpPr>
          <p:cNvPr id="17" name="Text 15"/>
          <p:cNvSpPr/>
          <p:nvPr/>
        </p:nvSpPr>
        <p:spPr>
          <a:xfrm>
            <a:off x="4533900" y="1533261"/>
            <a:ext cx="3217926" cy="216694"/>
          </a:xfrm>
          <a:prstGeom prst="rect">
            <a:avLst/>
          </a:prstGeom>
          <a:noFill/>
          <a:ln/>
        </p:spPr>
        <p:txBody>
          <a:bodyPr wrap="square" lIns="0" tIns="0" rIns="0" bIns="0" rtlCol="0" anchor="t">
            <a:normAutofit/>
          </a:bodyPr>
          <a:lstStyle/>
          <a:p>
            <a:pPr algn="l" indent="0" marL="0">
              <a:lnSpc>
                <a:spcPts val="1523"/>
              </a:lnSpc>
              <a:buNone/>
            </a:pPr>
            <a:r>
              <a:rPr lang="en-US" sz="1088" b="1" spc="100" kern="0" dirty="0">
                <a:solidFill>
                  <a:srgbClr val="1F5FAF"/>
                </a:solidFill>
                <a:latin typeface="IBM Plex Sans" pitchFamily="34" charset="0"/>
                <a:ea typeface="IBM Plex Sans" pitchFamily="34" charset="-122"/>
                <a:cs typeface="IBM Plex Sans" pitchFamily="34" charset="-120"/>
              </a:rPr>
              <a:t>3.1</a:t>
            </a:r>
            <a:endParaRPr lang="en-US" sz="1088" dirty="0"/>
          </a:p>
        </p:txBody>
      </p:sp>
      <p:sp>
        <p:nvSpPr>
          <p:cNvPr id="18" name="Text 16"/>
          <p:cNvSpPr/>
          <p:nvPr/>
        </p:nvSpPr>
        <p:spPr>
          <a:xfrm>
            <a:off x="4533900" y="1788055"/>
            <a:ext cx="3217926" cy="407921"/>
          </a:xfrm>
          <a:prstGeom prst="rect">
            <a:avLst/>
          </a:prstGeom>
          <a:noFill/>
          <a:ln/>
        </p:spPr>
        <p:txBody>
          <a:bodyPr wrap="square" lIns="0" tIns="0" rIns="0" bIns="0" rtlCol="0" anchor="t">
            <a:normAutofit/>
          </a:bodyPr>
          <a:lstStyle/>
          <a:p>
            <a:pPr algn="l" indent="0" marL="0">
              <a:lnSpc>
                <a:spcPts val="1512"/>
              </a:lnSpc>
              <a:buNone/>
            </a:pPr>
            <a:r>
              <a:rPr lang="en-US" sz="1260" b="1" dirty="0">
                <a:solidFill>
                  <a:srgbClr val="14202E"/>
                </a:solidFill>
                <a:latin typeface="Source Serif 4" pitchFamily="18" charset="0"/>
                <a:ea typeface="Source Serif 4" pitchFamily="18" charset="-122"/>
                <a:cs typeface="Source Serif 4" pitchFamily="18" charset="-120"/>
              </a:rPr>
              <a:t>Automated Credential Monitoring Remediation</a:t>
            </a:r>
            <a:endParaRPr lang="en-US" sz="1260" dirty="0"/>
          </a:p>
        </p:txBody>
      </p:sp>
      <p:sp>
        <p:nvSpPr>
          <p:cNvPr id="19" name="Text 17"/>
          <p:cNvSpPr/>
          <p:nvPr/>
        </p:nvSpPr>
        <p:spPr>
          <a:xfrm>
            <a:off x="4533900" y="2234078"/>
            <a:ext cx="3217926" cy="216694"/>
          </a:xfrm>
          <a:prstGeom prst="rect">
            <a:avLst/>
          </a:prstGeom>
          <a:noFill/>
          <a:ln/>
        </p:spPr>
        <p:txBody>
          <a:bodyPr wrap="square" lIns="0" tIns="0" rIns="0" bIns="0" rtlCol="0" anchor="t">
            <a:normAutofit/>
          </a:bodyPr>
          <a:lstStyle/>
          <a:p>
            <a:pPr algn="l" indent="0" marL="0">
              <a:lnSpc>
                <a:spcPts val="1523"/>
              </a:lnSpc>
              <a:buNone/>
            </a:pPr>
            <a:r>
              <a:rPr lang="en-US" sz="1088" b="1" spc="100" kern="0" dirty="0">
                <a:solidFill>
                  <a:srgbClr val="5A6472"/>
                </a:solidFill>
                <a:latin typeface="IBM Plex Sans" pitchFamily="34" charset="0"/>
                <a:ea typeface="IBM Plex Sans" pitchFamily="34" charset="-122"/>
                <a:cs typeface="IBM Plex Sans" pitchFamily="34" charset="-120"/>
              </a:rPr>
              <a:t>RISK</a:t>
            </a:r>
            <a:endParaRPr lang="en-US" sz="1088" dirty="0"/>
          </a:p>
        </p:txBody>
      </p:sp>
      <p:sp>
        <p:nvSpPr>
          <p:cNvPr id="20" name="Text 18"/>
          <p:cNvSpPr/>
          <p:nvPr/>
        </p:nvSpPr>
        <p:spPr>
          <a:xfrm>
            <a:off x="4533900" y="2488871"/>
            <a:ext cx="3217926" cy="394361"/>
          </a:xfrm>
          <a:prstGeom prst="rect">
            <a:avLst/>
          </a:prstGeom>
          <a:noFill/>
          <a:ln/>
        </p:spPr>
        <p:txBody>
          <a:bodyPr wrap="square" lIns="0" tIns="0" rIns="0" bIns="0" rtlCol="0" anchor="t">
            <a:normAutofit/>
          </a:bodyPr>
          <a:lstStyle/>
          <a:p>
            <a:pPr algn="l" indent="0" marL="0">
              <a:lnSpc>
                <a:spcPts val="1458"/>
              </a:lnSpc>
              <a:buNone/>
            </a:pPr>
            <a:r>
              <a:rPr lang="en-US" sz="1080" dirty="0">
                <a:solidFill>
                  <a:srgbClr val="14202E"/>
                </a:solidFill>
                <a:latin typeface="IBM Plex Sans" pitchFamily="34" charset="0"/>
                <a:ea typeface="IBM Plex Sans" pitchFamily="34" charset="-122"/>
                <a:cs typeface="IBM Plex Sans" pitchFamily="34" charset="-120"/>
              </a:rPr>
              <a:t>Sensitive credentials at risk of exposure in Confluence, Jira and code repositories.</a:t>
            </a:r>
            <a:endParaRPr lang="en-US" sz="1080" dirty="0"/>
          </a:p>
        </p:txBody>
      </p:sp>
      <p:sp>
        <p:nvSpPr>
          <p:cNvPr id="21" name="Text 19"/>
          <p:cNvSpPr/>
          <p:nvPr/>
        </p:nvSpPr>
        <p:spPr>
          <a:xfrm>
            <a:off x="4533900" y="2921332"/>
            <a:ext cx="3217926" cy="216694"/>
          </a:xfrm>
          <a:prstGeom prst="rect">
            <a:avLst/>
          </a:prstGeom>
          <a:noFill/>
          <a:ln/>
        </p:spPr>
        <p:txBody>
          <a:bodyPr wrap="square" lIns="0" tIns="0" rIns="0" bIns="0" rtlCol="0" anchor="t">
            <a:normAutofit/>
          </a:bodyPr>
          <a:lstStyle/>
          <a:p>
            <a:pPr algn="l" indent="0" marL="0">
              <a:lnSpc>
                <a:spcPts val="1523"/>
              </a:lnSpc>
              <a:buNone/>
            </a:pPr>
            <a:r>
              <a:rPr lang="en-US" sz="1088" b="1" spc="100" kern="0" dirty="0">
                <a:solidFill>
                  <a:srgbClr val="5A6472"/>
                </a:solidFill>
                <a:latin typeface="IBM Plex Sans" pitchFamily="34" charset="0"/>
                <a:ea typeface="IBM Plex Sans" pitchFamily="34" charset="-122"/>
                <a:cs typeface="IBM Plex Sans" pitchFamily="34" charset="-120"/>
              </a:rPr>
              <a:t>CONTROL I EMBEDDED</a:t>
            </a:r>
            <a:endParaRPr lang="en-US" sz="1088" dirty="0"/>
          </a:p>
        </p:txBody>
      </p:sp>
      <p:sp>
        <p:nvSpPr>
          <p:cNvPr id="22" name="Text 20"/>
          <p:cNvSpPr/>
          <p:nvPr/>
        </p:nvSpPr>
        <p:spPr>
          <a:xfrm>
            <a:off x="4533900" y="3176126"/>
            <a:ext cx="3217926" cy="578842"/>
          </a:xfrm>
          <a:prstGeom prst="rect">
            <a:avLst/>
          </a:prstGeom>
          <a:noFill/>
          <a:ln/>
        </p:spPr>
        <p:txBody>
          <a:bodyPr wrap="square" lIns="0" tIns="0" rIns="0" bIns="0" rtlCol="0" anchor="t">
            <a:normAutofit/>
          </a:bodyPr>
          <a:lstStyle/>
          <a:p>
            <a:pPr algn="l" indent="0" marL="0">
              <a:lnSpc>
                <a:spcPts val="1458"/>
              </a:lnSpc>
              <a:buNone/>
            </a:pPr>
            <a:r>
              <a:rPr lang="en-US" sz="1080" dirty="0">
                <a:solidFill>
                  <a:srgbClr val="14202E"/>
                </a:solidFill>
                <a:latin typeface="IBM Plex Sans" pitchFamily="34" charset="0"/>
                <a:ea typeface="IBM Plex Sans" pitchFamily="34" charset="-122"/>
                <a:cs typeface="IBM Plex Sans" pitchFamily="34" charset="-120"/>
              </a:rPr>
              <a:t>As PaaS Confluence space owner, I remediated and attested findings and ran regular coaching to stop recurrence.</a:t>
            </a:r>
            <a:endParaRPr lang="en-US" sz="1080" dirty="0"/>
          </a:p>
        </p:txBody>
      </p:sp>
      <p:sp>
        <p:nvSpPr>
          <p:cNvPr id="23" name="Text 21"/>
          <p:cNvSpPr/>
          <p:nvPr/>
        </p:nvSpPr>
        <p:spPr>
          <a:xfrm>
            <a:off x="4533900" y="3793068"/>
            <a:ext cx="3217926" cy="216694"/>
          </a:xfrm>
          <a:prstGeom prst="rect">
            <a:avLst/>
          </a:prstGeom>
          <a:noFill/>
          <a:ln/>
        </p:spPr>
        <p:txBody>
          <a:bodyPr wrap="square" lIns="0" tIns="0" rIns="0" bIns="0" rtlCol="0" anchor="t">
            <a:normAutofit/>
          </a:bodyPr>
          <a:lstStyle/>
          <a:p>
            <a:pPr algn="l" indent="0" marL="0">
              <a:lnSpc>
                <a:spcPts val="1523"/>
              </a:lnSpc>
              <a:buNone/>
            </a:pPr>
            <a:r>
              <a:rPr lang="en-US" sz="1088" b="1" spc="100" kern="0" dirty="0">
                <a:solidFill>
                  <a:srgbClr val="5A6472"/>
                </a:solidFill>
                <a:latin typeface="IBM Plex Sans" pitchFamily="34" charset="0"/>
                <a:ea typeface="IBM Plex Sans" pitchFamily="34" charset="-122"/>
                <a:cs typeface="IBM Plex Sans" pitchFamily="34" charset="-120"/>
              </a:rPr>
              <a:t>RESULT</a:t>
            </a:r>
            <a:endParaRPr lang="en-US" sz="1088" dirty="0"/>
          </a:p>
        </p:txBody>
      </p:sp>
      <p:sp>
        <p:nvSpPr>
          <p:cNvPr id="24" name="Text 22"/>
          <p:cNvSpPr/>
          <p:nvPr/>
        </p:nvSpPr>
        <p:spPr>
          <a:xfrm>
            <a:off x="4533900" y="4047861"/>
            <a:ext cx="3217926" cy="578776"/>
          </a:xfrm>
          <a:prstGeom prst="rect">
            <a:avLst/>
          </a:prstGeom>
          <a:noFill/>
          <a:ln/>
        </p:spPr>
        <p:txBody>
          <a:bodyPr wrap="square" lIns="0" tIns="0" rIns="0" bIns="0" rtlCol="0" anchor="t">
            <a:normAutofit/>
          </a:bodyPr>
          <a:lstStyle/>
          <a:p>
            <a:pPr algn="l" indent="0" marL="0">
              <a:lnSpc>
                <a:spcPts val="1514"/>
              </a:lnSpc>
              <a:buNone/>
            </a:pPr>
            <a:r>
              <a:rPr lang="en-US" sz="1121" b="1" dirty="0">
                <a:solidFill>
                  <a:srgbClr val="14202E"/>
                </a:solidFill>
                <a:latin typeface="IBM Plex Sans" pitchFamily="34" charset="0"/>
                <a:ea typeface="IBM Plex Sans" pitchFamily="34" charset="-122"/>
                <a:cs typeface="IBM Plex Sans" pitchFamily="34" charset="-120"/>
              </a:rPr>
              <a:t>Intellectual property and infrastructure secrets protected; platform compliance improved.</a:t>
            </a:r>
            <a:endParaRPr lang="en-US" sz="1121" dirty="0"/>
          </a:p>
        </p:txBody>
      </p:sp>
      <p:sp>
        <p:nvSpPr>
          <p:cNvPr id="25" name="Text 23"/>
          <p:cNvSpPr/>
          <p:nvPr/>
        </p:nvSpPr>
        <p:spPr>
          <a:xfrm>
            <a:off x="4533900" y="4728239"/>
            <a:ext cx="3217926" cy="380603"/>
          </a:xfrm>
          <a:prstGeom prst="rect">
            <a:avLst/>
          </a:prstGeom>
          <a:noFill/>
          <a:ln/>
        </p:spPr>
        <p:txBody>
          <a:bodyPr wrap="square" lIns="0" tIns="0" rIns="0" bIns="0" rtlCol="0" anchor="t">
            <a:normAutofit/>
          </a:bodyPr>
          <a:lstStyle/>
          <a:p>
            <a:pPr algn="l" indent="0" marL="0">
              <a:lnSpc>
                <a:spcPts val="1409"/>
              </a:lnSpc>
              <a:buNone/>
            </a:pPr>
            <a:r>
              <a:rPr lang="en-US" sz="1084" b="1" dirty="0">
                <a:solidFill>
                  <a:srgbClr val="5A6472"/>
                </a:solidFill>
                <a:latin typeface="IBM Plex Sans" pitchFamily="34" charset="0"/>
                <a:ea typeface="IBM Plex Sans" pitchFamily="34" charset="-122"/>
                <a:cs typeface="IBM Plex Sans" pitchFamily="34" charset="-120"/>
              </a:rPr>
              <a:t>Evidence:</a:t>
            </a:r>
            <a:r>
              <a:rPr lang="en-US" sz="1084" dirty="0">
                <a:solidFill>
                  <a:srgbClr val="5A6472"/>
                </a:solidFill>
                <a:latin typeface="IBM Plex Sans" pitchFamily="34" charset="0"/>
                <a:ea typeface="IBM Plex Sans" pitchFamily="34" charset="-122"/>
                <a:cs typeface="IBM Plex Sans" pitchFamily="34" charset="-120"/>
              </a:rPr>
              <a:t> Compliance closure emails; Jira cleanup tickets; retrospective screenshots</a:t>
            </a:r>
            <a:endParaRPr lang="en-US" sz="1084" dirty="0"/>
          </a:p>
        </p:txBody>
      </p:sp>
      <p:sp>
        <p:nvSpPr>
          <p:cNvPr id="26" name="Shape 24"/>
          <p:cNvSpPr/>
          <p:nvPr/>
        </p:nvSpPr>
        <p:spPr>
          <a:xfrm>
            <a:off x="7995709" y="1367104"/>
            <a:ext cx="3481917" cy="3882496"/>
          </a:xfrm>
          <a:prstGeom prst="roundRect">
            <a:avLst>
              <a:gd name="adj" fmla="val 2097"/>
            </a:avLst>
          </a:prstGeom>
          <a:solidFill>
            <a:srgbClr val="FBFAF6"/>
          </a:solidFill>
          <a:ln w="6350">
            <a:solidFill>
              <a:srgbClr val="D9D4C8"/>
            </a:solidFill>
            <a:prstDash val="solid"/>
          </a:ln>
        </p:spPr>
      </p:sp>
      <p:sp>
        <p:nvSpPr>
          <p:cNvPr id="27" name="Text 25"/>
          <p:cNvSpPr/>
          <p:nvPr/>
        </p:nvSpPr>
        <p:spPr>
          <a:xfrm>
            <a:off x="8174567" y="1533261"/>
            <a:ext cx="3217926" cy="229328"/>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1F5FAF"/>
                </a:solidFill>
                <a:latin typeface="IBM Plex Sans" pitchFamily="34" charset="0"/>
                <a:ea typeface="IBM Plex Sans" pitchFamily="34" charset="-122"/>
                <a:cs typeface="IBM Plex Sans" pitchFamily="34" charset="-120"/>
              </a:rPr>
              <a:t>3.3</a:t>
            </a:r>
            <a:endParaRPr lang="en-US" sz="1159" dirty="0"/>
          </a:p>
        </p:txBody>
      </p:sp>
      <p:sp>
        <p:nvSpPr>
          <p:cNvPr id="28" name="Text 26"/>
          <p:cNvSpPr/>
          <p:nvPr/>
        </p:nvSpPr>
        <p:spPr>
          <a:xfrm>
            <a:off x="8174567" y="1800690"/>
            <a:ext cx="3299884" cy="433189"/>
          </a:xfrm>
          <a:prstGeom prst="rect">
            <a:avLst/>
          </a:prstGeom>
          <a:noFill/>
          <a:ln/>
        </p:spPr>
        <p:txBody>
          <a:bodyPr wrap="square" lIns="0" tIns="0" rIns="0" bIns="0" rtlCol="0" anchor="t">
            <a:normAutofit/>
          </a:bodyPr>
          <a:lstStyle/>
          <a:p>
            <a:pPr algn="l" indent="0" marL="0">
              <a:lnSpc>
                <a:spcPts val="1617"/>
              </a:lnSpc>
              <a:buNone/>
            </a:pPr>
            <a:r>
              <a:rPr lang="en-US" sz="1347" b="1" dirty="0">
                <a:solidFill>
                  <a:srgbClr val="14202E"/>
                </a:solidFill>
                <a:latin typeface="Source Serif 4" pitchFamily="18" charset="0"/>
                <a:ea typeface="Source Serif 4" pitchFamily="18" charset="-122"/>
                <a:cs typeface="Source Serif 4" pitchFamily="18" charset="-120"/>
              </a:rPr>
              <a:t>Tanium Security Agent Container PoC</a:t>
            </a:r>
            <a:endParaRPr lang="en-US" sz="1347" dirty="0"/>
          </a:p>
        </p:txBody>
      </p:sp>
      <p:sp>
        <p:nvSpPr>
          <p:cNvPr id="29" name="Text 27"/>
          <p:cNvSpPr/>
          <p:nvPr/>
        </p:nvSpPr>
        <p:spPr>
          <a:xfrm>
            <a:off x="8174567" y="2271979"/>
            <a:ext cx="3217926" cy="229328"/>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5A6472"/>
                </a:solidFill>
                <a:latin typeface="IBM Plex Sans" pitchFamily="34" charset="0"/>
                <a:ea typeface="IBM Plex Sans" pitchFamily="34" charset="-122"/>
                <a:cs typeface="IBM Plex Sans" pitchFamily="34" charset="-120"/>
              </a:rPr>
              <a:t>RISK</a:t>
            </a:r>
            <a:endParaRPr lang="en-US" sz="1159" dirty="0"/>
          </a:p>
        </p:txBody>
      </p:sp>
      <p:sp>
        <p:nvSpPr>
          <p:cNvPr id="30" name="Text 28"/>
          <p:cNvSpPr/>
          <p:nvPr/>
        </p:nvSpPr>
        <p:spPr>
          <a:xfrm>
            <a:off x="8174567" y="2539405"/>
            <a:ext cx="3217926" cy="418637"/>
          </a:xfrm>
          <a:prstGeom prst="rect">
            <a:avLst/>
          </a:prstGeom>
          <a:noFill/>
          <a:ln/>
        </p:spPr>
        <p:txBody>
          <a:bodyPr wrap="square" lIns="0" tIns="0" rIns="0" bIns="0" rtlCol="0" anchor="t">
            <a:normAutofit/>
          </a:bodyPr>
          <a:lstStyle/>
          <a:p>
            <a:pPr algn="l" indent="0" marL="0">
              <a:lnSpc>
                <a:spcPts val="1559"/>
              </a:lnSpc>
              <a:buNone/>
            </a:pPr>
            <a:r>
              <a:rPr lang="en-US" sz="1155" dirty="0">
                <a:solidFill>
                  <a:srgbClr val="14202E"/>
                </a:solidFill>
                <a:latin typeface="IBM Plex Sans" pitchFamily="34" charset="0"/>
                <a:ea typeface="IBM Plex Sans" pitchFamily="34" charset="-122"/>
                <a:cs typeface="IBM Plex Sans" pitchFamily="34" charset="-120"/>
              </a:rPr>
              <a:t>Vulnerability-compliance coverage needed for workloads running on Fabric.</a:t>
            </a:r>
            <a:endParaRPr lang="en-US" sz="1155" dirty="0"/>
          </a:p>
        </p:txBody>
      </p:sp>
      <p:sp>
        <p:nvSpPr>
          <p:cNvPr id="31" name="Text 29"/>
          <p:cNvSpPr/>
          <p:nvPr/>
        </p:nvSpPr>
        <p:spPr>
          <a:xfrm>
            <a:off x="8174567" y="2996143"/>
            <a:ext cx="3217926" cy="229328"/>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5A6472"/>
                </a:solidFill>
                <a:latin typeface="IBM Plex Sans" pitchFamily="34" charset="0"/>
                <a:ea typeface="IBM Plex Sans" pitchFamily="34" charset="-122"/>
                <a:cs typeface="IBM Plex Sans" pitchFamily="34" charset="-120"/>
              </a:rPr>
              <a:t>CONTROL I EMBEDDED</a:t>
            </a:r>
            <a:endParaRPr lang="en-US" sz="1159" dirty="0"/>
          </a:p>
        </p:txBody>
      </p:sp>
      <p:sp>
        <p:nvSpPr>
          <p:cNvPr id="32" name="Text 30"/>
          <p:cNvSpPr/>
          <p:nvPr/>
        </p:nvSpPr>
        <p:spPr>
          <a:xfrm>
            <a:off x="8174567" y="3263571"/>
            <a:ext cx="3217926" cy="615355"/>
          </a:xfrm>
          <a:prstGeom prst="rect">
            <a:avLst/>
          </a:prstGeom>
          <a:noFill/>
          <a:ln/>
        </p:spPr>
        <p:txBody>
          <a:bodyPr wrap="square" lIns="0" tIns="0" rIns="0" bIns="0" rtlCol="0" anchor="t">
            <a:normAutofit/>
          </a:bodyPr>
          <a:lstStyle/>
          <a:p>
            <a:pPr algn="l" indent="0" marL="0">
              <a:lnSpc>
                <a:spcPts val="1554"/>
              </a:lnSpc>
              <a:buNone/>
            </a:pPr>
            <a:r>
              <a:rPr lang="en-US" sz="1151" dirty="0">
                <a:solidFill>
                  <a:srgbClr val="14202E"/>
                </a:solidFill>
                <a:latin typeface="IBM Plex Sans" pitchFamily="34" charset="0"/>
                <a:ea typeface="IBM Plex Sans" pitchFamily="34" charset="-122"/>
                <a:cs typeface="IBM Plex Sans" pitchFamily="34" charset="-120"/>
              </a:rPr>
              <a:t>With the external Tanium security team, I researched, packaged and tested the agent as a containerised workload on Fabric.</a:t>
            </a:r>
            <a:endParaRPr lang="en-US" sz="1151" dirty="0"/>
          </a:p>
        </p:txBody>
      </p:sp>
      <p:sp>
        <p:nvSpPr>
          <p:cNvPr id="33" name="Text 31"/>
          <p:cNvSpPr/>
          <p:nvPr/>
        </p:nvSpPr>
        <p:spPr>
          <a:xfrm>
            <a:off x="8174567" y="3917026"/>
            <a:ext cx="3217926" cy="229328"/>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5A6472"/>
                </a:solidFill>
                <a:latin typeface="IBM Plex Sans" pitchFamily="34" charset="0"/>
                <a:ea typeface="IBM Plex Sans" pitchFamily="34" charset="-122"/>
                <a:cs typeface="IBM Plex Sans" pitchFamily="34" charset="-120"/>
              </a:rPr>
              <a:t>RESULT</a:t>
            </a:r>
            <a:endParaRPr lang="en-US" sz="1159" dirty="0"/>
          </a:p>
        </p:txBody>
      </p:sp>
      <p:sp>
        <p:nvSpPr>
          <p:cNvPr id="34" name="Text 32"/>
          <p:cNvSpPr/>
          <p:nvPr/>
        </p:nvSpPr>
        <p:spPr>
          <a:xfrm>
            <a:off x="8174567" y="4184452"/>
            <a:ext cx="3217926" cy="418703"/>
          </a:xfrm>
          <a:prstGeom prst="rect">
            <a:avLst/>
          </a:prstGeom>
          <a:noFill/>
          <a:ln/>
        </p:spPr>
        <p:txBody>
          <a:bodyPr wrap="square" lIns="0" tIns="0" rIns="0" bIns="0" rtlCol="0" anchor="t">
            <a:normAutofit/>
          </a:bodyPr>
          <a:lstStyle/>
          <a:p>
            <a:pPr algn="l" indent="0" marL="0">
              <a:lnSpc>
                <a:spcPts val="1559"/>
              </a:lnSpc>
              <a:buNone/>
            </a:pPr>
            <a:r>
              <a:rPr lang="en-US" sz="1155" b="1" dirty="0">
                <a:solidFill>
                  <a:srgbClr val="14202E"/>
                </a:solidFill>
                <a:latin typeface="IBM Plex Sans" pitchFamily="34" charset="0"/>
                <a:ea typeface="IBM Plex Sans" pitchFamily="34" charset="-122"/>
                <a:cs typeface="IBM Plex Sans" pitchFamily="34" charset="-120"/>
              </a:rPr>
              <a:t>Containerised security-agent operation demonstrated for vulnerability compliance.</a:t>
            </a:r>
            <a:endParaRPr lang="en-US" sz="1155" dirty="0"/>
          </a:p>
        </p:txBody>
      </p:sp>
      <p:sp>
        <p:nvSpPr>
          <p:cNvPr id="35" name="Text 33"/>
          <p:cNvSpPr/>
          <p:nvPr/>
        </p:nvSpPr>
        <p:spPr>
          <a:xfrm>
            <a:off x="8174567" y="4704755"/>
            <a:ext cx="3299884" cy="404085"/>
          </a:xfrm>
          <a:prstGeom prst="rect">
            <a:avLst/>
          </a:prstGeom>
          <a:noFill/>
          <a:ln/>
        </p:spPr>
        <p:txBody>
          <a:bodyPr wrap="square" lIns="0" tIns="0" rIns="0" bIns="0" rtlCol="0" anchor="t">
            <a:normAutofit/>
          </a:bodyPr>
          <a:lstStyle/>
          <a:p>
            <a:pPr algn="l" indent="0" marL="0">
              <a:lnSpc>
                <a:spcPts val="1521"/>
              </a:lnSpc>
              <a:buNone/>
            </a:pPr>
            <a:r>
              <a:rPr lang="en-US" sz="1170" b="1" dirty="0">
                <a:solidFill>
                  <a:srgbClr val="5A6472"/>
                </a:solidFill>
                <a:latin typeface="IBM Plex Sans" pitchFamily="34" charset="0"/>
                <a:ea typeface="IBM Plex Sans" pitchFamily="34" charset="-122"/>
                <a:cs typeface="IBM Plex Sans" pitchFamily="34" charset="-120"/>
              </a:rPr>
              <a:t>Evidence:</a:t>
            </a:r>
            <a:r>
              <a:rPr lang="en-US" sz="1170" dirty="0">
                <a:solidFill>
                  <a:srgbClr val="5A6472"/>
                </a:solidFill>
                <a:latin typeface="IBM Plex Sans" pitchFamily="34" charset="0"/>
                <a:ea typeface="IBM Plex Sans" pitchFamily="34" charset="-122"/>
                <a:cs typeface="IBM Plex Sans" pitchFamily="34" charset="-120"/>
              </a:rPr>
              <a:t> PoC document; collaboration emails</a:t>
            </a:r>
            <a:endParaRPr lang="en-US" sz="1170" dirty="0"/>
          </a:p>
        </p:txBody>
      </p:sp>
      <p:sp>
        <p:nvSpPr>
          <p:cNvPr id="36" name="Shape 34"/>
          <p:cNvSpPr/>
          <p:nvPr/>
        </p:nvSpPr>
        <p:spPr>
          <a:xfrm>
            <a:off x="711200" y="5405174"/>
            <a:ext cx="10769600" cy="640027"/>
          </a:xfrm>
          <a:prstGeom prst="roundRect">
            <a:avLst>
              <a:gd name="adj" fmla="val 3969"/>
            </a:avLst>
          </a:prstGeom>
          <a:solidFill>
            <a:srgbClr val="E3EAF4"/>
          </a:solidFill>
          <a:ln/>
        </p:spPr>
      </p:sp>
      <p:sp>
        <p:nvSpPr>
          <p:cNvPr id="37" name="Shape 35"/>
          <p:cNvSpPr/>
          <p:nvPr/>
        </p:nvSpPr>
        <p:spPr>
          <a:xfrm>
            <a:off x="711200" y="5405174"/>
            <a:ext cx="10769600" cy="640027"/>
          </a:xfrm>
          <a:custGeom>
            <a:avLst/>
            <a:gdLst/>
            <a:ahLst/>
            <a:cxnLst/>
            <a:rect l="l" t="t" r="r" b="b"/>
            <a:pathLst>
              <a:path w="10769600" h="640027">
                <a:moveTo>
                  <a:pt x="38100" y="640027"/>
                </a:moveTo>
                <a:lnTo>
                  <a:pt x="25400" y="640027"/>
                </a:lnTo>
                <a:arcTo hR="25400" wR="25400" stAng="5400000" swAng="5400000"/>
                <a:lnTo>
                  <a:pt x="0" y="25400"/>
                </a:lnTo>
                <a:arcTo hR="25400" wR="25400" stAng="10800000" swAng="5400000"/>
                <a:lnTo>
                  <a:pt x="38100" y="0"/>
                </a:lnTo>
                <a:lnTo>
                  <a:pt x="38100" y="640027"/>
                </a:lnTo>
                <a:close/>
              </a:path>
            </a:pathLst>
          </a:custGeom>
          <a:solidFill>
            <a:srgbClr val="1F5FAF"/>
          </a:solidFill>
          <a:ln/>
        </p:spPr>
      </p:sp>
      <p:sp>
        <p:nvSpPr>
          <p:cNvPr id="38" name="Text 36"/>
          <p:cNvSpPr/>
          <p:nvPr/>
        </p:nvSpPr>
        <p:spPr>
          <a:xfrm>
            <a:off x="927100" y="5618494"/>
            <a:ext cx="18207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F"/>
                </a:solidFill>
                <a:latin typeface="IBM Plex Sans" pitchFamily="34" charset="0"/>
                <a:ea typeface="IBM Plex Sans" pitchFamily="34" charset="-122"/>
                <a:cs typeface="IBM Plex Sans" pitchFamily="34" charset="-120"/>
              </a:rPr>
              <a:t>Why this meets Level 3</a:t>
            </a:r>
            <a:endParaRPr lang="en-US" sz="1200" dirty="0"/>
          </a:p>
        </p:txBody>
      </p:sp>
      <p:sp>
        <p:nvSpPr>
          <p:cNvPr id="39" name="Text 37"/>
          <p:cNvSpPr/>
          <p:nvPr/>
        </p:nvSpPr>
        <p:spPr>
          <a:xfrm>
            <a:off x="2747830" y="5519474"/>
            <a:ext cx="881182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I assess risk up front and build controls into the platform itself rather than relying on process. All evidence here is completed, retrospective work — no roadmap items.</a:t>
            </a:r>
            <a:endParaRPr lang="en-US" sz="1200" dirty="0"/>
          </a:p>
        </p:txBody>
      </p:sp>
      <p:sp>
        <p:nvSpPr>
          <p:cNvPr id="40" name="Text 38"/>
          <p:cNvSpPr/>
          <p:nvPr/>
        </p:nvSpPr>
        <p:spPr>
          <a:xfrm>
            <a:off x="711200" y="6339880"/>
            <a:ext cx="22260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ECDF · CONTROLS · ~3 min</a:t>
            </a:r>
            <a:endParaRPr lang="en-US" sz="1200" dirty="0"/>
          </a:p>
        </p:txBody>
      </p:sp>
      <p:sp>
        <p:nvSpPr>
          <p:cNvPr id="41" name="Text 39"/>
          <p:cNvSpPr/>
          <p:nvPr/>
        </p:nvSpPr>
        <p:spPr>
          <a:xfrm>
            <a:off x="10885488" y="63398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06 / 14</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711200" y="406400"/>
            <a:ext cx="1104305" cy="289520"/>
          </a:xfrm>
          <a:prstGeom prst="roundRect">
            <a:avLst>
              <a:gd name="adj" fmla="val 13160"/>
            </a:avLst>
          </a:prstGeom>
          <a:solidFill>
            <a:srgbClr val="A4520F"/>
          </a:solidFill>
          <a:ln/>
        </p:spPr>
        <p:txBody>
          <a:bodyPr wrap="none" lIns="0" tIns="0" rIns="0" bIns="0" rtlCol="0" anchor="ctr">
            <a:normAutofit/>
          </a:bodyPr>
          <a:lstStyle/>
          <a:p>
            <a:pPr algn="ctr" indent="0" marL="0">
              <a:lnSpc>
                <a:spcPts val="1680"/>
              </a:lnSpc>
              <a:buNone/>
            </a:pPr>
            <a:r>
              <a:rPr lang="en-US" sz="1200" b="1" spc="150" kern="0" dirty="0">
                <a:solidFill>
                  <a:srgbClr val="FBFAF6"/>
                </a:solidFill>
                <a:latin typeface="IBM Plex Sans" pitchFamily="34" charset="0"/>
                <a:ea typeface="IBM Plex Sans" pitchFamily="34" charset="-122"/>
                <a:cs typeface="IBM Plex Sans" pitchFamily="34" charset="-120"/>
              </a:rPr>
              <a:t>DELIVERS</a:t>
            </a:r>
            <a:endParaRPr lang="en-US" sz="1200" dirty="0"/>
          </a:p>
        </p:txBody>
      </p:sp>
      <p:sp>
        <p:nvSpPr>
          <p:cNvPr id="3" name="Text 1"/>
          <p:cNvSpPr/>
          <p:nvPr/>
        </p:nvSpPr>
        <p:spPr>
          <a:xfrm>
            <a:off x="1942505" y="444500"/>
            <a:ext cx="218154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20F"/>
                </a:solidFill>
                <a:latin typeface="IBM Plex Sans" pitchFamily="34" charset="0"/>
                <a:ea typeface="IBM Plex Sans" pitchFamily="34" charset="-122"/>
                <a:cs typeface="IBM Plex Sans" pitchFamily="34" charset="-120"/>
              </a:rPr>
              <a:t>Required: Level 4 · Expert</a:t>
            </a:r>
            <a:endParaRPr lang="en-US" sz="1200" dirty="0"/>
          </a:p>
        </p:txBody>
      </p:sp>
      <p:sp>
        <p:nvSpPr>
          <p:cNvPr id="4" name="Text 2"/>
          <p:cNvSpPr/>
          <p:nvPr/>
        </p:nvSpPr>
        <p:spPr>
          <a:xfrm>
            <a:off x="9908580" y="444500"/>
            <a:ext cx="18866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Evidence 4.1 · 4.2 · 4.3</a:t>
            </a:r>
            <a:endParaRPr lang="en-US" sz="1200" dirty="0"/>
          </a:p>
        </p:txBody>
      </p:sp>
      <p:sp>
        <p:nvSpPr>
          <p:cNvPr id="5" name="Text 3"/>
          <p:cNvSpPr/>
          <p:nvPr>
            <p:ph type="title"/>
          </p:nvPr>
        </p:nvSpPr>
        <p:spPr>
          <a:xfrm>
            <a:off x="711200" y="848320"/>
            <a:ext cx="11092688" cy="751814"/>
          </a:xfrm>
          <a:prstGeom prst="rect">
            <a:avLst/>
          </a:prstGeom>
          <a:noFill/>
          <a:ln/>
        </p:spPr>
        <p:txBody>
          <a:bodyPr wrap="square" lIns="0" tIns="0" rIns="0" bIns="0" rtlCol="0" anchor="t">
            <a:normAutofit/>
          </a:bodyPr>
          <a:lstStyle/>
          <a:p>
            <a:pPr algn="l" indent="0" marL="0">
              <a:lnSpc>
                <a:spcPts val="2860"/>
              </a:lnSpc>
              <a:buNone/>
            </a:pPr>
            <a:r>
              <a:rPr lang="en-US" sz="2600" b="0" i="0" dirty="0">
                <a:solidFill>
                  <a:srgbClr val="14202E"/>
                </a:solidFill>
                <a:latin typeface="Source Serif 4" pitchFamily="18" charset="0"/>
                <a:ea typeface="Source Serif 4" pitchFamily="18" charset="-122"/>
                <a:cs typeface="Source Serif 4" pitchFamily="18" charset="-120"/>
              </a:rPr>
              <a:t>I personally solve difficult technical problems and deliver under pressure</a:t>
            </a:r>
            <a:endParaRPr lang="en-US" sz="2600" dirty="0"/>
          </a:p>
        </p:txBody>
      </p:sp>
      <p:sp>
        <p:nvSpPr>
          <p:cNvPr id="6" name="Shape 4"/>
          <p:cNvSpPr/>
          <p:nvPr/>
        </p:nvSpPr>
        <p:spPr>
          <a:xfrm>
            <a:off x="717550" y="1733485"/>
            <a:ext cx="10756900" cy="2607138"/>
          </a:xfrm>
          <a:prstGeom prst="roundRect">
            <a:avLst>
              <a:gd name="adj" fmla="val 2679"/>
            </a:avLst>
          </a:prstGeom>
          <a:solidFill>
            <a:srgbClr val="FBFAF6"/>
          </a:solidFill>
          <a:ln w="12700">
            <a:solidFill>
              <a:srgbClr val="A4520F"/>
            </a:solidFill>
            <a:prstDash val="solid"/>
          </a:ln>
        </p:spPr>
      </p:sp>
      <p:sp>
        <p:nvSpPr>
          <p:cNvPr id="7" name="Text 5"/>
          <p:cNvSpPr/>
          <p:nvPr/>
        </p:nvSpPr>
        <p:spPr>
          <a:xfrm>
            <a:off x="927100" y="1904935"/>
            <a:ext cx="777011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20F"/>
                </a:solidFill>
                <a:latin typeface="IBM Plex Sans" pitchFamily="34" charset="0"/>
                <a:ea typeface="IBM Plex Sans" pitchFamily="34" charset="-122"/>
                <a:cs typeface="IBM Plex Sans" pitchFamily="34" charset="-120"/>
              </a:rPr>
              <a:t>4.2 · FLAGSHIP · BAFIR PAYMENT APPLICATION</a:t>
            </a:r>
            <a:endParaRPr lang="en-US" sz="1200" dirty="0"/>
          </a:p>
        </p:txBody>
      </p:sp>
      <p:sp>
        <p:nvSpPr>
          <p:cNvPr id="8" name="Text 6"/>
          <p:cNvSpPr/>
          <p:nvPr/>
        </p:nvSpPr>
        <p:spPr>
          <a:xfrm>
            <a:off x="927100" y="2219855"/>
            <a:ext cx="77978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Source Serif 4" pitchFamily="18" charset="0"/>
                <a:ea typeface="Source Serif 4" pitchFamily="18" charset="-122"/>
                <a:cs typeface="Source Serif 4" pitchFamily="18" charset="-120"/>
              </a:rPr>
              <a:t>I traced the full transaction path and found the root cause of a five-year-old bottleneck</a:t>
            </a:r>
            <a:endParaRPr lang="en-US" sz="1400" dirty="0"/>
          </a:p>
        </p:txBody>
      </p:sp>
      <p:sp>
        <p:nvSpPr>
          <p:cNvPr id="9" name="Text 7"/>
          <p:cNvSpPr/>
          <p:nvPr/>
        </p:nvSpPr>
        <p:spPr>
          <a:xfrm>
            <a:off x="930275" y="2546418"/>
            <a:ext cx="1187450" cy="611717"/>
          </a:xfrm>
          <a:custGeom>
            <a:avLst/>
            <a:gdLst/>
            <a:ahLst/>
            <a:cxnLst/>
            <a:rect l="l" t="t" r="r" b="b"/>
            <a:pathLst>
              <a:path w="1187450" h="611717">
                <a:moveTo>
                  <a:pt x="60325" y="0"/>
                </a:moveTo>
                <a:lnTo>
                  <a:pt x="1127125" y="0"/>
                </a:lnTo>
                <a:arcTo hR="60325" wR="60325" stAng="16200000" swAng="5400000"/>
                <a:lnTo>
                  <a:pt x="1187450" y="551392"/>
                </a:lnTo>
                <a:arcTo hR="60325" wR="60325" stAng="0" swAng="5400000"/>
                <a:lnTo>
                  <a:pt x="60325" y="611717"/>
                </a:lnTo>
                <a:arcTo hR="60325" wR="60325" stAng="5400000" swAng="5400000"/>
                <a:lnTo>
                  <a:pt x="0" y="60325"/>
                </a:lnTo>
                <a:arcTo hR="60325" wR="60325" stAng="10800000" swAng="5400000"/>
                <a:close/>
              </a:path>
            </a:pathLst>
          </a:custGeom>
          <a:solidFill>
            <a:srgbClr val="F4F2EC"/>
          </a:solidFill>
          <a:ln w="6350">
            <a:solidFill>
              <a:srgbClr val="D9D4C8"/>
            </a:solidFill>
            <a:prstDash val="solid"/>
          </a:ln>
        </p:spPr>
        <p:txBody>
          <a:bodyPr wrap="square" lIns="39158" tIns="102658" rIns="39158" bIns="102658" rtlCol="0" anchor="ctr">
            <a:normAutofit/>
          </a:bodyPr>
          <a:lstStyle/>
          <a:p>
            <a:pPr algn="ctr" indent="0" marL="0">
              <a:lnSpc>
                <a:spcPts val="1500"/>
              </a:lnSpc>
              <a:buNone/>
            </a:pPr>
            <a:r>
              <a:rPr lang="en-US" sz="1200" b="1" dirty="0">
                <a:solidFill>
                  <a:srgbClr val="14202E"/>
                </a:solidFill>
                <a:latin typeface="IBM Plex Sans" pitchFamily="34" charset="0"/>
                <a:ea typeface="IBM Plex Sans" pitchFamily="34" charset="-122"/>
                <a:cs typeface="IBM Plex Sans" pitchFamily="34" charset="-120"/>
              </a:rPr>
              <a:t>Application code</a:t>
            </a:r>
            <a:endParaRPr lang="en-US" sz="1200" dirty="0"/>
          </a:p>
        </p:txBody>
      </p:sp>
      <p:pic>
        <p:nvPicPr>
          <p:cNvPr id="10" name="Image 0" descr="arrow-right">    </p:cNvPr>
          <p:cNvPicPr>
            <a:picLocks noChangeAspect="1"/>
          </p:cNvPicPr>
          <p:nvPr/>
        </p:nvPicPr>
        <p:blipFill>
          <a:blip r:embed="rId1"/>
          <a:srcRect l="0" r="0" t="0" b="0"/>
          <a:stretch/>
        </p:blipFill>
        <p:spPr>
          <a:xfrm>
            <a:off x="2197100" y="2788776"/>
            <a:ext cx="228600" cy="127000"/>
          </a:xfrm>
          <a:prstGeom prst="rect">
            <a:avLst/>
          </a:prstGeom>
        </p:spPr>
      </p:pic>
      <p:sp>
        <p:nvSpPr>
          <p:cNvPr id="11" name="Text 8"/>
          <p:cNvSpPr/>
          <p:nvPr/>
        </p:nvSpPr>
        <p:spPr>
          <a:xfrm>
            <a:off x="2508250" y="2541126"/>
            <a:ext cx="1198033" cy="622300"/>
          </a:xfrm>
          <a:prstGeom prst="roundRect">
            <a:avLst>
              <a:gd name="adj" fmla="val 9184"/>
            </a:avLst>
          </a:prstGeom>
          <a:solidFill>
            <a:srgbClr val="E3EAF4"/>
          </a:solidFill>
          <a:ln w="12700">
            <a:solidFill>
              <a:srgbClr val="1F5FAF"/>
            </a:solidFill>
            <a:prstDash val="solid"/>
          </a:ln>
        </p:spPr>
        <p:txBody>
          <a:bodyPr wrap="square" lIns="27711" tIns="91211" rIns="27711" bIns="91211" rtlCol="0" anchor="ctr">
            <a:normAutofit/>
          </a:bodyPr>
          <a:lstStyle/>
          <a:p>
            <a:pPr algn="ctr" indent="0" marL="0">
              <a:lnSpc>
                <a:spcPts val="1500"/>
              </a:lnSpc>
              <a:buNone/>
            </a:pPr>
            <a:r>
              <a:rPr lang="en-US" sz="1200" b="1" dirty="0">
                <a:solidFill>
                  <a:srgbClr val="14202E"/>
                </a:solidFill>
                <a:latin typeface="IBM Plex Sans" pitchFamily="34" charset="0"/>
                <a:ea typeface="IBM Plex Sans" pitchFamily="34" charset="-122"/>
                <a:cs typeface="IBM Plex Sans" pitchFamily="34" charset="-120"/>
              </a:rPr>
              <a:t>Container pods</a:t>
            </a:r>
            <a:endParaRPr lang="en-US" sz="1200" dirty="0"/>
          </a:p>
        </p:txBody>
      </p:sp>
      <p:pic>
        <p:nvPicPr>
          <p:cNvPr id="12" name="Image 1" descr="arrow-right">    </p:cNvPr>
          <p:cNvPicPr>
            <a:picLocks noChangeAspect="1"/>
          </p:cNvPicPr>
          <p:nvPr/>
        </p:nvPicPr>
        <p:blipFill>
          <a:blip r:embed="rId2"/>
          <a:srcRect l="0" r="0" t="0" b="0"/>
          <a:stretch/>
        </p:blipFill>
        <p:spPr>
          <a:xfrm>
            <a:off x="3788833" y="2788776"/>
            <a:ext cx="228600" cy="127000"/>
          </a:xfrm>
          <a:prstGeom prst="rect">
            <a:avLst/>
          </a:prstGeom>
        </p:spPr>
      </p:pic>
      <p:sp>
        <p:nvSpPr>
          <p:cNvPr id="13" name="Text 9"/>
          <p:cNvSpPr/>
          <p:nvPr/>
        </p:nvSpPr>
        <p:spPr>
          <a:xfrm>
            <a:off x="4099983" y="2636376"/>
            <a:ext cx="1198033" cy="431800"/>
          </a:xfrm>
          <a:prstGeom prst="roundRect">
            <a:avLst>
              <a:gd name="adj" fmla="val 13235"/>
            </a:avLst>
          </a:prstGeom>
          <a:solidFill>
            <a:srgbClr val="E3EAF4"/>
          </a:solidFill>
          <a:ln w="12700">
            <a:solidFill>
              <a:srgbClr val="1F5FAF"/>
            </a:solidFill>
            <a:prstDash val="solid"/>
          </a:ln>
        </p:spPr>
        <p:txBody>
          <a:bodyPr wrap="square" lIns="53111" tIns="91211" rIns="53111" bIns="91211" rtlCol="0" anchor="ctr">
            <a:normAutofit/>
          </a:bodyPr>
          <a:lstStyle/>
          <a:p>
            <a:pPr algn="ctr" indent="0" marL="0">
              <a:lnSpc>
                <a:spcPts val="1500"/>
              </a:lnSpc>
              <a:buNone/>
            </a:pPr>
            <a:r>
              <a:rPr lang="en-US" sz="1200" b="1" dirty="0">
                <a:solidFill>
                  <a:srgbClr val="14202E"/>
                </a:solidFill>
                <a:latin typeface="IBM Plex Sans" pitchFamily="34" charset="0"/>
                <a:ea typeface="IBM Plex Sans" pitchFamily="34" charset="-122"/>
                <a:cs typeface="IBM Plex Sans" pitchFamily="34" charset="-120"/>
              </a:rPr>
              <a:t>Node routing</a:t>
            </a:r>
            <a:endParaRPr lang="en-US" sz="1200" dirty="0"/>
          </a:p>
        </p:txBody>
      </p:sp>
      <p:pic>
        <p:nvPicPr>
          <p:cNvPr id="14" name="Image 2" descr="arrow-right">    </p:cNvPr>
          <p:cNvPicPr>
            <a:picLocks noChangeAspect="1"/>
          </p:cNvPicPr>
          <p:nvPr/>
        </p:nvPicPr>
        <p:blipFill>
          <a:blip r:embed="rId3"/>
          <a:srcRect l="0" r="0" t="0" b="0"/>
          <a:stretch/>
        </p:blipFill>
        <p:spPr>
          <a:xfrm>
            <a:off x="5380567" y="2788776"/>
            <a:ext cx="228600" cy="127000"/>
          </a:xfrm>
          <a:prstGeom prst="rect">
            <a:avLst/>
          </a:prstGeom>
        </p:spPr>
      </p:pic>
      <p:sp>
        <p:nvSpPr>
          <p:cNvPr id="15" name="Text 10"/>
          <p:cNvSpPr/>
          <p:nvPr/>
        </p:nvSpPr>
        <p:spPr>
          <a:xfrm>
            <a:off x="5691717" y="2541126"/>
            <a:ext cx="1198033" cy="622300"/>
          </a:xfrm>
          <a:prstGeom prst="roundRect">
            <a:avLst>
              <a:gd name="adj" fmla="val 9184"/>
            </a:avLst>
          </a:prstGeom>
          <a:solidFill>
            <a:srgbClr val="E3EAF4"/>
          </a:solidFill>
          <a:ln w="12700">
            <a:solidFill>
              <a:srgbClr val="1F5FAF"/>
            </a:solidFill>
            <a:prstDash val="solid"/>
          </a:ln>
        </p:spPr>
        <p:txBody>
          <a:bodyPr wrap="square" lIns="27711" tIns="91211" rIns="27711" bIns="91211" rtlCol="0" anchor="ctr">
            <a:normAutofit/>
          </a:bodyPr>
          <a:lstStyle/>
          <a:p>
            <a:pPr algn="ctr" indent="0" marL="0">
              <a:lnSpc>
                <a:spcPts val="1500"/>
              </a:lnSpc>
              <a:buNone/>
            </a:pPr>
            <a:r>
              <a:rPr lang="en-US" sz="1200" b="1" dirty="0">
                <a:solidFill>
                  <a:srgbClr val="14202E"/>
                </a:solidFill>
                <a:latin typeface="IBM Plex Sans" pitchFamily="34" charset="0"/>
                <a:ea typeface="IBM Plex Sans" pitchFamily="34" charset="-122"/>
                <a:cs typeface="IBM Plex Sans" pitchFamily="34" charset="-120"/>
              </a:rPr>
              <a:t>Firewalls (2 routes)</a:t>
            </a:r>
            <a:endParaRPr lang="en-US" sz="1200" dirty="0"/>
          </a:p>
        </p:txBody>
      </p:sp>
      <p:pic>
        <p:nvPicPr>
          <p:cNvPr id="16" name="Image 3" descr="arrow-right">    </p:cNvPr>
          <p:cNvPicPr>
            <a:picLocks noChangeAspect="1"/>
          </p:cNvPicPr>
          <p:nvPr/>
        </p:nvPicPr>
        <p:blipFill>
          <a:blip r:embed="rId4"/>
          <a:srcRect l="0" r="0" t="0" b="0"/>
          <a:stretch/>
        </p:blipFill>
        <p:spPr>
          <a:xfrm>
            <a:off x="6972300" y="2788776"/>
            <a:ext cx="228600" cy="127000"/>
          </a:xfrm>
          <a:prstGeom prst="rect">
            <a:avLst/>
          </a:prstGeom>
        </p:spPr>
      </p:pic>
      <p:sp>
        <p:nvSpPr>
          <p:cNvPr id="17" name="Text 11"/>
          <p:cNvSpPr/>
          <p:nvPr/>
        </p:nvSpPr>
        <p:spPr>
          <a:xfrm>
            <a:off x="7280275" y="2546418"/>
            <a:ext cx="1187450" cy="611717"/>
          </a:xfrm>
          <a:custGeom>
            <a:avLst/>
            <a:gdLst/>
            <a:ahLst/>
            <a:cxnLst/>
            <a:rect l="l" t="t" r="r" b="b"/>
            <a:pathLst>
              <a:path w="1187450" h="611717">
                <a:moveTo>
                  <a:pt x="60325" y="0"/>
                </a:moveTo>
                <a:lnTo>
                  <a:pt x="1127125" y="0"/>
                </a:lnTo>
                <a:arcTo hR="60325" wR="60325" stAng="16200000" swAng="5400000"/>
                <a:lnTo>
                  <a:pt x="1187450" y="551392"/>
                </a:lnTo>
                <a:arcTo hR="60325" wR="60325" stAng="0" swAng="5400000"/>
                <a:lnTo>
                  <a:pt x="60325" y="611717"/>
                </a:lnTo>
                <a:arcTo hR="60325" wR="60325" stAng="5400000" swAng="5400000"/>
                <a:lnTo>
                  <a:pt x="0" y="60325"/>
                </a:lnTo>
                <a:arcTo hR="60325" wR="60325" stAng="10800000" swAng="5400000"/>
                <a:close/>
              </a:path>
            </a:pathLst>
          </a:custGeom>
          <a:solidFill>
            <a:srgbClr val="F4F2EC"/>
          </a:solidFill>
          <a:ln w="6350">
            <a:solidFill>
              <a:srgbClr val="D9D4C8"/>
            </a:solidFill>
            <a:prstDash val="solid"/>
          </a:ln>
        </p:spPr>
        <p:txBody>
          <a:bodyPr wrap="square" lIns="39159" tIns="102658" rIns="39158" bIns="102658" rtlCol="0" anchor="ctr">
            <a:normAutofit/>
          </a:bodyPr>
          <a:lstStyle/>
          <a:p>
            <a:pPr algn="ctr" indent="0" marL="0">
              <a:lnSpc>
                <a:spcPts val="1500"/>
              </a:lnSpc>
              <a:buNone/>
            </a:pPr>
            <a:r>
              <a:rPr lang="en-US" sz="1200" b="1" dirty="0">
                <a:solidFill>
                  <a:srgbClr val="14202E"/>
                </a:solidFill>
                <a:latin typeface="IBM Plex Sans" pitchFamily="34" charset="0"/>
                <a:ea typeface="IBM Plex Sans" pitchFamily="34" charset="-122"/>
                <a:cs typeface="IBM Plex Sans" pitchFamily="34" charset="-120"/>
              </a:rPr>
              <a:t>Destination server</a:t>
            </a:r>
            <a:endParaRPr lang="en-US" sz="1200" dirty="0"/>
          </a:p>
        </p:txBody>
      </p:sp>
      <p:sp>
        <p:nvSpPr>
          <p:cNvPr id="18" name="Text 12"/>
          <p:cNvSpPr/>
          <p:nvPr/>
        </p:nvSpPr>
        <p:spPr>
          <a:xfrm>
            <a:off x="927100" y="3271376"/>
            <a:ext cx="7770114"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02E"/>
                </a:solidFill>
                <a:latin typeface="IBM Plex Sans" pitchFamily="34" charset="0"/>
                <a:ea typeface="IBM Plex Sans" pitchFamily="34" charset="-122"/>
                <a:cs typeface="IBM Plex Sans" pitchFamily="34" charset="-120"/>
              </a:rPr>
              <a:t>My method:</a:t>
            </a:r>
            <a:r>
              <a:rPr lang="en-US" sz="1200" dirty="0">
                <a:solidFill>
                  <a:srgbClr val="14202E"/>
                </a:solidFill>
                <a:latin typeface="IBM Plex Sans" pitchFamily="34" charset="0"/>
                <a:ea typeface="IBM Plex Sans" pitchFamily="34" charset="-122"/>
                <a:cs typeface="IBM Plex Sans" pitchFamily="34" charset="-120"/>
              </a:rPr>
              <a:t> tcpdump packet captures on source pods and nodes · compared firewall behaviour across two network routes · end-to-end analysis to Bafir, Network and Fabric leadership.</a:t>
            </a:r>
            <a:endParaRPr lang="en-US" sz="1200" dirty="0"/>
          </a:p>
        </p:txBody>
      </p:sp>
      <p:sp>
        <p:nvSpPr>
          <p:cNvPr id="19" name="Shape 13"/>
          <p:cNvSpPr/>
          <p:nvPr/>
        </p:nvSpPr>
        <p:spPr>
          <a:xfrm>
            <a:off x="8724900" y="1908110"/>
            <a:ext cx="2540000" cy="0"/>
          </a:xfrm>
          <a:prstGeom prst="line">
            <a:avLst/>
          </a:prstGeom>
          <a:noFill/>
          <a:ln w="6350">
            <a:solidFill>
              <a:srgbClr val="D9D4C8"/>
            </a:solidFill>
            <a:prstDash val="solid"/>
          </a:ln>
        </p:spPr>
      </p:sp>
      <p:sp>
        <p:nvSpPr>
          <p:cNvPr id="20" name="Text 14"/>
          <p:cNvSpPr/>
          <p:nvPr/>
        </p:nvSpPr>
        <p:spPr>
          <a:xfrm>
            <a:off x="8724900" y="1985367"/>
            <a:ext cx="2616200" cy="372070"/>
          </a:xfrm>
          <a:prstGeom prst="rect">
            <a:avLst/>
          </a:prstGeom>
          <a:noFill/>
          <a:ln/>
        </p:spPr>
        <p:txBody>
          <a:bodyPr wrap="square" lIns="0" tIns="0" rIns="0" bIns="0" rtlCol="0" anchor="t">
            <a:normAutofit/>
          </a:bodyPr>
          <a:lstStyle/>
          <a:p>
            <a:pPr algn="l" indent="0" marL="0">
              <a:lnSpc>
                <a:spcPts val="2730"/>
              </a:lnSpc>
              <a:buNone/>
            </a:pPr>
            <a:r>
              <a:rPr lang="en-US" sz="2600" b="1" dirty="0">
                <a:solidFill>
                  <a:srgbClr val="A4520F"/>
                </a:solidFill>
                <a:latin typeface="Source Serif 4" pitchFamily="18" charset="0"/>
                <a:ea typeface="Source Serif 4" pitchFamily="18" charset="-122"/>
                <a:cs typeface="Source Serif 4" pitchFamily="18" charset="-120"/>
              </a:rPr>
              <a:t>5 yrs</a:t>
            </a:r>
            <a:endParaRPr lang="en-US" sz="2600" dirty="0"/>
          </a:p>
        </p:txBody>
      </p:sp>
      <p:sp>
        <p:nvSpPr>
          <p:cNvPr id="21" name="Text 15"/>
          <p:cNvSpPr/>
          <p:nvPr/>
        </p:nvSpPr>
        <p:spPr>
          <a:xfrm>
            <a:off x="8724900" y="2344738"/>
            <a:ext cx="2616200"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02E"/>
                </a:solidFill>
                <a:latin typeface="IBM Plex Sans" pitchFamily="34" charset="0"/>
                <a:ea typeface="IBM Plex Sans" pitchFamily="34" charset="-122"/>
                <a:cs typeface="IBM Plex Sans" pitchFamily="34" charset="-120"/>
              </a:rPr>
              <a:t>a persistent transaction-drop issue</a:t>
            </a:r>
            <a:endParaRPr lang="en-US" sz="1200" dirty="0"/>
          </a:p>
        </p:txBody>
      </p:sp>
      <p:sp>
        <p:nvSpPr>
          <p:cNvPr id="22" name="Shape 16"/>
          <p:cNvSpPr/>
          <p:nvPr/>
        </p:nvSpPr>
        <p:spPr>
          <a:xfrm>
            <a:off x="8724900" y="2622221"/>
            <a:ext cx="2540000" cy="0"/>
          </a:xfrm>
          <a:prstGeom prst="line">
            <a:avLst/>
          </a:prstGeom>
          <a:noFill/>
          <a:ln w="6350">
            <a:solidFill>
              <a:srgbClr val="D9D4C8"/>
            </a:solidFill>
            <a:prstDash val="solid"/>
          </a:ln>
        </p:spPr>
      </p:sp>
      <p:sp>
        <p:nvSpPr>
          <p:cNvPr id="23" name="Text 17"/>
          <p:cNvSpPr/>
          <p:nvPr/>
        </p:nvSpPr>
        <p:spPr>
          <a:xfrm>
            <a:off x="8724900" y="2699479"/>
            <a:ext cx="2616200" cy="372070"/>
          </a:xfrm>
          <a:prstGeom prst="rect">
            <a:avLst/>
          </a:prstGeom>
          <a:noFill/>
          <a:ln/>
        </p:spPr>
        <p:txBody>
          <a:bodyPr wrap="square" lIns="0" tIns="0" rIns="0" bIns="0" rtlCol="0" anchor="t">
            <a:normAutofit/>
          </a:bodyPr>
          <a:lstStyle/>
          <a:p>
            <a:pPr algn="l" indent="0" marL="0">
              <a:lnSpc>
                <a:spcPts val="2730"/>
              </a:lnSpc>
              <a:buNone/>
            </a:pPr>
            <a:r>
              <a:rPr lang="en-US" sz="2600" b="1" dirty="0">
                <a:solidFill>
                  <a:srgbClr val="A4520F"/>
                </a:solidFill>
                <a:latin typeface="Source Serif 4" pitchFamily="18" charset="0"/>
                <a:ea typeface="Source Serif 4" pitchFamily="18" charset="-122"/>
                <a:cs typeface="Source Serif 4" pitchFamily="18" charset="-120"/>
              </a:rPr>
              <a:t>~1%</a:t>
            </a:r>
            <a:endParaRPr lang="en-US" sz="2600" dirty="0"/>
          </a:p>
        </p:txBody>
      </p:sp>
      <p:sp>
        <p:nvSpPr>
          <p:cNvPr id="24" name="Text 18"/>
          <p:cNvSpPr/>
          <p:nvPr/>
        </p:nvSpPr>
        <p:spPr>
          <a:xfrm>
            <a:off x="8724900" y="3058849"/>
            <a:ext cx="2616200"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02E"/>
                </a:solidFill>
                <a:latin typeface="IBM Plex Sans" pitchFamily="34" charset="0"/>
                <a:ea typeface="IBM Plex Sans" pitchFamily="34" charset="-122"/>
                <a:cs typeface="IBM Plex Sans" pitchFamily="34" charset="-120"/>
              </a:rPr>
              <a:t>of transaction volume affected</a:t>
            </a:r>
            <a:endParaRPr lang="en-US" sz="1200" dirty="0"/>
          </a:p>
        </p:txBody>
      </p:sp>
      <p:sp>
        <p:nvSpPr>
          <p:cNvPr id="25" name="Shape 19"/>
          <p:cNvSpPr/>
          <p:nvPr/>
        </p:nvSpPr>
        <p:spPr>
          <a:xfrm>
            <a:off x="8724900" y="3336330"/>
            <a:ext cx="2540000" cy="0"/>
          </a:xfrm>
          <a:prstGeom prst="line">
            <a:avLst/>
          </a:prstGeom>
          <a:noFill/>
          <a:ln w="6350">
            <a:solidFill>
              <a:srgbClr val="D9D4C8"/>
            </a:solidFill>
            <a:prstDash val="solid"/>
          </a:ln>
        </p:spPr>
      </p:sp>
      <p:sp>
        <p:nvSpPr>
          <p:cNvPr id="26" name="Text 20"/>
          <p:cNvSpPr/>
          <p:nvPr/>
        </p:nvSpPr>
        <p:spPr>
          <a:xfrm>
            <a:off x="8724900" y="3413590"/>
            <a:ext cx="2616200" cy="372070"/>
          </a:xfrm>
          <a:prstGeom prst="rect">
            <a:avLst/>
          </a:prstGeom>
          <a:noFill/>
          <a:ln/>
        </p:spPr>
        <p:txBody>
          <a:bodyPr wrap="square" lIns="0" tIns="0" rIns="0" bIns="0" rtlCol="0" anchor="t">
            <a:normAutofit/>
          </a:bodyPr>
          <a:lstStyle/>
          <a:p>
            <a:pPr algn="l" indent="0" marL="0">
              <a:lnSpc>
                <a:spcPts val="2730"/>
              </a:lnSpc>
              <a:buNone/>
            </a:pPr>
            <a:r>
              <a:rPr lang="en-US" sz="2600" b="1" dirty="0">
                <a:solidFill>
                  <a:srgbClr val="A4520F"/>
                </a:solidFill>
                <a:latin typeface="Source Serif 4" pitchFamily="18" charset="0"/>
                <a:ea typeface="Source Serif 4" pitchFamily="18" charset="-122"/>
                <a:cs typeface="Source Serif 4" pitchFamily="18" charset="-120"/>
              </a:rPr>
              <a:t>Resolved</a:t>
            </a:r>
            <a:endParaRPr lang="en-US" sz="2600" dirty="0"/>
          </a:p>
        </p:txBody>
      </p:sp>
      <p:sp>
        <p:nvSpPr>
          <p:cNvPr id="27" name="Text 21"/>
          <p:cNvSpPr/>
          <p:nvPr/>
        </p:nvSpPr>
        <p:spPr>
          <a:xfrm>
            <a:off x="8724900" y="3772960"/>
            <a:ext cx="2616200"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02E"/>
                </a:solidFill>
                <a:latin typeface="IBM Plex Sans" pitchFamily="34" charset="0"/>
                <a:ea typeface="IBM Plex Sans" pitchFamily="34" charset="-122"/>
                <a:cs typeface="IBM Plex Sans" pitchFamily="34" charset="-120"/>
              </a:rPr>
              <a:t>after my connection-pooling recommendation was implemented</a:t>
            </a:r>
            <a:endParaRPr lang="en-US" sz="1200" dirty="0"/>
          </a:p>
        </p:txBody>
      </p:sp>
      <p:sp>
        <p:nvSpPr>
          <p:cNvPr id="28" name="Shape 22"/>
          <p:cNvSpPr/>
          <p:nvPr/>
        </p:nvSpPr>
        <p:spPr>
          <a:xfrm>
            <a:off x="714375" y="4502547"/>
            <a:ext cx="5302250" cy="747051"/>
          </a:xfrm>
          <a:prstGeom prst="roundRect">
            <a:avLst>
              <a:gd name="adj" fmla="val 9775"/>
            </a:avLst>
          </a:prstGeom>
          <a:solidFill>
            <a:srgbClr val="FBFAF6"/>
          </a:solidFill>
          <a:ln w="6350">
            <a:solidFill>
              <a:srgbClr val="D9D4C8"/>
            </a:solidFill>
            <a:prstDash val="solid"/>
          </a:ln>
        </p:spPr>
      </p:sp>
      <p:sp>
        <p:nvSpPr>
          <p:cNvPr id="29" name="Text 23"/>
          <p:cNvSpPr/>
          <p:nvPr/>
        </p:nvSpPr>
        <p:spPr>
          <a:xfrm>
            <a:off x="893233" y="4677172"/>
            <a:ext cx="31988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20F"/>
                </a:solidFill>
                <a:latin typeface="IBM Plex Sans" pitchFamily="34" charset="0"/>
                <a:ea typeface="IBM Plex Sans" pitchFamily="34" charset="-122"/>
                <a:cs typeface="IBM Plex Sans" pitchFamily="34" charset="-120"/>
              </a:rPr>
              <a:t>4.1</a:t>
            </a:r>
            <a:endParaRPr lang="en-US" sz="1200" dirty="0"/>
          </a:p>
        </p:txBody>
      </p:sp>
      <p:sp>
        <p:nvSpPr>
          <p:cNvPr id="30" name="Text 24"/>
          <p:cNvSpPr/>
          <p:nvPr/>
        </p:nvSpPr>
        <p:spPr>
          <a:xfrm>
            <a:off x="1261401" y="4668707"/>
            <a:ext cx="475204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Source Serif 4" pitchFamily="18" charset="0"/>
                <a:ea typeface="Source Serif 4" pitchFamily="18" charset="-122"/>
                <a:cs typeface="Source Serif 4" pitchFamily="18" charset="-120"/>
              </a:rPr>
              <a:t>India Payments — regulatory-mandated delivery</a:t>
            </a:r>
            <a:endParaRPr lang="en-US" sz="1400" dirty="0"/>
          </a:p>
        </p:txBody>
      </p:sp>
      <p:sp>
        <p:nvSpPr>
          <p:cNvPr id="31" name="Text 25"/>
          <p:cNvSpPr/>
          <p:nvPr/>
        </p:nvSpPr>
        <p:spPr>
          <a:xfrm>
            <a:off x="893233" y="4776062"/>
            <a:ext cx="5092869" cy="187986"/>
          </a:xfrm>
          <a:prstGeom prst="rect">
            <a:avLst/>
          </a:prstGeom>
          <a:noFill/>
          <a:ln/>
        </p:spPr>
        <p:txBody>
          <a:bodyPr wrap="square" lIns="0" tIns="0" rIns="0" bIns="0" rtlCol="0" anchor="t">
            <a:normAutofit/>
          </a:bodyPr>
          <a:lstStyle/>
          <a:p>
            <a:pPr algn="l" indent="0" marL="0">
              <a:lnSpc>
                <a:spcPts val="972"/>
              </a:lnSpc>
              <a:buNone/>
            </a:pPr>
            <a:r>
              <a:rPr lang="en-US" sz="720" dirty="0">
                <a:solidFill>
                  <a:srgbClr val="14202E"/>
                </a:solidFill>
                <a:latin typeface="IBM Plex Sans" pitchFamily="34" charset="0"/>
                <a:ea typeface="IBM Plex Sans" pitchFamily="34" charset="-122"/>
                <a:cs typeface="IBM Plex Sans" pitchFamily="34" charset="-120"/>
              </a:rPr>
              <a:t>Sole lead engineer on a compressed regulatory timeline. I cleared infrastructure and access bottlenecks, executed prerequisites, deployment and post-build checks for Dev, UAT and Prod, and transitioned to Operations.</a:t>
            </a:r>
            <a:endParaRPr lang="en-US" sz="720" dirty="0"/>
          </a:p>
        </p:txBody>
      </p:sp>
      <p:sp>
        <p:nvSpPr>
          <p:cNvPr id="32" name="Text 26"/>
          <p:cNvSpPr/>
          <p:nvPr/>
        </p:nvSpPr>
        <p:spPr>
          <a:xfrm>
            <a:off x="893233" y="5002147"/>
            <a:ext cx="5092869" cy="106693"/>
          </a:xfrm>
          <a:prstGeom prst="rect">
            <a:avLst/>
          </a:prstGeom>
          <a:noFill/>
          <a:ln/>
        </p:spPr>
        <p:txBody>
          <a:bodyPr wrap="square" lIns="0" tIns="0" rIns="0" bIns="0" rtlCol="0" anchor="t">
            <a:normAutofit/>
          </a:bodyPr>
          <a:lstStyle/>
          <a:p>
            <a:pPr algn="l" indent="0" marL="0">
              <a:lnSpc>
                <a:spcPts val="972"/>
              </a:lnSpc>
              <a:buNone/>
            </a:pPr>
            <a:r>
              <a:rPr lang="en-US" sz="720" b="1" dirty="0">
                <a:solidFill>
                  <a:srgbClr val="14202E"/>
                </a:solidFill>
                <a:latin typeface="IBM Plex Sans" pitchFamily="34" charset="0"/>
                <a:ea typeface="IBM Plex Sans" pitchFamily="34" charset="-122"/>
                <a:cs typeface="IBM Plex Sans" pitchFamily="34" charset="-120"/>
              </a:rPr>
              <a:t>Outcome: Localized data-routing compliance kept; payment processing uninterrupted.</a:t>
            </a:r>
            <a:endParaRPr lang="en-US" sz="720" dirty="0"/>
          </a:p>
        </p:txBody>
      </p:sp>
      <p:sp>
        <p:nvSpPr>
          <p:cNvPr id="33" name="Shape 27"/>
          <p:cNvSpPr/>
          <p:nvPr/>
        </p:nvSpPr>
        <p:spPr>
          <a:xfrm>
            <a:off x="6175375" y="4502547"/>
            <a:ext cx="5302250" cy="747051"/>
          </a:xfrm>
          <a:prstGeom prst="roundRect">
            <a:avLst>
              <a:gd name="adj" fmla="val 9775"/>
            </a:avLst>
          </a:prstGeom>
          <a:solidFill>
            <a:srgbClr val="FBFAF6"/>
          </a:solidFill>
          <a:ln w="6350">
            <a:solidFill>
              <a:srgbClr val="D9D4C8"/>
            </a:solidFill>
            <a:prstDash val="solid"/>
          </a:ln>
        </p:spPr>
      </p:sp>
      <p:sp>
        <p:nvSpPr>
          <p:cNvPr id="34" name="Text 28"/>
          <p:cNvSpPr/>
          <p:nvPr/>
        </p:nvSpPr>
        <p:spPr>
          <a:xfrm>
            <a:off x="6354233" y="4677172"/>
            <a:ext cx="31988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20F"/>
                </a:solidFill>
                <a:latin typeface="IBM Plex Sans" pitchFamily="34" charset="0"/>
                <a:ea typeface="IBM Plex Sans" pitchFamily="34" charset="-122"/>
                <a:cs typeface="IBM Plex Sans" pitchFamily="34" charset="-120"/>
              </a:rPr>
              <a:t>4.3</a:t>
            </a:r>
            <a:endParaRPr lang="en-US" sz="1200" dirty="0"/>
          </a:p>
        </p:txBody>
      </p:sp>
      <p:sp>
        <p:nvSpPr>
          <p:cNvPr id="35" name="Text 29"/>
          <p:cNvSpPr/>
          <p:nvPr/>
        </p:nvSpPr>
        <p:spPr>
          <a:xfrm>
            <a:off x="6722401" y="4668707"/>
            <a:ext cx="420171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Source Serif 4" pitchFamily="18" charset="0"/>
                <a:ea typeface="Source Serif 4" pitchFamily="18" charset="-122"/>
                <a:cs typeface="Source Serif 4" pitchFamily="18" charset="-120"/>
              </a:rPr>
              <a:t>NPA4 Landing Zone migration &amp; rollback</a:t>
            </a:r>
            <a:endParaRPr lang="en-US" sz="1400" dirty="0"/>
          </a:p>
        </p:txBody>
      </p:sp>
      <p:sp>
        <p:nvSpPr>
          <p:cNvPr id="36" name="Text 30"/>
          <p:cNvSpPr/>
          <p:nvPr/>
        </p:nvSpPr>
        <p:spPr>
          <a:xfrm>
            <a:off x="6354233" y="4776062"/>
            <a:ext cx="5092869" cy="187986"/>
          </a:xfrm>
          <a:prstGeom prst="rect">
            <a:avLst/>
          </a:prstGeom>
          <a:noFill/>
          <a:ln/>
        </p:spPr>
        <p:txBody>
          <a:bodyPr wrap="square" lIns="0" tIns="0" rIns="0" bIns="0" rtlCol="0" anchor="t">
            <a:normAutofit/>
          </a:bodyPr>
          <a:lstStyle/>
          <a:p>
            <a:pPr algn="l" indent="0" marL="0">
              <a:lnSpc>
                <a:spcPts val="972"/>
              </a:lnSpc>
              <a:buNone/>
            </a:pPr>
            <a:r>
              <a:rPr lang="en-US" sz="720" dirty="0">
                <a:solidFill>
                  <a:srgbClr val="14202E"/>
                </a:solidFill>
                <a:latin typeface="IBM Plex Sans" pitchFamily="34" charset="0"/>
                <a:ea typeface="IBM Plex Sans" pitchFamily="34" charset="-122"/>
                <a:cs typeface="IBM Plex Sans" pitchFamily="34" charset="-120"/>
              </a:rPr>
              <a:t>Hands-on, under a regulatory deadline: I resolved critical blocking errors, engineered safe rollback plans, secured policy exceptions with CPT SRE and Security, and implemented the Landing Zone changes on time.</a:t>
            </a:r>
            <a:endParaRPr lang="en-US" sz="720" dirty="0"/>
          </a:p>
        </p:txBody>
      </p:sp>
      <p:sp>
        <p:nvSpPr>
          <p:cNvPr id="37" name="Text 31"/>
          <p:cNvSpPr/>
          <p:nvPr/>
        </p:nvSpPr>
        <p:spPr>
          <a:xfrm>
            <a:off x="6354233" y="5002147"/>
            <a:ext cx="5092869" cy="106693"/>
          </a:xfrm>
          <a:prstGeom prst="rect">
            <a:avLst/>
          </a:prstGeom>
          <a:noFill/>
          <a:ln/>
        </p:spPr>
        <p:txBody>
          <a:bodyPr wrap="square" lIns="0" tIns="0" rIns="0" bIns="0" rtlCol="0" anchor="t">
            <a:normAutofit/>
          </a:bodyPr>
          <a:lstStyle/>
          <a:p>
            <a:pPr algn="l" indent="0" marL="0">
              <a:lnSpc>
                <a:spcPts val="972"/>
              </a:lnSpc>
              <a:buNone/>
            </a:pPr>
            <a:r>
              <a:rPr lang="en-US" sz="720" b="1" dirty="0">
                <a:solidFill>
                  <a:srgbClr val="14202E"/>
                </a:solidFill>
                <a:latin typeface="IBM Plex Sans" pitchFamily="34" charset="0"/>
                <a:ea typeface="IBM Plex Sans" pitchFamily="34" charset="-122"/>
                <a:cs typeface="IBM Plex Sans" pitchFamily="34" charset="-120"/>
              </a:rPr>
              <a:t>Outcome: Completed with no platform downtime; operational risk for major clients prevented.</a:t>
            </a:r>
            <a:endParaRPr lang="en-US" sz="720" dirty="0"/>
          </a:p>
        </p:txBody>
      </p:sp>
      <p:sp>
        <p:nvSpPr>
          <p:cNvPr id="38" name="Shape 32"/>
          <p:cNvSpPr/>
          <p:nvPr/>
        </p:nvSpPr>
        <p:spPr>
          <a:xfrm>
            <a:off x="711200" y="5405174"/>
            <a:ext cx="10769600" cy="640027"/>
          </a:xfrm>
          <a:prstGeom prst="roundRect">
            <a:avLst>
              <a:gd name="adj" fmla="val 3969"/>
            </a:avLst>
          </a:prstGeom>
          <a:solidFill>
            <a:srgbClr val="F3E6D8"/>
          </a:solidFill>
          <a:ln/>
        </p:spPr>
      </p:sp>
      <p:sp>
        <p:nvSpPr>
          <p:cNvPr id="39" name="Shape 33"/>
          <p:cNvSpPr/>
          <p:nvPr/>
        </p:nvSpPr>
        <p:spPr>
          <a:xfrm>
            <a:off x="711200" y="5405174"/>
            <a:ext cx="10769600" cy="640027"/>
          </a:xfrm>
          <a:custGeom>
            <a:avLst/>
            <a:gdLst/>
            <a:ahLst/>
            <a:cxnLst/>
            <a:rect l="l" t="t" r="r" b="b"/>
            <a:pathLst>
              <a:path w="10769600" h="640027">
                <a:moveTo>
                  <a:pt x="38100" y="640027"/>
                </a:moveTo>
                <a:lnTo>
                  <a:pt x="25400" y="640027"/>
                </a:lnTo>
                <a:arcTo hR="25400" wR="25400" stAng="5400000" swAng="5400000"/>
                <a:lnTo>
                  <a:pt x="0" y="25400"/>
                </a:lnTo>
                <a:arcTo hR="25400" wR="25400" stAng="10800000" swAng="5400000"/>
                <a:lnTo>
                  <a:pt x="38100" y="0"/>
                </a:lnTo>
                <a:lnTo>
                  <a:pt x="38100" y="640027"/>
                </a:lnTo>
                <a:close/>
              </a:path>
            </a:pathLst>
          </a:custGeom>
          <a:solidFill>
            <a:srgbClr val="A4520F"/>
          </a:solidFill>
          <a:ln/>
        </p:spPr>
      </p:sp>
      <p:sp>
        <p:nvSpPr>
          <p:cNvPr id="40" name="Text 34"/>
          <p:cNvSpPr/>
          <p:nvPr/>
        </p:nvSpPr>
        <p:spPr>
          <a:xfrm>
            <a:off x="927100" y="5618494"/>
            <a:ext cx="149840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20F"/>
                </a:solidFill>
                <a:latin typeface="IBM Plex Sans" pitchFamily="34" charset="0"/>
                <a:ea typeface="IBM Plex Sans" pitchFamily="34" charset="-122"/>
                <a:cs typeface="IBM Plex Sans" pitchFamily="34" charset="-120"/>
              </a:rPr>
              <a:t>Why this is Level 4</a:t>
            </a:r>
            <a:endParaRPr lang="en-US" sz="1200" dirty="0"/>
          </a:p>
        </p:txBody>
      </p:sp>
      <p:sp>
        <p:nvSpPr>
          <p:cNvPr id="41" name="Text 35"/>
          <p:cNvSpPr/>
          <p:nvPr/>
        </p:nvSpPr>
        <p:spPr>
          <a:xfrm>
            <a:off x="2425502" y="5519474"/>
            <a:ext cx="9143823"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SME-level, hands-on diagnosis across application, container, network and firewall layers, plus technical leadership on regulatory-critical delivery. This is my own engineering, not coordination.</a:t>
            </a:r>
            <a:endParaRPr lang="en-US" sz="1200" dirty="0"/>
          </a:p>
        </p:txBody>
      </p:sp>
      <p:sp>
        <p:nvSpPr>
          <p:cNvPr id="42" name="Text 36"/>
          <p:cNvSpPr/>
          <p:nvPr/>
        </p:nvSpPr>
        <p:spPr>
          <a:xfrm>
            <a:off x="711200" y="6339880"/>
            <a:ext cx="100310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ECDF · DELIVERS · ~7 min · Evidence: packet analysis, recommendation email chain, checklists, Jira, exception emails, leadership appreciation</a:t>
            </a:r>
            <a:endParaRPr lang="en-US" sz="1200" dirty="0"/>
          </a:p>
        </p:txBody>
      </p:sp>
      <p:sp>
        <p:nvSpPr>
          <p:cNvPr id="43" name="Text 37"/>
          <p:cNvSpPr/>
          <p:nvPr/>
        </p:nvSpPr>
        <p:spPr>
          <a:xfrm>
            <a:off x="10885488" y="63398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07 / 14</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711200" y="406400"/>
            <a:ext cx="1145315" cy="289520"/>
          </a:xfrm>
          <a:prstGeom prst="roundRect">
            <a:avLst>
              <a:gd name="adj" fmla="val 13160"/>
            </a:avLst>
          </a:prstGeom>
          <a:solidFill>
            <a:srgbClr val="1F5FAF"/>
          </a:solidFill>
          <a:ln/>
        </p:spPr>
        <p:txBody>
          <a:bodyPr wrap="none" lIns="0" tIns="0" rIns="0" bIns="0" rtlCol="0" anchor="ctr">
            <a:normAutofit/>
          </a:bodyPr>
          <a:lstStyle/>
          <a:p>
            <a:pPr algn="ctr" indent="0" marL="0">
              <a:lnSpc>
                <a:spcPts val="1680"/>
              </a:lnSpc>
              <a:buNone/>
            </a:pPr>
            <a:r>
              <a:rPr lang="en-US" sz="1200" b="1" spc="150" kern="0" dirty="0">
                <a:solidFill>
                  <a:srgbClr val="FBFAF6"/>
                </a:solidFill>
                <a:latin typeface="IBM Plex Sans" pitchFamily="34" charset="0"/>
                <a:ea typeface="IBM Plex Sans" pitchFamily="34" charset="-122"/>
                <a:cs typeface="IBM Plex Sans" pitchFamily="34" charset="-120"/>
              </a:rPr>
              <a:t>OPERATES</a:t>
            </a:r>
            <a:endParaRPr lang="en-US" sz="1200" dirty="0"/>
          </a:p>
        </p:txBody>
      </p:sp>
      <p:sp>
        <p:nvSpPr>
          <p:cNvPr id="3" name="Text 1"/>
          <p:cNvSpPr/>
          <p:nvPr/>
        </p:nvSpPr>
        <p:spPr>
          <a:xfrm>
            <a:off x="1983515" y="444500"/>
            <a:ext cx="220233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F"/>
                </a:solidFill>
                <a:latin typeface="IBM Plex Sans" pitchFamily="34" charset="0"/>
                <a:ea typeface="IBM Plex Sans" pitchFamily="34" charset="-122"/>
                <a:cs typeface="IBM Plex Sans" pitchFamily="34" charset="-120"/>
              </a:rPr>
              <a:t>Required: Level 3 · Skilled</a:t>
            </a:r>
            <a:endParaRPr lang="en-US" sz="1200" dirty="0"/>
          </a:p>
        </p:txBody>
      </p:sp>
      <p:sp>
        <p:nvSpPr>
          <p:cNvPr id="4" name="Text 2"/>
          <p:cNvSpPr/>
          <p:nvPr/>
        </p:nvSpPr>
        <p:spPr>
          <a:xfrm>
            <a:off x="10214637" y="444500"/>
            <a:ext cx="15193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Evidence 5.1 – 5.5</a:t>
            </a:r>
            <a:endParaRPr lang="en-US" sz="1200" dirty="0"/>
          </a:p>
        </p:txBody>
      </p:sp>
      <p:sp>
        <p:nvSpPr>
          <p:cNvPr id="5" name="Text 3"/>
          <p:cNvSpPr/>
          <p:nvPr>
            <p:ph type="title"/>
          </p:nvPr>
        </p:nvSpPr>
        <p:spPr>
          <a:xfrm>
            <a:off x="711200" y="848320"/>
            <a:ext cx="11480800" cy="388607"/>
          </a:xfrm>
          <a:prstGeom prst="rect">
            <a:avLst/>
          </a:prstGeom>
          <a:noFill/>
          <a:ln/>
        </p:spPr>
        <p:txBody>
          <a:bodyPr wrap="square" lIns="0" tIns="0" rIns="0" bIns="0" rtlCol="0" anchor="t">
            <a:normAutofit/>
          </a:bodyPr>
          <a:lstStyle/>
          <a:p>
            <a:pPr algn="l" indent="0" marL="0">
              <a:lnSpc>
                <a:spcPts val="2860"/>
              </a:lnSpc>
              <a:buNone/>
            </a:pPr>
            <a:r>
              <a:rPr lang="en-US" sz="2600" b="0" i="0" dirty="0">
                <a:solidFill>
                  <a:srgbClr val="14202E"/>
                </a:solidFill>
                <a:latin typeface="Source Serif 4" pitchFamily="18" charset="0"/>
                <a:ea typeface="Source Serif 4" pitchFamily="18" charset="-122"/>
                <a:cs typeface="Source Serif 4" pitchFamily="18" charset="-120"/>
              </a:rPr>
              <a:t>I restore reliability, learn from incidents and reduce operational toil</a:t>
            </a:r>
            <a:endParaRPr lang="en-US" sz="2600" dirty="0"/>
          </a:p>
        </p:txBody>
      </p:sp>
      <p:sp>
        <p:nvSpPr>
          <p:cNvPr id="6" name="Text 4"/>
          <p:cNvSpPr/>
          <p:nvPr/>
        </p:nvSpPr>
        <p:spPr>
          <a:xfrm>
            <a:off x="711200" y="1363929"/>
            <a:ext cx="68925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6472"/>
                </a:solidFill>
                <a:latin typeface="IBM Plex Sans" pitchFamily="34" charset="0"/>
                <a:ea typeface="IBM Plex Sans" pitchFamily="34" charset="-122"/>
                <a:cs typeface="IBM Plex Sans" pitchFamily="34" charset="-120"/>
              </a:rPr>
              <a:t>RESTORE · INCIDENTS I OWNED FROM ROOT CAUSE TO RESOLUTION</a:t>
            </a:r>
            <a:endParaRPr lang="en-US" sz="1200" dirty="0"/>
          </a:p>
        </p:txBody>
      </p:sp>
      <p:sp>
        <p:nvSpPr>
          <p:cNvPr id="7" name="Shape 5"/>
          <p:cNvSpPr/>
          <p:nvPr/>
        </p:nvSpPr>
        <p:spPr>
          <a:xfrm>
            <a:off x="711200" y="1580424"/>
            <a:ext cx="6691776" cy="0"/>
          </a:xfrm>
          <a:prstGeom prst="line">
            <a:avLst/>
          </a:prstGeom>
          <a:noFill/>
          <a:ln w="6350">
            <a:solidFill>
              <a:srgbClr val="D9D4C8"/>
            </a:solidFill>
            <a:prstDash val="solid"/>
          </a:ln>
        </p:spPr>
      </p:sp>
      <p:sp>
        <p:nvSpPr>
          <p:cNvPr id="8" name="Text 6"/>
          <p:cNvSpPr/>
          <p:nvPr/>
        </p:nvSpPr>
        <p:spPr>
          <a:xfrm>
            <a:off x="711200" y="1683082"/>
            <a:ext cx="16383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AF"/>
                </a:solidFill>
                <a:latin typeface="IBM Plex Sans" pitchFamily="34" charset="0"/>
                <a:ea typeface="IBM Plex Sans" pitchFamily="34" charset="-122"/>
                <a:cs typeface="IBM Plex Sans" pitchFamily="34" charset="-120"/>
              </a:rPr>
              <a:t>5.1</a:t>
            </a:r>
            <a:endParaRPr lang="en-US" sz="1200" dirty="0"/>
          </a:p>
        </p:txBody>
      </p:sp>
      <p:sp>
        <p:nvSpPr>
          <p:cNvPr id="9" name="Text 7"/>
          <p:cNvSpPr/>
          <p:nvPr/>
        </p:nvSpPr>
        <p:spPr>
          <a:xfrm>
            <a:off x="711200" y="1921802"/>
            <a:ext cx="1638300" cy="421614"/>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02E"/>
                </a:solidFill>
                <a:latin typeface="IBM Plex Sans" pitchFamily="34" charset="0"/>
                <a:ea typeface="IBM Plex Sans" pitchFamily="34" charset="-122"/>
                <a:cs typeface="IBM Plex Sans" pitchFamily="34" charset="-120"/>
              </a:rPr>
              <a:t>Artifactory secrets outage (P1)</a:t>
            </a:r>
            <a:endParaRPr lang="en-US" sz="1200" dirty="0"/>
          </a:p>
        </p:txBody>
      </p:sp>
      <p:sp>
        <p:nvSpPr>
          <p:cNvPr id="10" name="Text 8"/>
          <p:cNvSpPr/>
          <p:nvPr/>
        </p:nvSpPr>
        <p:spPr>
          <a:xfrm>
            <a:off x="2451100" y="1683082"/>
            <a:ext cx="3177525" cy="84825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Disproved platform-level faults and isolated the root cause to broken application secrets from an upstream Artifactory update; coordinated recovery.</a:t>
            </a:r>
            <a:endParaRPr lang="en-US" sz="1200" dirty="0"/>
          </a:p>
        </p:txBody>
      </p:sp>
      <p:sp>
        <p:nvSpPr>
          <p:cNvPr id="11" name="Text 9"/>
          <p:cNvSpPr/>
          <p:nvPr/>
        </p:nvSpPr>
        <p:spPr>
          <a:xfrm>
            <a:off x="5688476" y="1683082"/>
            <a:ext cx="1765935" cy="84825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5FAF"/>
                </a:solidFill>
                <a:latin typeface="IBM Plex Sans" pitchFamily="34" charset="0"/>
                <a:ea typeface="IBM Plex Sans" pitchFamily="34" charset="-122"/>
                <a:cs typeface="IBM Plex Sans" pitchFamily="34" charset="-120"/>
              </a:rPr>
              <a:t>Access restored for 50+ production-critical applications</a:t>
            </a:r>
            <a:endParaRPr lang="en-US" sz="1200" dirty="0"/>
          </a:p>
        </p:txBody>
      </p:sp>
      <p:sp>
        <p:nvSpPr>
          <p:cNvPr id="12" name="Shape 10"/>
          <p:cNvSpPr/>
          <p:nvPr/>
        </p:nvSpPr>
        <p:spPr>
          <a:xfrm>
            <a:off x="711200" y="2610712"/>
            <a:ext cx="6691776" cy="0"/>
          </a:xfrm>
          <a:prstGeom prst="line">
            <a:avLst/>
          </a:prstGeom>
          <a:noFill/>
          <a:ln w="6350">
            <a:solidFill>
              <a:srgbClr val="D9D4C8"/>
            </a:solidFill>
            <a:prstDash val="solid"/>
          </a:ln>
        </p:spPr>
      </p:sp>
      <p:sp>
        <p:nvSpPr>
          <p:cNvPr id="13" name="Text 11"/>
          <p:cNvSpPr/>
          <p:nvPr/>
        </p:nvSpPr>
        <p:spPr>
          <a:xfrm>
            <a:off x="711200" y="2713369"/>
            <a:ext cx="16383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AF"/>
                </a:solidFill>
                <a:latin typeface="IBM Plex Sans" pitchFamily="34" charset="0"/>
                <a:ea typeface="IBM Plex Sans" pitchFamily="34" charset="-122"/>
                <a:cs typeface="IBM Plex Sans" pitchFamily="34" charset="-120"/>
              </a:rPr>
              <a:t>5.2</a:t>
            </a:r>
            <a:endParaRPr lang="en-US" sz="1200" dirty="0"/>
          </a:p>
        </p:txBody>
      </p:sp>
      <p:sp>
        <p:nvSpPr>
          <p:cNvPr id="14" name="Text 12"/>
          <p:cNvSpPr/>
          <p:nvPr/>
        </p:nvSpPr>
        <p:spPr>
          <a:xfrm>
            <a:off x="711200" y="2952090"/>
            <a:ext cx="1638300" cy="6197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02E"/>
                </a:solidFill>
                <a:latin typeface="IBM Plex Sans" pitchFamily="34" charset="0"/>
                <a:ea typeface="IBM Plex Sans" pitchFamily="34" charset="-122"/>
                <a:cs typeface="IBM Plex Sans" pitchFamily="34" charset="-120"/>
              </a:rPr>
              <a:t>Emergency production cluster redeployment</a:t>
            </a:r>
            <a:endParaRPr lang="en-US" sz="1200" dirty="0"/>
          </a:p>
        </p:txBody>
      </p:sp>
      <p:sp>
        <p:nvSpPr>
          <p:cNvPr id="15" name="Text 13"/>
          <p:cNvSpPr/>
          <p:nvPr/>
        </p:nvSpPr>
        <p:spPr>
          <a:xfrm>
            <a:off x="2451100" y="2713369"/>
            <a:ext cx="3177525" cy="858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As engineering technical lead after datastore corruption, I orchestrated the engineering team and stakeholders through a full cluster redeployment.</a:t>
            </a:r>
            <a:endParaRPr lang="en-US" sz="1200" dirty="0"/>
          </a:p>
        </p:txBody>
      </p:sp>
      <p:sp>
        <p:nvSpPr>
          <p:cNvPr id="16" name="Text 14"/>
          <p:cNvSpPr/>
          <p:nvPr/>
        </p:nvSpPr>
        <p:spPr>
          <a:xfrm>
            <a:off x="5688476" y="2713369"/>
            <a:ext cx="1765935" cy="85844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5FAF"/>
                </a:solidFill>
                <a:latin typeface="IBM Plex Sans" pitchFamily="34" charset="0"/>
                <a:ea typeface="IBM Plex Sans" pitchFamily="34" charset="-122"/>
                <a:cs typeface="IBM Plex Sans" pitchFamily="34" charset="-120"/>
              </a:rPr>
              <a:t>Cluster ready within 2 days; tenant failback from DR enabled</a:t>
            </a:r>
            <a:endParaRPr lang="en-US" sz="1200" dirty="0"/>
          </a:p>
        </p:txBody>
      </p:sp>
      <p:sp>
        <p:nvSpPr>
          <p:cNvPr id="17" name="Shape 15"/>
          <p:cNvSpPr/>
          <p:nvPr/>
        </p:nvSpPr>
        <p:spPr>
          <a:xfrm>
            <a:off x="711200" y="3651185"/>
            <a:ext cx="6691776" cy="0"/>
          </a:xfrm>
          <a:prstGeom prst="line">
            <a:avLst/>
          </a:prstGeom>
          <a:noFill/>
          <a:ln w="6350">
            <a:solidFill>
              <a:srgbClr val="D9D4C8"/>
            </a:solidFill>
            <a:prstDash val="solid"/>
          </a:ln>
        </p:spPr>
      </p:sp>
      <p:sp>
        <p:nvSpPr>
          <p:cNvPr id="18" name="Text 16"/>
          <p:cNvSpPr/>
          <p:nvPr/>
        </p:nvSpPr>
        <p:spPr>
          <a:xfrm>
            <a:off x="711200" y="3753842"/>
            <a:ext cx="16383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AF"/>
                </a:solidFill>
                <a:latin typeface="IBM Plex Sans" pitchFamily="34" charset="0"/>
                <a:ea typeface="IBM Plex Sans" pitchFamily="34" charset="-122"/>
                <a:cs typeface="IBM Plex Sans" pitchFamily="34" charset="-120"/>
              </a:rPr>
              <a:t>5.3</a:t>
            </a:r>
            <a:endParaRPr lang="en-US" sz="1200" dirty="0"/>
          </a:p>
        </p:txBody>
      </p:sp>
      <p:sp>
        <p:nvSpPr>
          <p:cNvPr id="19" name="Text 17"/>
          <p:cNvSpPr/>
          <p:nvPr/>
        </p:nvSpPr>
        <p:spPr>
          <a:xfrm>
            <a:off x="711200" y="3992563"/>
            <a:ext cx="1638300" cy="6197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02E"/>
                </a:solidFill>
                <a:latin typeface="IBM Plex Sans" pitchFamily="34" charset="0"/>
                <a:ea typeface="IBM Plex Sans" pitchFamily="34" charset="-122"/>
                <a:cs typeface="IBM Plex Sans" pitchFamily="34" charset="-120"/>
              </a:rPr>
              <a:t>Major incident during a Federal Reserve event</a:t>
            </a:r>
            <a:endParaRPr lang="en-US" sz="1200" dirty="0"/>
          </a:p>
        </p:txBody>
      </p:sp>
      <p:sp>
        <p:nvSpPr>
          <p:cNvPr id="20" name="Text 18"/>
          <p:cNvSpPr/>
          <p:nvPr/>
        </p:nvSpPr>
        <p:spPr>
          <a:xfrm>
            <a:off x="2451100" y="3753842"/>
            <a:ext cx="3177525" cy="858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Diagnosed and mitigated the platform P1 in real time, stabilised nodes under high stress and guided Operations through recovery.</a:t>
            </a:r>
            <a:endParaRPr lang="en-US" sz="1200" dirty="0"/>
          </a:p>
        </p:txBody>
      </p:sp>
      <p:sp>
        <p:nvSpPr>
          <p:cNvPr id="21" name="Text 19"/>
          <p:cNvSpPr/>
          <p:nvPr/>
        </p:nvSpPr>
        <p:spPr>
          <a:xfrm>
            <a:off x="5688476" y="3753842"/>
            <a:ext cx="1765935" cy="85844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5FAF"/>
                </a:solidFill>
                <a:latin typeface="IBM Plex Sans" pitchFamily="34" charset="0"/>
                <a:ea typeface="IBM Plex Sans" pitchFamily="34" charset="-122"/>
                <a:cs typeface="IBM Plex Sans" pitchFamily="34" charset="-120"/>
              </a:rPr>
              <a:t>Transaction continuity protected; low MTTR maintained</a:t>
            </a:r>
            <a:endParaRPr lang="en-US" sz="1200" dirty="0"/>
          </a:p>
        </p:txBody>
      </p:sp>
      <p:sp>
        <p:nvSpPr>
          <p:cNvPr id="22" name="Text 20"/>
          <p:cNvSpPr/>
          <p:nvPr/>
        </p:nvSpPr>
        <p:spPr>
          <a:xfrm>
            <a:off x="7656976" y="1363929"/>
            <a:ext cx="3938539" cy="67403"/>
          </a:xfrm>
          <a:prstGeom prst="rect">
            <a:avLst/>
          </a:prstGeom>
          <a:noFill/>
          <a:ln/>
        </p:spPr>
        <p:txBody>
          <a:bodyPr wrap="square" lIns="0" tIns="0" rIns="0" bIns="0" rtlCol="0" anchor="t">
            <a:normAutofit/>
          </a:bodyPr>
          <a:lstStyle/>
          <a:p>
            <a:pPr algn="l" indent="0" marL="0">
              <a:lnSpc>
                <a:spcPts val="1008"/>
              </a:lnSpc>
              <a:buNone/>
            </a:pPr>
            <a:r>
              <a:rPr lang="en-US" sz="720" b="1" spc="100" kern="0" dirty="0">
                <a:solidFill>
                  <a:srgbClr val="5A6472"/>
                </a:solidFill>
                <a:latin typeface="IBM Plex Sans" pitchFamily="34" charset="0"/>
                <a:ea typeface="IBM Plex Sans" pitchFamily="34" charset="-122"/>
                <a:cs typeface="IBM Plex Sans" pitchFamily="34" charset="-120"/>
              </a:rPr>
              <a:t>PREVENT · LEARNINGS MADE PERMANENT</a:t>
            </a:r>
            <a:endParaRPr lang="en-US" sz="720" dirty="0"/>
          </a:p>
        </p:txBody>
      </p:sp>
      <p:sp>
        <p:nvSpPr>
          <p:cNvPr id="23" name="Shape 21"/>
          <p:cNvSpPr/>
          <p:nvPr/>
        </p:nvSpPr>
        <p:spPr>
          <a:xfrm>
            <a:off x="7660151" y="1510705"/>
            <a:ext cx="3817475" cy="1922132"/>
          </a:xfrm>
          <a:prstGeom prst="roundRect">
            <a:avLst>
              <a:gd name="adj" fmla="val 3799"/>
            </a:avLst>
          </a:prstGeom>
          <a:solidFill>
            <a:srgbClr val="FBFAF6"/>
          </a:solidFill>
          <a:ln w="6350">
            <a:solidFill>
              <a:srgbClr val="D9D4C8"/>
            </a:solidFill>
            <a:prstDash val="solid"/>
          </a:ln>
        </p:spPr>
      </p:sp>
      <p:sp>
        <p:nvSpPr>
          <p:cNvPr id="24" name="Text 22"/>
          <p:cNvSpPr/>
          <p:nvPr/>
        </p:nvSpPr>
        <p:spPr>
          <a:xfrm>
            <a:off x="7839009" y="1676865"/>
            <a:ext cx="356355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AF"/>
                </a:solidFill>
                <a:latin typeface="IBM Plex Sans" pitchFamily="34" charset="0"/>
                <a:ea typeface="IBM Plex Sans" pitchFamily="34" charset="-122"/>
                <a:cs typeface="IBM Plex Sans" pitchFamily="34" charset="-120"/>
              </a:rPr>
              <a:t>5.4</a:t>
            </a:r>
            <a:endParaRPr lang="en-US" sz="1200" dirty="0"/>
          </a:p>
        </p:txBody>
      </p:sp>
      <p:sp>
        <p:nvSpPr>
          <p:cNvPr id="25" name="Text 23"/>
          <p:cNvSpPr/>
          <p:nvPr/>
        </p:nvSpPr>
        <p:spPr>
          <a:xfrm>
            <a:off x="7839009" y="1953685"/>
            <a:ext cx="3563551"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Source Serif 4" pitchFamily="18" charset="0"/>
                <a:ea typeface="Source Serif 4" pitchFamily="18" charset="-122"/>
                <a:cs typeface="Source Serif 4" pitchFamily="18" charset="-120"/>
              </a:rPr>
              <a:t>Operations handover &amp; readiness framework</a:t>
            </a:r>
            <a:endParaRPr lang="en-US" sz="1400" dirty="0"/>
          </a:p>
        </p:txBody>
      </p:sp>
      <p:sp>
        <p:nvSpPr>
          <p:cNvPr id="26" name="Text 24"/>
          <p:cNvSpPr/>
          <p:nvPr/>
        </p:nvSpPr>
        <p:spPr>
          <a:xfrm>
            <a:off x="7839009" y="2443826"/>
            <a:ext cx="3563551" cy="84825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I designed a repeatable path-to-production handover — beyond runbook writing — with runbooks and training. </a:t>
            </a:r>
            <a:r>
              <a:rPr lang="en-US" sz="1200" b="1" dirty="0">
                <a:solidFill>
                  <a:srgbClr val="14202E"/>
                </a:solidFill>
                <a:latin typeface="IBM Plex Sans" pitchFamily="34" charset="0"/>
                <a:ea typeface="IBM Plex Sans" pitchFamily="34" charset="-122"/>
                <a:cs typeface="IBM Plex Sans" pitchFamily="34" charset="-120"/>
              </a:rPr>
              <a:t>Impact:</a:t>
            </a:r>
            <a:r>
              <a:rPr lang="en-US" sz="1200" dirty="0">
                <a:solidFill>
                  <a:srgbClr val="14202E"/>
                </a:solidFill>
                <a:latin typeface="IBM Plex Sans" pitchFamily="34" charset="0"/>
                <a:ea typeface="IBM Plex Sans" pitchFamily="34" charset="-122"/>
                <a:cs typeface="IBM Plex Sans" pitchFamily="34" charset="-120"/>
              </a:rPr>
              <a:t> less operational drift and post-deployment incident risk.</a:t>
            </a:r>
            <a:endParaRPr lang="en-US" sz="1200" dirty="0"/>
          </a:p>
        </p:txBody>
      </p:sp>
      <p:sp>
        <p:nvSpPr>
          <p:cNvPr id="27" name="Shape 25"/>
          <p:cNvSpPr/>
          <p:nvPr/>
        </p:nvSpPr>
        <p:spPr>
          <a:xfrm>
            <a:off x="7660151" y="3540789"/>
            <a:ext cx="3817475" cy="1708812"/>
          </a:xfrm>
          <a:prstGeom prst="roundRect">
            <a:avLst>
              <a:gd name="adj" fmla="val 4273"/>
            </a:avLst>
          </a:prstGeom>
          <a:solidFill>
            <a:srgbClr val="FBFAF6"/>
          </a:solidFill>
          <a:ln w="6350">
            <a:solidFill>
              <a:srgbClr val="D9D4C8"/>
            </a:solidFill>
            <a:prstDash val="solid"/>
          </a:ln>
        </p:spPr>
      </p:sp>
      <p:sp>
        <p:nvSpPr>
          <p:cNvPr id="28" name="Text 26"/>
          <p:cNvSpPr/>
          <p:nvPr/>
        </p:nvSpPr>
        <p:spPr>
          <a:xfrm>
            <a:off x="7839009" y="3706946"/>
            <a:ext cx="356355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AF"/>
                </a:solidFill>
                <a:latin typeface="IBM Plex Sans" pitchFamily="34" charset="0"/>
                <a:ea typeface="IBM Plex Sans" pitchFamily="34" charset="-122"/>
                <a:cs typeface="IBM Plex Sans" pitchFamily="34" charset="-120"/>
              </a:rPr>
              <a:t>5.5</a:t>
            </a:r>
            <a:endParaRPr lang="en-US" sz="1200" dirty="0"/>
          </a:p>
        </p:txBody>
      </p:sp>
      <p:sp>
        <p:nvSpPr>
          <p:cNvPr id="29" name="Text 27"/>
          <p:cNvSpPr/>
          <p:nvPr/>
        </p:nvSpPr>
        <p:spPr>
          <a:xfrm>
            <a:off x="7839009" y="3983766"/>
            <a:ext cx="356355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Source Serif 4" pitchFamily="18" charset="0"/>
                <a:ea typeface="Source Serif 4" pitchFamily="18" charset="-122"/>
                <a:cs typeface="Source Serif 4" pitchFamily="18" charset="-120"/>
              </a:rPr>
              <a:t>Automated cluster regression testing</a:t>
            </a:r>
            <a:endParaRPr lang="en-US" sz="1400" dirty="0"/>
          </a:p>
        </p:txBody>
      </p:sp>
      <p:sp>
        <p:nvSpPr>
          <p:cNvPr id="30" name="Text 28"/>
          <p:cNvSpPr/>
          <p:nvPr/>
        </p:nvSpPr>
        <p:spPr>
          <a:xfrm>
            <a:off x="7839009" y="4260590"/>
            <a:ext cx="3563551" cy="84825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I built and maintain Python regression functions checking cluster health, route creation and storage. </a:t>
            </a:r>
            <a:r>
              <a:rPr lang="en-US" sz="1200" b="1" dirty="0">
                <a:solidFill>
                  <a:srgbClr val="14202E"/>
                </a:solidFill>
                <a:latin typeface="IBM Plex Sans" pitchFamily="34" charset="0"/>
                <a:ea typeface="IBM Plex Sans" pitchFamily="34" charset="-122"/>
                <a:cs typeface="IBM Plex Sans" pitchFamily="34" charset="-120"/>
              </a:rPr>
              <a:t>Impact:</a:t>
            </a:r>
            <a:r>
              <a:rPr lang="en-US" sz="1200" dirty="0">
                <a:solidFill>
                  <a:srgbClr val="14202E"/>
                </a:solidFill>
                <a:latin typeface="IBM Plex Sans" pitchFamily="34" charset="0"/>
                <a:ea typeface="IBM Plex Sans" pitchFamily="34" charset="-122"/>
                <a:cs typeface="IBM Plex Sans" pitchFamily="34" charset="-120"/>
              </a:rPr>
              <a:t> manual validation removed; hours of toil saved per cluster build.</a:t>
            </a:r>
            <a:endParaRPr lang="en-US" sz="1200" dirty="0"/>
          </a:p>
        </p:txBody>
      </p:sp>
      <p:sp>
        <p:nvSpPr>
          <p:cNvPr id="31" name="Shape 29"/>
          <p:cNvSpPr/>
          <p:nvPr/>
        </p:nvSpPr>
        <p:spPr>
          <a:xfrm>
            <a:off x="711200" y="5405177"/>
            <a:ext cx="10769600" cy="640027"/>
          </a:xfrm>
          <a:prstGeom prst="roundRect">
            <a:avLst>
              <a:gd name="adj" fmla="val 3969"/>
            </a:avLst>
          </a:prstGeom>
          <a:solidFill>
            <a:srgbClr val="E3EAF4"/>
          </a:solidFill>
          <a:ln/>
        </p:spPr>
      </p:sp>
      <p:sp>
        <p:nvSpPr>
          <p:cNvPr id="32" name="Shape 30"/>
          <p:cNvSpPr/>
          <p:nvPr/>
        </p:nvSpPr>
        <p:spPr>
          <a:xfrm>
            <a:off x="711200" y="5405177"/>
            <a:ext cx="10769600" cy="640027"/>
          </a:xfrm>
          <a:custGeom>
            <a:avLst/>
            <a:gdLst/>
            <a:ahLst/>
            <a:cxnLst/>
            <a:rect l="l" t="t" r="r" b="b"/>
            <a:pathLst>
              <a:path w="10769600" h="640027">
                <a:moveTo>
                  <a:pt x="38100" y="640027"/>
                </a:moveTo>
                <a:lnTo>
                  <a:pt x="25400" y="640027"/>
                </a:lnTo>
                <a:arcTo hR="25400" wR="25400" stAng="5400000" swAng="5400000"/>
                <a:lnTo>
                  <a:pt x="0" y="25400"/>
                </a:lnTo>
                <a:arcTo hR="25400" wR="25400" stAng="10800000" swAng="5400000"/>
                <a:lnTo>
                  <a:pt x="38100" y="0"/>
                </a:lnTo>
                <a:lnTo>
                  <a:pt x="38100" y="640027"/>
                </a:lnTo>
                <a:close/>
              </a:path>
            </a:pathLst>
          </a:custGeom>
          <a:solidFill>
            <a:srgbClr val="1F5FAF"/>
          </a:solidFill>
          <a:ln/>
        </p:spPr>
      </p:sp>
      <p:sp>
        <p:nvSpPr>
          <p:cNvPr id="33" name="Text 31"/>
          <p:cNvSpPr/>
          <p:nvPr/>
        </p:nvSpPr>
        <p:spPr>
          <a:xfrm>
            <a:off x="927100" y="5618497"/>
            <a:ext cx="18207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F"/>
                </a:solidFill>
                <a:latin typeface="IBM Plex Sans" pitchFamily="34" charset="0"/>
                <a:ea typeface="IBM Plex Sans" pitchFamily="34" charset="-122"/>
                <a:cs typeface="IBM Plex Sans" pitchFamily="34" charset="-120"/>
              </a:rPr>
              <a:t>Why this meets Level 3</a:t>
            </a:r>
            <a:endParaRPr lang="en-US" sz="1200" dirty="0"/>
          </a:p>
        </p:txBody>
      </p:sp>
      <p:sp>
        <p:nvSpPr>
          <p:cNvPr id="34" name="Text 32"/>
          <p:cNvSpPr/>
          <p:nvPr/>
        </p:nvSpPr>
        <p:spPr>
          <a:xfrm>
            <a:off x="2747830" y="5519477"/>
            <a:ext cx="881182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I manage high-priority incidents front to back, then feed what I learn into repeatable processes and automation so the same failure is less likely and recovery is faster.</a:t>
            </a:r>
            <a:endParaRPr lang="en-US" sz="1200" dirty="0"/>
          </a:p>
        </p:txBody>
      </p:sp>
      <p:sp>
        <p:nvSpPr>
          <p:cNvPr id="35" name="Text 33"/>
          <p:cNvSpPr/>
          <p:nvPr/>
        </p:nvSpPr>
        <p:spPr>
          <a:xfrm>
            <a:off x="711200" y="6339880"/>
            <a:ext cx="104218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ECDF · OPERATES · ~5 min · Evidence: appreciation from leadership, recovery channels, approved framework, runbooks, code repository, PR reviews</a:t>
            </a:r>
            <a:endParaRPr lang="en-US" sz="1200" dirty="0"/>
          </a:p>
        </p:txBody>
      </p:sp>
      <p:sp>
        <p:nvSpPr>
          <p:cNvPr id="36" name="Text 34"/>
          <p:cNvSpPr/>
          <p:nvPr/>
        </p:nvSpPr>
        <p:spPr>
          <a:xfrm>
            <a:off x="10933906" y="6339880"/>
            <a:ext cx="54689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08 / 14</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711200" y="406400"/>
            <a:ext cx="1124215" cy="289520"/>
          </a:xfrm>
          <a:prstGeom prst="roundRect">
            <a:avLst>
              <a:gd name="adj" fmla="val 13160"/>
            </a:avLst>
          </a:prstGeom>
          <a:solidFill>
            <a:srgbClr val="1F5FAF"/>
          </a:solidFill>
          <a:ln/>
        </p:spPr>
        <p:txBody>
          <a:bodyPr wrap="none" lIns="0" tIns="0" rIns="0" bIns="0" rtlCol="0" anchor="ctr">
            <a:normAutofit/>
          </a:bodyPr>
          <a:lstStyle/>
          <a:p>
            <a:pPr algn="ctr" indent="0" marL="0">
              <a:lnSpc>
                <a:spcPts val="1680"/>
              </a:lnSpc>
              <a:buNone/>
            </a:pPr>
            <a:r>
              <a:rPr lang="en-US" sz="1200" b="1" spc="150" kern="0" dirty="0">
                <a:solidFill>
                  <a:srgbClr val="FBFAF6"/>
                </a:solidFill>
                <a:latin typeface="IBM Plex Sans" pitchFamily="34" charset="0"/>
                <a:ea typeface="IBM Plex Sans" pitchFamily="34" charset="-122"/>
                <a:cs typeface="IBM Plex Sans" pitchFamily="34" charset="-120"/>
              </a:rPr>
              <a:t>ACHIEVES</a:t>
            </a:r>
            <a:endParaRPr lang="en-US" sz="1200" dirty="0"/>
          </a:p>
        </p:txBody>
      </p:sp>
      <p:sp>
        <p:nvSpPr>
          <p:cNvPr id="3" name="Text 1"/>
          <p:cNvSpPr/>
          <p:nvPr/>
        </p:nvSpPr>
        <p:spPr>
          <a:xfrm>
            <a:off x="1962415" y="444500"/>
            <a:ext cx="220233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F"/>
                </a:solidFill>
                <a:latin typeface="IBM Plex Sans" pitchFamily="34" charset="0"/>
                <a:ea typeface="IBM Plex Sans" pitchFamily="34" charset="-122"/>
                <a:cs typeface="IBM Plex Sans" pitchFamily="34" charset="-120"/>
              </a:rPr>
              <a:t>Required: Level 3 · Skilled</a:t>
            </a:r>
            <a:endParaRPr lang="en-US" sz="1200" dirty="0"/>
          </a:p>
        </p:txBody>
      </p:sp>
      <p:sp>
        <p:nvSpPr>
          <p:cNvPr id="4" name="Text 2"/>
          <p:cNvSpPr/>
          <p:nvPr/>
        </p:nvSpPr>
        <p:spPr>
          <a:xfrm>
            <a:off x="10214637" y="444500"/>
            <a:ext cx="15193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Evidence 6.1 – 6.3</a:t>
            </a:r>
            <a:endParaRPr lang="en-US" sz="1200" dirty="0"/>
          </a:p>
        </p:txBody>
      </p:sp>
      <p:sp>
        <p:nvSpPr>
          <p:cNvPr id="5" name="Text 3"/>
          <p:cNvSpPr/>
          <p:nvPr>
            <p:ph type="title"/>
          </p:nvPr>
        </p:nvSpPr>
        <p:spPr>
          <a:xfrm>
            <a:off x="711200" y="848320"/>
            <a:ext cx="11092688" cy="388607"/>
          </a:xfrm>
          <a:prstGeom prst="rect">
            <a:avLst/>
          </a:prstGeom>
          <a:noFill/>
          <a:ln/>
        </p:spPr>
        <p:txBody>
          <a:bodyPr wrap="square" lIns="0" tIns="0" rIns="0" bIns="0" rtlCol="0" anchor="t">
            <a:normAutofit/>
          </a:bodyPr>
          <a:lstStyle/>
          <a:p>
            <a:pPr algn="l" indent="0" marL="0">
              <a:lnSpc>
                <a:spcPts val="2860"/>
              </a:lnSpc>
              <a:buNone/>
            </a:pPr>
            <a:r>
              <a:rPr lang="en-US" sz="2600" b="0" i="0" dirty="0">
                <a:solidFill>
                  <a:srgbClr val="14202E"/>
                </a:solidFill>
                <a:latin typeface="Source Serif 4" pitchFamily="18" charset="0"/>
                <a:ea typeface="Source Serif 4" pitchFamily="18" charset="-122"/>
                <a:cs typeface="Source Serif 4" pitchFamily="18" charset="-120"/>
              </a:rPr>
              <a:t>I convert engineering capability into business value</a:t>
            </a:r>
            <a:endParaRPr lang="en-US" sz="2600" dirty="0"/>
          </a:p>
        </p:txBody>
      </p:sp>
      <p:sp>
        <p:nvSpPr>
          <p:cNvPr id="6" name="Shape 4"/>
          <p:cNvSpPr/>
          <p:nvPr/>
        </p:nvSpPr>
        <p:spPr>
          <a:xfrm>
            <a:off x="714375" y="1367104"/>
            <a:ext cx="3481917" cy="3882496"/>
          </a:xfrm>
          <a:prstGeom prst="roundRect">
            <a:avLst>
              <a:gd name="adj" fmla="val 2097"/>
            </a:avLst>
          </a:prstGeom>
          <a:solidFill>
            <a:srgbClr val="FBFAF6"/>
          </a:solidFill>
          <a:ln w="6350">
            <a:solidFill>
              <a:srgbClr val="D9D4C8"/>
            </a:solidFill>
            <a:prstDash val="solid"/>
          </a:ln>
        </p:spPr>
      </p:sp>
      <p:sp>
        <p:nvSpPr>
          <p:cNvPr id="7" name="Text 5"/>
          <p:cNvSpPr/>
          <p:nvPr/>
        </p:nvSpPr>
        <p:spPr>
          <a:xfrm>
            <a:off x="893233" y="1533265"/>
            <a:ext cx="3217926" cy="205978"/>
          </a:xfrm>
          <a:prstGeom prst="rect">
            <a:avLst/>
          </a:prstGeom>
          <a:noFill/>
          <a:ln/>
        </p:spPr>
        <p:txBody>
          <a:bodyPr wrap="square" lIns="0" tIns="0" rIns="0" bIns="0" rtlCol="0" anchor="t">
            <a:normAutofit/>
          </a:bodyPr>
          <a:lstStyle/>
          <a:p>
            <a:pPr algn="l" indent="0" marL="0">
              <a:lnSpc>
                <a:spcPts val="1423"/>
              </a:lnSpc>
              <a:buNone/>
            </a:pPr>
            <a:r>
              <a:rPr lang="en-US" sz="1016" b="1" spc="100" kern="0" dirty="0">
                <a:solidFill>
                  <a:srgbClr val="1F5FAF"/>
                </a:solidFill>
                <a:latin typeface="IBM Plex Sans" pitchFamily="34" charset="0"/>
                <a:ea typeface="IBM Plex Sans" pitchFamily="34" charset="-122"/>
                <a:cs typeface="IBM Plex Sans" pitchFamily="34" charset="-120"/>
              </a:rPr>
              <a:t>6.1</a:t>
            </a:r>
            <a:endParaRPr lang="en-US" sz="1016" dirty="0"/>
          </a:p>
        </p:txBody>
      </p:sp>
      <p:sp>
        <p:nvSpPr>
          <p:cNvPr id="8" name="Text 6"/>
          <p:cNvSpPr/>
          <p:nvPr/>
        </p:nvSpPr>
        <p:spPr>
          <a:xfrm>
            <a:off x="893233" y="1777343"/>
            <a:ext cx="3217926" cy="205912"/>
          </a:xfrm>
          <a:prstGeom prst="rect">
            <a:avLst/>
          </a:prstGeom>
          <a:noFill/>
          <a:ln/>
        </p:spPr>
        <p:txBody>
          <a:bodyPr wrap="square" lIns="0" tIns="0" rIns="0" bIns="0" rtlCol="0" anchor="t">
            <a:normAutofit/>
          </a:bodyPr>
          <a:lstStyle/>
          <a:p>
            <a:pPr algn="l" indent="0" marL="0">
              <a:lnSpc>
                <a:spcPts val="1423"/>
              </a:lnSpc>
              <a:buNone/>
            </a:pPr>
            <a:r>
              <a:rPr lang="en-US" sz="1186" b="1" dirty="0">
                <a:solidFill>
                  <a:srgbClr val="14202E"/>
                </a:solidFill>
                <a:latin typeface="Source Serif 4" pitchFamily="18" charset="0"/>
                <a:ea typeface="Source Serif 4" pitchFamily="18" charset="-122"/>
                <a:cs typeface="Source Serif 4" pitchFamily="18" charset="-120"/>
              </a:rPr>
              <a:t>OCP3 → OCP4 platform upgrade</a:t>
            </a:r>
            <a:endParaRPr lang="en-US" sz="1186" dirty="0"/>
          </a:p>
        </p:txBody>
      </p:sp>
      <p:sp>
        <p:nvSpPr>
          <p:cNvPr id="9" name="Text 7"/>
          <p:cNvSpPr/>
          <p:nvPr/>
        </p:nvSpPr>
        <p:spPr>
          <a:xfrm>
            <a:off x="893233" y="2021353"/>
            <a:ext cx="3217926" cy="205912"/>
          </a:xfrm>
          <a:prstGeom prst="rect">
            <a:avLst/>
          </a:prstGeom>
          <a:noFill/>
          <a:ln/>
        </p:spPr>
        <p:txBody>
          <a:bodyPr wrap="square" lIns="0" tIns="0" rIns="0" bIns="0" rtlCol="0" anchor="t">
            <a:normAutofit/>
          </a:bodyPr>
          <a:lstStyle/>
          <a:p>
            <a:pPr algn="l" indent="0" marL="0">
              <a:lnSpc>
                <a:spcPts val="1423"/>
              </a:lnSpc>
              <a:buNone/>
            </a:pPr>
            <a:r>
              <a:rPr lang="en-US" sz="1016" b="1" spc="100" kern="0" dirty="0">
                <a:solidFill>
                  <a:srgbClr val="5A6472"/>
                </a:solidFill>
                <a:latin typeface="IBM Plex Sans" pitchFamily="34" charset="0"/>
                <a:ea typeface="IBM Plex Sans" pitchFamily="34" charset="-122"/>
                <a:cs typeface="IBM Plex Sans" pitchFamily="34" charset="-120"/>
              </a:rPr>
              <a:t>BUSINESS BARRIER</a:t>
            </a:r>
            <a:endParaRPr lang="en-US" sz="1016" dirty="0"/>
          </a:p>
        </p:txBody>
      </p:sp>
      <p:sp>
        <p:nvSpPr>
          <p:cNvPr id="10" name="Text 8"/>
          <p:cNvSpPr/>
          <p:nvPr/>
        </p:nvSpPr>
        <p:spPr>
          <a:xfrm>
            <a:off x="893233" y="2265363"/>
            <a:ext cx="3217926" cy="373592"/>
          </a:xfrm>
          <a:prstGeom prst="rect">
            <a:avLst/>
          </a:prstGeom>
          <a:noFill/>
          <a:ln/>
        </p:spPr>
        <p:txBody>
          <a:bodyPr wrap="square" lIns="0" tIns="0" rIns="0" bIns="0" rtlCol="0" anchor="t">
            <a:normAutofit/>
          </a:bodyPr>
          <a:lstStyle/>
          <a:p>
            <a:pPr algn="l" indent="0" marL="0">
              <a:lnSpc>
                <a:spcPts val="1387"/>
              </a:lnSpc>
              <a:buNone/>
            </a:pPr>
            <a:r>
              <a:rPr lang="en-US" sz="1028" dirty="0">
                <a:solidFill>
                  <a:srgbClr val="14202E"/>
                </a:solidFill>
                <a:latin typeface="IBM Plex Sans" pitchFamily="34" charset="0"/>
                <a:ea typeface="IBM Plex Sans" pitchFamily="34" charset="-122"/>
                <a:cs typeface="IBM Plex Sans" pitchFamily="34" charset="-120"/>
              </a:rPr>
              <a:t>Client onboarding blocked; OCP3 carried unsupported-version risk.</a:t>
            </a:r>
            <a:endParaRPr lang="en-US" sz="1028" dirty="0"/>
          </a:p>
        </p:txBody>
      </p:sp>
      <p:sp>
        <p:nvSpPr>
          <p:cNvPr id="11" name="Text 9"/>
          <p:cNvSpPr/>
          <p:nvPr/>
        </p:nvSpPr>
        <p:spPr>
          <a:xfrm>
            <a:off x="893233" y="2677058"/>
            <a:ext cx="3217926" cy="205912"/>
          </a:xfrm>
          <a:prstGeom prst="rect">
            <a:avLst/>
          </a:prstGeom>
          <a:noFill/>
          <a:ln/>
        </p:spPr>
        <p:txBody>
          <a:bodyPr wrap="square" lIns="0" tIns="0" rIns="0" bIns="0" rtlCol="0" anchor="t">
            <a:normAutofit/>
          </a:bodyPr>
          <a:lstStyle/>
          <a:p>
            <a:pPr algn="l" indent="0" marL="0">
              <a:lnSpc>
                <a:spcPts val="1423"/>
              </a:lnSpc>
              <a:buNone/>
            </a:pPr>
            <a:r>
              <a:rPr lang="en-US" sz="1016" b="1" spc="100" kern="0" dirty="0">
                <a:solidFill>
                  <a:srgbClr val="5A6472"/>
                </a:solidFill>
                <a:latin typeface="IBM Plex Sans" pitchFamily="34" charset="0"/>
                <a:ea typeface="IBM Plex Sans" pitchFamily="34" charset="-122"/>
                <a:cs typeface="IBM Plex Sans" pitchFamily="34" charset="-120"/>
              </a:rPr>
              <a:t>WHAT I DID</a:t>
            </a:r>
            <a:endParaRPr lang="en-US" sz="1016" dirty="0"/>
          </a:p>
        </p:txBody>
      </p:sp>
      <p:sp>
        <p:nvSpPr>
          <p:cNvPr id="12" name="Text 10"/>
          <p:cNvSpPr/>
          <p:nvPr/>
        </p:nvSpPr>
        <p:spPr>
          <a:xfrm>
            <a:off x="893233" y="2921068"/>
            <a:ext cx="3217926" cy="721717"/>
          </a:xfrm>
          <a:prstGeom prst="rect">
            <a:avLst/>
          </a:prstGeom>
          <a:noFill/>
          <a:ln/>
        </p:spPr>
        <p:txBody>
          <a:bodyPr wrap="square" lIns="0" tIns="0" rIns="0" bIns="0" rtlCol="0" anchor="t">
            <a:normAutofit/>
          </a:bodyPr>
          <a:lstStyle/>
          <a:p>
            <a:pPr algn="l" indent="0" marL="0">
              <a:lnSpc>
                <a:spcPts val="1377"/>
              </a:lnSpc>
              <a:buNone/>
            </a:pPr>
            <a:r>
              <a:rPr lang="en-US" sz="1020" dirty="0">
                <a:solidFill>
                  <a:srgbClr val="14202E"/>
                </a:solidFill>
                <a:latin typeface="IBM Plex Sans" pitchFamily="34" charset="0"/>
                <a:ea typeface="IBM Plex Sans" pitchFamily="34" charset="-122"/>
                <a:cs typeface="IBM Plex Sans" pitchFamily="34" charset="-120"/>
              </a:rPr>
              <a:t>Owned the end-to-end delivery plan, business communication, prerequisites, automated builds, post-build checks and transition to Product and Operations.</a:t>
            </a:r>
            <a:endParaRPr lang="en-US" sz="1020" dirty="0"/>
          </a:p>
        </p:txBody>
      </p:sp>
      <p:sp>
        <p:nvSpPr>
          <p:cNvPr id="13" name="Text 11"/>
          <p:cNvSpPr/>
          <p:nvPr/>
        </p:nvSpPr>
        <p:spPr>
          <a:xfrm>
            <a:off x="893233" y="3680885"/>
            <a:ext cx="3217926" cy="205912"/>
          </a:xfrm>
          <a:prstGeom prst="rect">
            <a:avLst/>
          </a:prstGeom>
          <a:noFill/>
          <a:ln/>
        </p:spPr>
        <p:txBody>
          <a:bodyPr wrap="square" lIns="0" tIns="0" rIns="0" bIns="0" rtlCol="0" anchor="t">
            <a:normAutofit/>
          </a:bodyPr>
          <a:lstStyle/>
          <a:p>
            <a:pPr algn="l" indent="0" marL="0">
              <a:lnSpc>
                <a:spcPts val="1423"/>
              </a:lnSpc>
              <a:buNone/>
            </a:pPr>
            <a:r>
              <a:rPr lang="en-US" sz="1016" b="1" spc="100" kern="0" dirty="0">
                <a:solidFill>
                  <a:srgbClr val="1F5FAF"/>
                </a:solidFill>
                <a:latin typeface="IBM Plex Sans" pitchFamily="34" charset="0"/>
                <a:ea typeface="IBM Plex Sans" pitchFamily="34" charset="-122"/>
                <a:cs typeface="IBM Plex Sans" pitchFamily="34" charset="-120"/>
              </a:rPr>
              <a:t>VALUE UNLOCKED</a:t>
            </a:r>
            <a:endParaRPr lang="en-US" sz="1016" dirty="0"/>
          </a:p>
        </p:txBody>
      </p:sp>
      <p:sp>
        <p:nvSpPr>
          <p:cNvPr id="14" name="Text 12"/>
          <p:cNvSpPr/>
          <p:nvPr/>
        </p:nvSpPr>
        <p:spPr>
          <a:xfrm>
            <a:off x="893233" y="3924895"/>
            <a:ext cx="3217926" cy="721717"/>
          </a:xfrm>
          <a:prstGeom prst="rect">
            <a:avLst/>
          </a:prstGeom>
          <a:noFill/>
          <a:ln/>
        </p:spPr>
        <p:txBody>
          <a:bodyPr wrap="square" lIns="0" tIns="0" rIns="0" bIns="0" rtlCol="0" anchor="t">
            <a:normAutofit/>
          </a:bodyPr>
          <a:lstStyle/>
          <a:p>
            <a:pPr algn="l" indent="0" marL="0">
              <a:lnSpc>
                <a:spcPts val="1387"/>
              </a:lnSpc>
              <a:buNone/>
            </a:pPr>
            <a:r>
              <a:rPr lang="en-US" sz="1028" b="1" dirty="0">
                <a:solidFill>
                  <a:srgbClr val="14202E"/>
                </a:solidFill>
                <a:latin typeface="IBM Plex Sans" pitchFamily="34" charset="0"/>
                <a:ea typeface="IBM Plex Sans" pitchFamily="34" charset="-122"/>
                <a:cs typeface="IBM Plex Sans" pitchFamily="34" charset="-120"/>
              </a:rPr>
              <a:t>15+ production-ready OCP4 clusters; client onboarding unblocked; aligned to the strategic roadmap; potential extended-support cost avoided.</a:t>
            </a:r>
            <a:endParaRPr lang="en-US" sz="1028" dirty="0"/>
          </a:p>
        </p:txBody>
      </p:sp>
      <p:sp>
        <p:nvSpPr>
          <p:cNvPr id="15" name="Text 13"/>
          <p:cNvSpPr/>
          <p:nvPr/>
        </p:nvSpPr>
        <p:spPr>
          <a:xfrm>
            <a:off x="893233" y="4748213"/>
            <a:ext cx="3217926" cy="360627"/>
          </a:xfrm>
          <a:prstGeom prst="rect">
            <a:avLst/>
          </a:prstGeom>
          <a:noFill/>
          <a:ln/>
        </p:spPr>
        <p:txBody>
          <a:bodyPr wrap="square" lIns="0" tIns="0" rIns="0" bIns="0" rtlCol="0" anchor="t">
            <a:normAutofit/>
          </a:bodyPr>
          <a:lstStyle/>
          <a:p>
            <a:pPr algn="l" indent="0" marL="0">
              <a:lnSpc>
                <a:spcPts val="1336"/>
              </a:lnSpc>
              <a:buNone/>
            </a:pPr>
            <a:r>
              <a:rPr lang="en-US" sz="1028" b="1" dirty="0">
                <a:solidFill>
                  <a:srgbClr val="5A6472"/>
                </a:solidFill>
                <a:latin typeface="IBM Plex Sans" pitchFamily="34" charset="0"/>
                <a:ea typeface="IBM Plex Sans" pitchFamily="34" charset="-122"/>
                <a:cs typeface="IBM Plex Sans" pitchFamily="34" charset="-120"/>
              </a:rPr>
              <a:t>Evidence:</a:t>
            </a:r>
            <a:r>
              <a:rPr lang="en-US" sz="1028" dirty="0">
                <a:solidFill>
                  <a:srgbClr val="5A6472"/>
                </a:solidFill>
                <a:latin typeface="IBM Plex Sans" pitchFamily="34" charset="0"/>
                <a:ea typeface="IBM Plex Sans" pitchFamily="34" charset="-122"/>
                <a:cs typeface="IBM Plex Sans" pitchFamily="34" charset="-120"/>
              </a:rPr>
              <a:t> Cluster inventory; Confluence; deployment plans</a:t>
            </a:r>
            <a:endParaRPr lang="en-US" sz="1028" dirty="0"/>
          </a:p>
        </p:txBody>
      </p:sp>
      <p:sp>
        <p:nvSpPr>
          <p:cNvPr id="16" name="Shape 14"/>
          <p:cNvSpPr/>
          <p:nvPr/>
        </p:nvSpPr>
        <p:spPr>
          <a:xfrm>
            <a:off x="4355042" y="1367104"/>
            <a:ext cx="3481917" cy="3882496"/>
          </a:xfrm>
          <a:prstGeom prst="roundRect">
            <a:avLst>
              <a:gd name="adj" fmla="val 2097"/>
            </a:avLst>
          </a:prstGeom>
          <a:solidFill>
            <a:srgbClr val="FBFAF6"/>
          </a:solidFill>
          <a:ln w="6350">
            <a:solidFill>
              <a:srgbClr val="D9D4C8"/>
            </a:solidFill>
            <a:prstDash val="solid"/>
          </a:ln>
        </p:spPr>
      </p:sp>
      <p:sp>
        <p:nvSpPr>
          <p:cNvPr id="17" name="Text 15"/>
          <p:cNvSpPr/>
          <p:nvPr/>
        </p:nvSpPr>
        <p:spPr>
          <a:xfrm>
            <a:off x="4533900" y="1533265"/>
            <a:ext cx="321792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AF"/>
                </a:solidFill>
                <a:latin typeface="IBM Plex Sans" pitchFamily="34" charset="0"/>
                <a:ea typeface="IBM Plex Sans" pitchFamily="34" charset="-122"/>
                <a:cs typeface="IBM Plex Sans" pitchFamily="34" charset="-120"/>
              </a:rPr>
              <a:t>6.2</a:t>
            </a:r>
            <a:endParaRPr lang="en-US" sz="1200" dirty="0"/>
          </a:p>
        </p:txBody>
      </p:sp>
      <p:sp>
        <p:nvSpPr>
          <p:cNvPr id="18" name="Text 16"/>
          <p:cNvSpPr/>
          <p:nvPr/>
        </p:nvSpPr>
        <p:spPr>
          <a:xfrm>
            <a:off x="4533900" y="1810085"/>
            <a:ext cx="32179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Source Serif 4" pitchFamily="18" charset="0"/>
                <a:ea typeface="Source Serif 4" pitchFamily="18" charset="-122"/>
                <a:cs typeface="Source Serif 4" pitchFamily="18" charset="-120"/>
              </a:rPr>
              <a:t>Vertex AI platform enablement</a:t>
            </a:r>
            <a:endParaRPr lang="en-US" sz="1400" dirty="0"/>
          </a:p>
        </p:txBody>
      </p:sp>
      <p:sp>
        <p:nvSpPr>
          <p:cNvPr id="19" name="Text 17"/>
          <p:cNvSpPr/>
          <p:nvPr/>
        </p:nvSpPr>
        <p:spPr>
          <a:xfrm>
            <a:off x="4533900" y="2086905"/>
            <a:ext cx="321792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6472"/>
                </a:solidFill>
                <a:latin typeface="IBM Plex Sans" pitchFamily="34" charset="0"/>
                <a:ea typeface="IBM Plex Sans" pitchFamily="34" charset="-122"/>
                <a:cs typeface="IBM Plex Sans" pitchFamily="34" charset="-120"/>
              </a:rPr>
              <a:t>BUSINESS BARRIER</a:t>
            </a:r>
            <a:endParaRPr lang="en-US" sz="1200" dirty="0"/>
          </a:p>
        </p:txBody>
      </p:sp>
      <p:sp>
        <p:nvSpPr>
          <p:cNvPr id="20" name="Text 18"/>
          <p:cNvSpPr/>
          <p:nvPr/>
        </p:nvSpPr>
        <p:spPr>
          <a:xfrm>
            <a:off x="4533900" y="2363725"/>
            <a:ext cx="3217926"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Regulatory and platform bottlenecks held back pre-production AI/ML work.</a:t>
            </a:r>
            <a:endParaRPr lang="en-US" sz="1200" dirty="0"/>
          </a:p>
        </p:txBody>
      </p:sp>
      <p:sp>
        <p:nvSpPr>
          <p:cNvPr id="21" name="Text 19"/>
          <p:cNvSpPr/>
          <p:nvPr/>
        </p:nvSpPr>
        <p:spPr>
          <a:xfrm>
            <a:off x="4533900" y="2838648"/>
            <a:ext cx="321792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6472"/>
                </a:solidFill>
                <a:latin typeface="IBM Plex Sans" pitchFamily="34" charset="0"/>
                <a:ea typeface="IBM Plex Sans" pitchFamily="34" charset="-122"/>
                <a:cs typeface="IBM Plex Sans" pitchFamily="34" charset="-120"/>
              </a:rPr>
              <a:t>WHAT I DID</a:t>
            </a:r>
            <a:endParaRPr lang="en-US" sz="1200" dirty="0"/>
          </a:p>
        </p:txBody>
      </p:sp>
      <p:sp>
        <p:nvSpPr>
          <p:cNvPr id="22" name="Text 20"/>
          <p:cNvSpPr/>
          <p:nvPr/>
        </p:nvSpPr>
        <p:spPr>
          <a:xfrm>
            <a:off x="4533900" y="3115469"/>
            <a:ext cx="3217926"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Led end-to-end Vertex AI enablement inside the Fabric Landing Zone, turning a business concept into a compliant platform capability.</a:t>
            </a:r>
            <a:endParaRPr lang="en-US" sz="1200" dirty="0"/>
          </a:p>
        </p:txBody>
      </p:sp>
      <p:sp>
        <p:nvSpPr>
          <p:cNvPr id="23" name="Text 21"/>
          <p:cNvSpPr/>
          <p:nvPr/>
        </p:nvSpPr>
        <p:spPr>
          <a:xfrm>
            <a:off x="4533900" y="3796109"/>
            <a:ext cx="321792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AF"/>
                </a:solidFill>
                <a:latin typeface="IBM Plex Sans" pitchFamily="34" charset="0"/>
                <a:ea typeface="IBM Plex Sans" pitchFamily="34" charset="-122"/>
                <a:cs typeface="IBM Plex Sans" pitchFamily="34" charset="-120"/>
              </a:rPr>
              <a:t>VALUE UNLOCKED</a:t>
            </a:r>
            <a:endParaRPr lang="en-US" sz="1200" dirty="0"/>
          </a:p>
        </p:txBody>
      </p:sp>
      <p:sp>
        <p:nvSpPr>
          <p:cNvPr id="24" name="Text 22"/>
          <p:cNvSpPr/>
          <p:nvPr/>
        </p:nvSpPr>
        <p:spPr>
          <a:xfrm>
            <a:off x="4533900" y="4072930"/>
            <a:ext cx="3217926"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02E"/>
                </a:solidFill>
                <a:latin typeface="IBM Plex Sans" pitchFamily="34" charset="0"/>
                <a:ea typeface="IBM Plex Sans" pitchFamily="34" charset="-122"/>
                <a:cs typeface="IBM Plex Sans" pitchFamily="34" charset="-120"/>
              </a:rPr>
              <a:t>Compliant AI/ML model sandboxing; faster AI innovation and experimentation.</a:t>
            </a:r>
            <a:endParaRPr lang="en-US" sz="1200" dirty="0"/>
          </a:p>
        </p:txBody>
      </p:sp>
      <p:sp>
        <p:nvSpPr>
          <p:cNvPr id="25" name="Text 23"/>
          <p:cNvSpPr/>
          <p:nvPr/>
        </p:nvSpPr>
        <p:spPr>
          <a:xfrm>
            <a:off x="4533900" y="4687230"/>
            <a:ext cx="3217926" cy="421614"/>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A6472"/>
                </a:solidFill>
                <a:latin typeface="IBM Plex Sans" pitchFamily="34" charset="0"/>
                <a:ea typeface="IBM Plex Sans" pitchFamily="34" charset="-122"/>
                <a:cs typeface="IBM Plex Sans" pitchFamily="34" charset="-120"/>
              </a:rPr>
              <a:t>Evidence:</a:t>
            </a:r>
            <a:r>
              <a:rPr lang="en-US" sz="1200" dirty="0">
                <a:solidFill>
                  <a:srgbClr val="5A6472"/>
                </a:solidFill>
                <a:latin typeface="IBM Plex Sans" pitchFamily="34" charset="0"/>
                <a:ea typeface="IBM Plex Sans" pitchFamily="34" charset="-122"/>
                <a:cs typeface="IBM Plex Sans" pitchFamily="34" charset="-120"/>
              </a:rPr>
              <a:t> Jira; documentation; Landing Zone configuration repositories</a:t>
            </a:r>
            <a:endParaRPr lang="en-US" sz="1200" dirty="0"/>
          </a:p>
        </p:txBody>
      </p:sp>
      <p:sp>
        <p:nvSpPr>
          <p:cNvPr id="26" name="Shape 24"/>
          <p:cNvSpPr/>
          <p:nvPr/>
        </p:nvSpPr>
        <p:spPr>
          <a:xfrm>
            <a:off x="7995709" y="1367104"/>
            <a:ext cx="3481917" cy="3882496"/>
          </a:xfrm>
          <a:prstGeom prst="roundRect">
            <a:avLst>
              <a:gd name="adj" fmla="val 2097"/>
            </a:avLst>
          </a:prstGeom>
          <a:solidFill>
            <a:srgbClr val="FBFAF6"/>
          </a:solidFill>
          <a:ln w="6350">
            <a:solidFill>
              <a:srgbClr val="D9D4C8"/>
            </a:solidFill>
            <a:prstDash val="solid"/>
          </a:ln>
        </p:spPr>
      </p:sp>
      <p:sp>
        <p:nvSpPr>
          <p:cNvPr id="27" name="Text 25"/>
          <p:cNvSpPr/>
          <p:nvPr/>
        </p:nvSpPr>
        <p:spPr>
          <a:xfrm>
            <a:off x="8174567" y="1533265"/>
            <a:ext cx="3217926" cy="229857"/>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1F5FAF"/>
                </a:solidFill>
                <a:latin typeface="IBM Plex Sans" pitchFamily="34" charset="0"/>
                <a:ea typeface="IBM Plex Sans" pitchFamily="34" charset="-122"/>
                <a:cs typeface="IBM Plex Sans" pitchFamily="34" charset="-120"/>
              </a:rPr>
              <a:t>6.3</a:t>
            </a:r>
            <a:endParaRPr lang="en-US" sz="1159" dirty="0"/>
          </a:p>
        </p:txBody>
      </p:sp>
      <p:sp>
        <p:nvSpPr>
          <p:cNvPr id="28" name="Text 26"/>
          <p:cNvSpPr/>
          <p:nvPr/>
        </p:nvSpPr>
        <p:spPr>
          <a:xfrm>
            <a:off x="8174567" y="1801217"/>
            <a:ext cx="3217926" cy="229791"/>
          </a:xfrm>
          <a:prstGeom prst="rect">
            <a:avLst/>
          </a:prstGeom>
          <a:noFill/>
          <a:ln/>
        </p:spPr>
        <p:txBody>
          <a:bodyPr wrap="square" lIns="0" tIns="0" rIns="0" bIns="0" rtlCol="0" anchor="t">
            <a:normAutofit/>
          </a:bodyPr>
          <a:lstStyle/>
          <a:p>
            <a:pPr algn="l" indent="0" marL="0">
              <a:lnSpc>
                <a:spcPts val="1622"/>
              </a:lnSpc>
              <a:buNone/>
            </a:pPr>
            <a:r>
              <a:rPr lang="en-US" sz="1352" b="1" dirty="0">
                <a:solidFill>
                  <a:srgbClr val="14202E"/>
                </a:solidFill>
                <a:latin typeface="Source Serif 4" pitchFamily="18" charset="0"/>
                <a:ea typeface="Source Serif 4" pitchFamily="18" charset="-122"/>
                <a:cs typeface="Source Serif 4" pitchFamily="18" charset="-120"/>
              </a:rPr>
              <a:t>Centralized ACM Hub monitoring</a:t>
            </a:r>
            <a:endParaRPr lang="en-US" sz="1352" dirty="0"/>
          </a:p>
        </p:txBody>
      </p:sp>
      <p:sp>
        <p:nvSpPr>
          <p:cNvPr id="29" name="Text 27"/>
          <p:cNvSpPr/>
          <p:nvPr/>
        </p:nvSpPr>
        <p:spPr>
          <a:xfrm>
            <a:off x="8174567" y="2069108"/>
            <a:ext cx="3217926" cy="229791"/>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5A6472"/>
                </a:solidFill>
                <a:latin typeface="IBM Plex Sans" pitchFamily="34" charset="0"/>
                <a:ea typeface="IBM Plex Sans" pitchFamily="34" charset="-122"/>
                <a:cs typeface="IBM Plex Sans" pitchFamily="34" charset="-120"/>
              </a:rPr>
              <a:t>BUSINESS BARRIER</a:t>
            </a:r>
            <a:endParaRPr lang="en-US" sz="1159" dirty="0"/>
          </a:p>
        </p:txBody>
      </p:sp>
      <p:sp>
        <p:nvSpPr>
          <p:cNvPr id="30" name="Text 28"/>
          <p:cNvSpPr/>
          <p:nvPr/>
        </p:nvSpPr>
        <p:spPr>
          <a:xfrm>
            <a:off x="8174567" y="2336998"/>
            <a:ext cx="3217926" cy="419695"/>
          </a:xfrm>
          <a:prstGeom prst="rect">
            <a:avLst/>
          </a:prstGeom>
          <a:noFill/>
          <a:ln/>
        </p:spPr>
        <p:txBody>
          <a:bodyPr wrap="square" lIns="0" tIns="0" rIns="0" bIns="0" rtlCol="0" anchor="t">
            <a:normAutofit/>
          </a:bodyPr>
          <a:lstStyle/>
          <a:p>
            <a:pPr algn="l" indent="0" marL="0">
              <a:lnSpc>
                <a:spcPts val="1559"/>
              </a:lnSpc>
              <a:buNone/>
            </a:pPr>
            <a:r>
              <a:rPr lang="en-US" sz="1155" dirty="0">
                <a:solidFill>
                  <a:srgbClr val="14202E"/>
                </a:solidFill>
                <a:latin typeface="IBM Plex Sans" pitchFamily="34" charset="0"/>
                <a:ea typeface="IBM Plex Sans" pitchFamily="34" charset="-122"/>
                <a:cs typeface="IBM Plex Sans" pitchFamily="34" charset="-120"/>
              </a:rPr>
              <a:t>Operations needed central visibility of cluster health across tenants.</a:t>
            </a:r>
            <a:endParaRPr lang="en-US" sz="1155" dirty="0"/>
          </a:p>
        </p:txBody>
      </p:sp>
      <p:sp>
        <p:nvSpPr>
          <p:cNvPr id="31" name="Text 29"/>
          <p:cNvSpPr/>
          <p:nvPr/>
        </p:nvSpPr>
        <p:spPr>
          <a:xfrm>
            <a:off x="8174567" y="2794794"/>
            <a:ext cx="3217926" cy="229791"/>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5A6472"/>
                </a:solidFill>
                <a:latin typeface="IBM Plex Sans" pitchFamily="34" charset="0"/>
                <a:ea typeface="IBM Plex Sans" pitchFamily="34" charset="-122"/>
                <a:cs typeface="IBM Plex Sans" pitchFamily="34" charset="-120"/>
              </a:rPr>
              <a:t>WHAT I DID</a:t>
            </a:r>
            <a:endParaRPr lang="en-US" sz="1159" dirty="0"/>
          </a:p>
        </p:txBody>
      </p:sp>
      <p:sp>
        <p:nvSpPr>
          <p:cNvPr id="32" name="Text 30"/>
          <p:cNvSpPr/>
          <p:nvPr/>
        </p:nvSpPr>
        <p:spPr>
          <a:xfrm>
            <a:off x="8174567" y="3062684"/>
            <a:ext cx="3217926" cy="616810"/>
          </a:xfrm>
          <a:prstGeom prst="rect">
            <a:avLst/>
          </a:prstGeom>
          <a:noFill/>
          <a:ln/>
        </p:spPr>
        <p:txBody>
          <a:bodyPr wrap="square" lIns="0" tIns="0" rIns="0" bIns="0" rtlCol="0" anchor="t">
            <a:normAutofit/>
          </a:bodyPr>
          <a:lstStyle/>
          <a:p>
            <a:pPr algn="l" indent="0" marL="0">
              <a:lnSpc>
                <a:spcPts val="1554"/>
              </a:lnSpc>
              <a:buNone/>
            </a:pPr>
            <a:r>
              <a:rPr lang="en-US" sz="1151" dirty="0">
                <a:solidFill>
                  <a:srgbClr val="14202E"/>
                </a:solidFill>
                <a:latin typeface="IBM Plex Sans" pitchFamily="34" charset="0"/>
                <a:ea typeface="IBM Plex Sans" pitchFamily="34" charset="-122"/>
                <a:cs typeface="IBM Plex Sans" pitchFamily="34" charset="-120"/>
              </a:rPr>
              <a:t>Integrated centralized monitoring for the ACM Hub, with Grafana configuration as code and setup documentation.</a:t>
            </a:r>
            <a:endParaRPr lang="en-US" sz="1151" dirty="0"/>
          </a:p>
        </p:txBody>
      </p:sp>
      <p:sp>
        <p:nvSpPr>
          <p:cNvPr id="33" name="Text 31"/>
          <p:cNvSpPr/>
          <p:nvPr/>
        </p:nvSpPr>
        <p:spPr>
          <a:xfrm>
            <a:off x="8174567" y="3717596"/>
            <a:ext cx="3217926" cy="229791"/>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1F5FAF"/>
                </a:solidFill>
                <a:latin typeface="IBM Plex Sans" pitchFamily="34" charset="0"/>
                <a:ea typeface="IBM Plex Sans" pitchFamily="34" charset="-122"/>
                <a:cs typeface="IBM Plex Sans" pitchFamily="34" charset="-120"/>
              </a:rPr>
              <a:t>VALUE UNLOCKED</a:t>
            </a:r>
            <a:endParaRPr lang="en-US" sz="1159" dirty="0"/>
          </a:p>
        </p:txBody>
      </p:sp>
      <p:sp>
        <p:nvSpPr>
          <p:cNvPr id="34" name="Text 32"/>
          <p:cNvSpPr/>
          <p:nvPr/>
        </p:nvSpPr>
        <p:spPr>
          <a:xfrm>
            <a:off x="8174567" y="3985487"/>
            <a:ext cx="3217926" cy="616744"/>
          </a:xfrm>
          <a:prstGeom prst="rect">
            <a:avLst/>
          </a:prstGeom>
          <a:noFill/>
          <a:ln/>
        </p:spPr>
        <p:txBody>
          <a:bodyPr wrap="square" lIns="0" tIns="0" rIns="0" bIns="0" rtlCol="0" anchor="t">
            <a:normAutofit/>
          </a:bodyPr>
          <a:lstStyle/>
          <a:p>
            <a:pPr algn="l" indent="0" marL="0">
              <a:lnSpc>
                <a:spcPts val="1554"/>
              </a:lnSpc>
              <a:buNone/>
            </a:pPr>
            <a:r>
              <a:rPr lang="en-US" sz="1151" b="1" dirty="0">
                <a:solidFill>
                  <a:srgbClr val="14202E"/>
                </a:solidFill>
                <a:latin typeface="IBM Plex Sans" pitchFamily="34" charset="0"/>
                <a:ea typeface="IBM Plex Sans" pitchFamily="34" charset="-122"/>
                <a:cs typeface="IBM Plex Sans" pitchFamily="34" charset="-120"/>
              </a:rPr>
              <a:t>Reduced MTTD for cluster-health issues; centralized multi-tenant dashboards for Operations.</a:t>
            </a:r>
            <a:endParaRPr lang="en-US" sz="1151" dirty="0"/>
          </a:p>
        </p:txBody>
      </p:sp>
      <p:sp>
        <p:nvSpPr>
          <p:cNvPr id="35" name="Text 33"/>
          <p:cNvSpPr/>
          <p:nvPr/>
        </p:nvSpPr>
        <p:spPr>
          <a:xfrm>
            <a:off x="8174567" y="4703831"/>
            <a:ext cx="3217926" cy="405011"/>
          </a:xfrm>
          <a:prstGeom prst="rect">
            <a:avLst/>
          </a:prstGeom>
          <a:noFill/>
          <a:ln/>
        </p:spPr>
        <p:txBody>
          <a:bodyPr wrap="square" lIns="0" tIns="0" rIns="0" bIns="0" rtlCol="0" anchor="t">
            <a:normAutofit/>
          </a:bodyPr>
          <a:lstStyle/>
          <a:p>
            <a:pPr algn="l" indent="0" marL="0">
              <a:lnSpc>
                <a:spcPts val="1511"/>
              </a:lnSpc>
              <a:buNone/>
            </a:pPr>
            <a:r>
              <a:rPr lang="en-US" sz="1163" b="1" dirty="0">
                <a:solidFill>
                  <a:srgbClr val="5A6472"/>
                </a:solidFill>
                <a:latin typeface="IBM Plex Sans" pitchFamily="34" charset="0"/>
                <a:ea typeface="IBM Plex Sans" pitchFamily="34" charset="-122"/>
                <a:cs typeface="IBM Plex Sans" pitchFamily="34" charset="-120"/>
              </a:rPr>
              <a:t>Evidence:</a:t>
            </a:r>
            <a:r>
              <a:rPr lang="en-US" sz="1163" dirty="0">
                <a:solidFill>
                  <a:srgbClr val="5A6472"/>
                </a:solidFill>
                <a:latin typeface="IBM Plex Sans" pitchFamily="34" charset="0"/>
                <a:ea typeface="IBM Plex Sans" pitchFamily="34" charset="-122"/>
                <a:cs typeface="IBM Plex Sans" pitchFamily="34" charset="-120"/>
              </a:rPr>
              <a:t> Integration Jira; Grafana configuration code; Confluence</a:t>
            </a:r>
            <a:endParaRPr lang="en-US" sz="1163" dirty="0"/>
          </a:p>
        </p:txBody>
      </p:sp>
      <p:sp>
        <p:nvSpPr>
          <p:cNvPr id="36" name="Shape 34"/>
          <p:cNvSpPr/>
          <p:nvPr/>
        </p:nvSpPr>
        <p:spPr>
          <a:xfrm>
            <a:off x="711200" y="5405177"/>
            <a:ext cx="10769600" cy="640027"/>
          </a:xfrm>
          <a:prstGeom prst="roundRect">
            <a:avLst>
              <a:gd name="adj" fmla="val 3969"/>
            </a:avLst>
          </a:prstGeom>
          <a:solidFill>
            <a:srgbClr val="E3EAF4"/>
          </a:solidFill>
          <a:ln/>
        </p:spPr>
      </p:sp>
      <p:sp>
        <p:nvSpPr>
          <p:cNvPr id="37" name="Shape 35"/>
          <p:cNvSpPr/>
          <p:nvPr/>
        </p:nvSpPr>
        <p:spPr>
          <a:xfrm>
            <a:off x="711200" y="5405177"/>
            <a:ext cx="10769600" cy="640027"/>
          </a:xfrm>
          <a:custGeom>
            <a:avLst/>
            <a:gdLst/>
            <a:ahLst/>
            <a:cxnLst/>
            <a:rect l="l" t="t" r="r" b="b"/>
            <a:pathLst>
              <a:path w="10769600" h="640027">
                <a:moveTo>
                  <a:pt x="38100" y="640027"/>
                </a:moveTo>
                <a:lnTo>
                  <a:pt x="25400" y="640027"/>
                </a:lnTo>
                <a:arcTo hR="25400" wR="25400" stAng="5400000" swAng="5400000"/>
                <a:lnTo>
                  <a:pt x="0" y="25400"/>
                </a:lnTo>
                <a:arcTo hR="25400" wR="25400" stAng="10800000" swAng="5400000"/>
                <a:lnTo>
                  <a:pt x="38100" y="0"/>
                </a:lnTo>
                <a:lnTo>
                  <a:pt x="38100" y="640027"/>
                </a:lnTo>
                <a:close/>
              </a:path>
            </a:pathLst>
          </a:custGeom>
          <a:solidFill>
            <a:srgbClr val="1F5FAF"/>
          </a:solidFill>
          <a:ln/>
        </p:spPr>
      </p:sp>
      <p:sp>
        <p:nvSpPr>
          <p:cNvPr id="38" name="Text 36"/>
          <p:cNvSpPr/>
          <p:nvPr/>
        </p:nvSpPr>
        <p:spPr>
          <a:xfrm>
            <a:off x="927100" y="5618497"/>
            <a:ext cx="18207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F"/>
                </a:solidFill>
                <a:latin typeface="IBM Plex Sans" pitchFamily="34" charset="0"/>
                <a:ea typeface="IBM Plex Sans" pitchFamily="34" charset="-122"/>
                <a:cs typeface="IBM Plex Sans" pitchFamily="34" charset="-120"/>
              </a:rPr>
              <a:t>Why this meets Level 3</a:t>
            </a:r>
            <a:endParaRPr lang="en-US" sz="1200" dirty="0"/>
          </a:p>
        </p:txBody>
      </p:sp>
      <p:sp>
        <p:nvSpPr>
          <p:cNvPr id="39" name="Text 37"/>
          <p:cNvSpPr/>
          <p:nvPr/>
        </p:nvSpPr>
        <p:spPr>
          <a:xfrm>
            <a:off x="2747830" y="5519477"/>
            <a:ext cx="881182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I prioritise engineering against strategic roadmap and commercial risk, remove the barriers in the value stream, and enable experimentation — Delivers shows what I built; Achieves shows what it unlocked.</a:t>
            </a:r>
            <a:endParaRPr lang="en-US" sz="1200" dirty="0"/>
          </a:p>
        </p:txBody>
      </p:sp>
      <p:sp>
        <p:nvSpPr>
          <p:cNvPr id="40" name="Text 38"/>
          <p:cNvSpPr/>
          <p:nvPr/>
        </p:nvSpPr>
        <p:spPr>
          <a:xfrm>
            <a:off x="711200" y="6339880"/>
            <a:ext cx="97139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ECDF · ACHIEVES · ~4 min · Boundary: 6.3 is the ACM Hub integration only; the broader MLA strategy is held as backup and not reused</a:t>
            </a:r>
            <a:endParaRPr lang="en-US" sz="1200" dirty="0"/>
          </a:p>
        </p:txBody>
      </p:sp>
      <p:sp>
        <p:nvSpPr>
          <p:cNvPr id="41" name="Text 39"/>
          <p:cNvSpPr/>
          <p:nvPr/>
        </p:nvSpPr>
        <p:spPr>
          <a:xfrm>
            <a:off x="10885488" y="63398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09 / 14</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711200" y="406400"/>
            <a:ext cx="1063096" cy="289520"/>
          </a:xfrm>
          <a:prstGeom prst="roundRect">
            <a:avLst>
              <a:gd name="adj" fmla="val 13160"/>
            </a:avLst>
          </a:prstGeom>
          <a:solidFill>
            <a:srgbClr val="1F5FAF"/>
          </a:solidFill>
          <a:ln/>
        </p:spPr>
        <p:txBody>
          <a:bodyPr wrap="none" lIns="0" tIns="0" rIns="0" bIns="0" rtlCol="0" anchor="ctr">
            <a:normAutofit/>
          </a:bodyPr>
          <a:lstStyle/>
          <a:p>
            <a:pPr algn="ctr" indent="0" marL="0">
              <a:lnSpc>
                <a:spcPts val="1680"/>
              </a:lnSpc>
              <a:buNone/>
            </a:pPr>
            <a:r>
              <a:rPr lang="en-US" sz="1200" b="1" spc="150" kern="0" dirty="0">
                <a:solidFill>
                  <a:srgbClr val="FBFAF6"/>
                </a:solidFill>
                <a:latin typeface="IBM Plex Sans" pitchFamily="34" charset="0"/>
                <a:ea typeface="IBM Plex Sans" pitchFamily="34" charset="-122"/>
                <a:cs typeface="IBM Plex Sans" pitchFamily="34" charset="-120"/>
              </a:rPr>
              <a:t>ENGAGES</a:t>
            </a:r>
            <a:endParaRPr lang="en-US" sz="1200" dirty="0"/>
          </a:p>
        </p:txBody>
      </p:sp>
      <p:sp>
        <p:nvSpPr>
          <p:cNvPr id="3" name="Text 1"/>
          <p:cNvSpPr/>
          <p:nvPr/>
        </p:nvSpPr>
        <p:spPr>
          <a:xfrm>
            <a:off x="1901296" y="444500"/>
            <a:ext cx="220233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F"/>
                </a:solidFill>
                <a:latin typeface="IBM Plex Sans" pitchFamily="34" charset="0"/>
                <a:ea typeface="IBM Plex Sans" pitchFamily="34" charset="-122"/>
                <a:cs typeface="IBM Plex Sans" pitchFamily="34" charset="-120"/>
              </a:rPr>
              <a:t>Required: Level 3 · Skilled</a:t>
            </a:r>
            <a:endParaRPr lang="en-US" sz="1200" dirty="0"/>
          </a:p>
        </p:txBody>
      </p:sp>
      <p:sp>
        <p:nvSpPr>
          <p:cNvPr id="4" name="Text 2"/>
          <p:cNvSpPr/>
          <p:nvPr/>
        </p:nvSpPr>
        <p:spPr>
          <a:xfrm>
            <a:off x="10214637" y="444500"/>
            <a:ext cx="15193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Evidence 7.1 – 7.5</a:t>
            </a:r>
            <a:endParaRPr lang="en-US" sz="1200" dirty="0"/>
          </a:p>
        </p:txBody>
      </p:sp>
      <p:sp>
        <p:nvSpPr>
          <p:cNvPr id="5" name="Text 3"/>
          <p:cNvSpPr/>
          <p:nvPr>
            <p:ph type="title"/>
          </p:nvPr>
        </p:nvSpPr>
        <p:spPr>
          <a:xfrm>
            <a:off x="711200" y="848320"/>
            <a:ext cx="11092688" cy="388607"/>
          </a:xfrm>
          <a:prstGeom prst="rect">
            <a:avLst/>
          </a:prstGeom>
          <a:noFill/>
          <a:ln/>
        </p:spPr>
        <p:txBody>
          <a:bodyPr wrap="square" lIns="0" tIns="0" rIns="0" bIns="0" rtlCol="0" anchor="t">
            <a:normAutofit/>
          </a:bodyPr>
          <a:lstStyle/>
          <a:p>
            <a:pPr algn="l" indent="0" marL="0">
              <a:lnSpc>
                <a:spcPts val="2860"/>
              </a:lnSpc>
              <a:buNone/>
            </a:pPr>
            <a:r>
              <a:rPr lang="en-US" sz="2600" b="0" i="0" dirty="0">
                <a:solidFill>
                  <a:srgbClr val="14202E"/>
                </a:solidFill>
                <a:latin typeface="Source Serif 4" pitchFamily="18" charset="0"/>
                <a:ea typeface="Source Serif 4" pitchFamily="18" charset="-122"/>
                <a:cs typeface="Source Serif 4" pitchFamily="18" charset="-120"/>
              </a:rPr>
              <a:t>I build capability beyond my own delivery responsibilities</a:t>
            </a:r>
            <a:endParaRPr lang="en-US" sz="2600" dirty="0"/>
          </a:p>
        </p:txBody>
      </p:sp>
      <p:sp>
        <p:nvSpPr>
          <p:cNvPr id="6" name="Text 4"/>
          <p:cNvSpPr/>
          <p:nvPr/>
        </p:nvSpPr>
        <p:spPr>
          <a:xfrm>
            <a:off x="711200" y="1363929"/>
            <a:ext cx="22399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Widening scope of engagement</a:t>
            </a:r>
            <a:endParaRPr lang="en-US" sz="1200" dirty="0"/>
          </a:p>
        </p:txBody>
      </p:sp>
      <p:sp>
        <p:nvSpPr>
          <p:cNvPr id="7" name="Shape 5"/>
          <p:cNvSpPr/>
          <p:nvPr/>
        </p:nvSpPr>
        <p:spPr>
          <a:xfrm>
            <a:off x="2951163" y="1464208"/>
            <a:ext cx="8174038" cy="12700"/>
          </a:xfrm>
          <a:prstGeom prst="rect">
            <a:avLst/>
          </a:prstGeom>
          <a:solidFill>
            <a:srgbClr val="D9D4C8"/>
          </a:solidFill>
          <a:ln/>
        </p:spPr>
      </p:sp>
      <p:pic>
        <p:nvPicPr>
          <p:cNvPr id="8" name="Image 0" descr="arrow-right">    </p:cNvPr>
          <p:cNvPicPr>
            <a:picLocks noChangeAspect="1"/>
          </p:cNvPicPr>
          <p:nvPr/>
        </p:nvPicPr>
        <p:blipFill>
          <a:blip r:embed="rId1"/>
          <a:srcRect l="0" r="0" t="0" b="0"/>
          <a:stretch/>
        </p:blipFill>
        <p:spPr>
          <a:xfrm>
            <a:off x="11226800" y="1407058"/>
            <a:ext cx="254000" cy="127000"/>
          </a:xfrm>
          <a:prstGeom prst="rect">
            <a:avLst/>
          </a:prstGeom>
        </p:spPr>
      </p:pic>
      <p:sp>
        <p:nvSpPr>
          <p:cNvPr id="9" name="Shape 6"/>
          <p:cNvSpPr/>
          <p:nvPr/>
        </p:nvSpPr>
        <p:spPr>
          <a:xfrm>
            <a:off x="711200" y="2013878"/>
            <a:ext cx="3454400" cy="0"/>
          </a:xfrm>
          <a:prstGeom prst="line">
            <a:avLst/>
          </a:prstGeom>
          <a:noFill/>
          <a:ln w="19050">
            <a:solidFill>
              <a:srgbClr val="1F5FAF"/>
            </a:solidFill>
            <a:prstDash val="solid"/>
          </a:ln>
        </p:spPr>
      </p:sp>
      <p:sp>
        <p:nvSpPr>
          <p:cNvPr id="10" name="Text 7"/>
          <p:cNvSpPr/>
          <p:nvPr/>
        </p:nvSpPr>
        <p:spPr>
          <a:xfrm>
            <a:off x="711200" y="1729649"/>
            <a:ext cx="80327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AF"/>
                </a:solidFill>
                <a:latin typeface="IBM Plex Sans" pitchFamily="34" charset="0"/>
                <a:ea typeface="IBM Plex Sans" pitchFamily="34" charset="-122"/>
                <a:cs typeface="IBM Plex Sans" pitchFamily="34" charset="-120"/>
              </a:rPr>
              <a:t>MY TEAM</a:t>
            </a:r>
            <a:endParaRPr lang="en-US" sz="1200" dirty="0"/>
          </a:p>
        </p:txBody>
      </p:sp>
      <p:sp>
        <p:nvSpPr>
          <p:cNvPr id="11" name="Shape 8"/>
          <p:cNvSpPr/>
          <p:nvPr/>
        </p:nvSpPr>
        <p:spPr>
          <a:xfrm>
            <a:off x="714375" y="2128180"/>
            <a:ext cx="3448050" cy="1914525"/>
          </a:xfrm>
          <a:prstGeom prst="roundRect">
            <a:avLst>
              <a:gd name="adj" fmla="val 3814"/>
            </a:avLst>
          </a:prstGeom>
          <a:solidFill>
            <a:srgbClr val="FBFAF6"/>
          </a:solidFill>
          <a:ln w="6350">
            <a:solidFill>
              <a:srgbClr val="D9D4C8"/>
            </a:solidFill>
            <a:prstDash val="solid"/>
          </a:ln>
        </p:spPr>
      </p:sp>
      <p:sp>
        <p:nvSpPr>
          <p:cNvPr id="12" name="Text 9"/>
          <p:cNvSpPr/>
          <p:nvPr/>
        </p:nvSpPr>
        <p:spPr>
          <a:xfrm>
            <a:off x="893233" y="2294334"/>
            <a:ext cx="318304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AF"/>
                </a:solidFill>
                <a:latin typeface="IBM Plex Sans" pitchFamily="34" charset="0"/>
                <a:ea typeface="IBM Plex Sans" pitchFamily="34" charset="-122"/>
                <a:cs typeface="IBM Plex Sans" pitchFamily="34" charset="-120"/>
              </a:rPr>
              <a:t>7.1</a:t>
            </a:r>
            <a:endParaRPr lang="en-US" sz="1200" dirty="0"/>
          </a:p>
        </p:txBody>
      </p:sp>
      <p:sp>
        <p:nvSpPr>
          <p:cNvPr id="13" name="Text 10"/>
          <p:cNvSpPr/>
          <p:nvPr/>
        </p:nvSpPr>
        <p:spPr>
          <a:xfrm>
            <a:off x="893233" y="2571155"/>
            <a:ext cx="318304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Source Serif 4" pitchFamily="18" charset="0"/>
                <a:ea typeface="Source Serif 4" pitchFamily="18" charset="-122"/>
                <a:cs typeface="Source Serif 4" pitchFamily="18" charset="-120"/>
              </a:rPr>
              <a:t>Fabric engineering team (8)</a:t>
            </a:r>
            <a:endParaRPr lang="en-US" sz="1400" dirty="0"/>
          </a:p>
        </p:txBody>
      </p:sp>
      <p:sp>
        <p:nvSpPr>
          <p:cNvPr id="14" name="Text 11"/>
          <p:cNvSpPr/>
          <p:nvPr/>
        </p:nvSpPr>
        <p:spPr>
          <a:xfrm>
            <a:off x="893233" y="2847975"/>
            <a:ext cx="3183043" cy="105396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I lead day-to-day operations, own the sprint backlog and engineering decisions, and mentor members on career progression. </a:t>
            </a:r>
            <a:r>
              <a:rPr lang="en-US" sz="1200" b="1" dirty="0">
                <a:solidFill>
                  <a:srgbClr val="14202E"/>
                </a:solidFill>
                <a:latin typeface="IBM Plex Sans" pitchFamily="34" charset="0"/>
                <a:ea typeface="IBM Plex Sans" pitchFamily="34" charset="-122"/>
                <a:cs typeface="IBM Plex Sans" pitchFamily="34" charset="-120"/>
              </a:rPr>
              <a:t>Impact:</a:t>
            </a:r>
            <a:r>
              <a:rPr lang="en-US" sz="1200" dirty="0">
                <a:solidFill>
                  <a:srgbClr val="14202E"/>
                </a:solidFill>
                <a:latin typeface="IBM Plex Sans" pitchFamily="34" charset="0"/>
                <a:ea typeface="IBM Plex Sans" pitchFamily="34" charset="-122"/>
                <a:cs typeface="IBM Plex Sans" pitchFamily="34" charset="-120"/>
              </a:rPr>
              <a:t> higher velocity and capability; sharper alignment to divisional priorities.</a:t>
            </a:r>
            <a:endParaRPr lang="en-US" sz="1200" dirty="0"/>
          </a:p>
        </p:txBody>
      </p:sp>
      <p:sp>
        <p:nvSpPr>
          <p:cNvPr id="15" name="Shape 12"/>
          <p:cNvSpPr/>
          <p:nvPr/>
        </p:nvSpPr>
        <p:spPr>
          <a:xfrm>
            <a:off x="4368800" y="1815441"/>
            <a:ext cx="3454400" cy="0"/>
          </a:xfrm>
          <a:prstGeom prst="line">
            <a:avLst/>
          </a:prstGeom>
          <a:noFill/>
          <a:ln w="19050">
            <a:solidFill>
              <a:srgbClr val="1F5FAF"/>
            </a:solidFill>
            <a:prstDash val="solid"/>
          </a:ln>
        </p:spPr>
      </p:sp>
      <p:sp>
        <p:nvSpPr>
          <p:cNvPr id="16" name="Text 13"/>
          <p:cNvSpPr/>
          <p:nvPr/>
        </p:nvSpPr>
        <p:spPr>
          <a:xfrm>
            <a:off x="4368800" y="1630431"/>
            <a:ext cx="174208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AF"/>
                </a:solidFill>
                <a:latin typeface="IBM Plex Sans" pitchFamily="34" charset="0"/>
                <a:ea typeface="IBM Plex Sans" pitchFamily="34" charset="-122"/>
                <a:cs typeface="IBM Plex Sans" pitchFamily="34" charset="-120"/>
              </a:rPr>
              <a:t>ACROSS FUNCTIONS</a:t>
            </a:r>
            <a:endParaRPr lang="en-US" sz="1200" dirty="0"/>
          </a:p>
        </p:txBody>
      </p:sp>
      <p:sp>
        <p:nvSpPr>
          <p:cNvPr id="17" name="Shape 14"/>
          <p:cNvSpPr/>
          <p:nvPr/>
        </p:nvSpPr>
        <p:spPr>
          <a:xfrm>
            <a:off x="4371975" y="1929743"/>
            <a:ext cx="3448050" cy="1708812"/>
          </a:xfrm>
          <a:prstGeom prst="roundRect">
            <a:avLst>
              <a:gd name="adj" fmla="val 4273"/>
            </a:avLst>
          </a:prstGeom>
          <a:solidFill>
            <a:srgbClr val="FBFAF6"/>
          </a:solidFill>
          <a:ln w="6350">
            <a:solidFill>
              <a:srgbClr val="D9D4C8"/>
            </a:solidFill>
            <a:prstDash val="solid"/>
          </a:ln>
        </p:spPr>
      </p:sp>
      <p:sp>
        <p:nvSpPr>
          <p:cNvPr id="18" name="Text 15"/>
          <p:cNvSpPr/>
          <p:nvPr/>
        </p:nvSpPr>
        <p:spPr>
          <a:xfrm>
            <a:off x="4550833" y="2095897"/>
            <a:ext cx="318304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AF"/>
                </a:solidFill>
                <a:latin typeface="IBM Plex Sans" pitchFamily="34" charset="0"/>
                <a:ea typeface="IBM Plex Sans" pitchFamily="34" charset="-122"/>
                <a:cs typeface="IBM Plex Sans" pitchFamily="34" charset="-120"/>
              </a:rPr>
              <a:t>7.2</a:t>
            </a:r>
            <a:endParaRPr lang="en-US" sz="1200" dirty="0"/>
          </a:p>
        </p:txBody>
      </p:sp>
      <p:sp>
        <p:nvSpPr>
          <p:cNvPr id="19" name="Text 16"/>
          <p:cNvSpPr/>
          <p:nvPr/>
        </p:nvSpPr>
        <p:spPr>
          <a:xfrm>
            <a:off x="4550833" y="2372717"/>
            <a:ext cx="318304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Source Serif 4" pitchFamily="18" charset="0"/>
                <a:ea typeface="Source Serif 4" pitchFamily="18" charset="-122"/>
                <a:cs typeface="Source Serif 4" pitchFamily="18" charset="-120"/>
              </a:rPr>
              <a:t>Engineering demand ownership</a:t>
            </a:r>
            <a:endParaRPr lang="en-US" sz="1400" dirty="0"/>
          </a:p>
        </p:txBody>
      </p:sp>
      <p:sp>
        <p:nvSpPr>
          <p:cNvPr id="20" name="Text 17"/>
          <p:cNvSpPr/>
          <p:nvPr/>
        </p:nvSpPr>
        <p:spPr>
          <a:xfrm>
            <a:off x="4550833" y="2649538"/>
            <a:ext cx="3183043" cy="84825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I own engineering demand end to end, aligning Business, Product and Architecture on one direction. </a:t>
            </a:r>
            <a:r>
              <a:rPr lang="en-US" sz="1200" b="1" dirty="0">
                <a:solidFill>
                  <a:srgbClr val="14202E"/>
                </a:solidFill>
                <a:latin typeface="IBM Plex Sans" pitchFamily="34" charset="0"/>
                <a:ea typeface="IBM Plex Sans" pitchFamily="34" charset="-122"/>
                <a:cs typeface="IBM Plex Sans" pitchFamily="34" charset="-120"/>
              </a:rPr>
              <a:t>Impact:</a:t>
            </a:r>
            <a:r>
              <a:rPr lang="en-US" sz="1200" dirty="0">
                <a:solidFill>
                  <a:srgbClr val="14202E"/>
                </a:solidFill>
                <a:latin typeface="IBM Plex Sans" pitchFamily="34" charset="0"/>
                <a:ea typeface="IBM Plex Sans" pitchFamily="34" charset="-122"/>
                <a:cs typeface="IBM Plex Sans" pitchFamily="34" charset="-120"/>
              </a:rPr>
              <a:t> silos broken; delivery aligned to shared priorities.</a:t>
            </a:r>
            <a:endParaRPr lang="en-US" sz="1200" dirty="0"/>
          </a:p>
        </p:txBody>
      </p:sp>
      <p:sp>
        <p:nvSpPr>
          <p:cNvPr id="21" name="Shape 18"/>
          <p:cNvSpPr/>
          <p:nvPr/>
        </p:nvSpPr>
        <p:spPr>
          <a:xfrm>
            <a:off x="4371975" y="3746500"/>
            <a:ext cx="3448050" cy="1503098"/>
          </a:xfrm>
          <a:prstGeom prst="roundRect">
            <a:avLst>
              <a:gd name="adj" fmla="val 4858"/>
            </a:avLst>
          </a:prstGeom>
          <a:solidFill>
            <a:srgbClr val="FBFAF6"/>
          </a:solidFill>
          <a:ln w="6350">
            <a:solidFill>
              <a:srgbClr val="D9D4C8"/>
            </a:solidFill>
            <a:prstDash val="solid"/>
          </a:ln>
        </p:spPr>
      </p:sp>
      <p:sp>
        <p:nvSpPr>
          <p:cNvPr id="22" name="Text 19"/>
          <p:cNvSpPr/>
          <p:nvPr/>
        </p:nvSpPr>
        <p:spPr>
          <a:xfrm>
            <a:off x="4550833" y="3912660"/>
            <a:ext cx="318304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AF"/>
                </a:solidFill>
                <a:latin typeface="IBM Plex Sans" pitchFamily="34" charset="0"/>
                <a:ea typeface="IBM Plex Sans" pitchFamily="34" charset="-122"/>
                <a:cs typeface="IBM Plex Sans" pitchFamily="34" charset="-120"/>
              </a:rPr>
              <a:t>7.5</a:t>
            </a:r>
            <a:endParaRPr lang="en-US" sz="1200" dirty="0"/>
          </a:p>
        </p:txBody>
      </p:sp>
      <p:sp>
        <p:nvSpPr>
          <p:cNvPr id="23" name="Text 20"/>
          <p:cNvSpPr/>
          <p:nvPr/>
        </p:nvSpPr>
        <p:spPr>
          <a:xfrm>
            <a:off x="4550833" y="4189481"/>
            <a:ext cx="318304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Source Serif 4" pitchFamily="18" charset="0"/>
                <a:ea typeface="Source Serif 4" pitchFamily="18" charset="-122"/>
                <a:cs typeface="Source Serif 4" pitchFamily="18" charset="-120"/>
              </a:rPr>
              <a:t>Terraform &amp; GitOps for Ops</a:t>
            </a:r>
            <a:endParaRPr lang="en-US" sz="1400" dirty="0"/>
          </a:p>
        </p:txBody>
      </p:sp>
      <p:sp>
        <p:nvSpPr>
          <p:cNvPr id="24" name="Text 21"/>
          <p:cNvSpPr/>
          <p:nvPr/>
        </p:nvSpPr>
        <p:spPr>
          <a:xfrm>
            <a:off x="4550833" y="4466301"/>
            <a:ext cx="3183043"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I planned and ran a 5-day interactive training for Operations. </a:t>
            </a:r>
            <a:r>
              <a:rPr lang="en-US" sz="1200" b="1" dirty="0">
                <a:solidFill>
                  <a:srgbClr val="14202E"/>
                </a:solidFill>
                <a:latin typeface="IBM Plex Sans" pitchFamily="34" charset="0"/>
                <a:ea typeface="IBM Plex Sans" pitchFamily="34" charset="-122"/>
                <a:cs typeface="IBM Plex Sans" pitchFamily="34" charset="-120"/>
              </a:rPr>
              <a:t>Impact:</a:t>
            </a:r>
            <a:r>
              <a:rPr lang="en-US" sz="1200" dirty="0">
                <a:solidFill>
                  <a:srgbClr val="14202E"/>
                </a:solidFill>
                <a:latin typeface="IBM Plex Sans" pitchFamily="34" charset="0"/>
                <a:ea typeface="IBM Plex Sans" pitchFamily="34" charset="-122"/>
                <a:cs typeface="IBM Plex Sans" pitchFamily="34" charset="-120"/>
              </a:rPr>
              <a:t> fewer human deployment errors; streamlined releases.</a:t>
            </a:r>
            <a:endParaRPr lang="en-US" sz="1200" dirty="0"/>
          </a:p>
        </p:txBody>
      </p:sp>
      <p:sp>
        <p:nvSpPr>
          <p:cNvPr id="25" name="Shape 22"/>
          <p:cNvSpPr/>
          <p:nvPr/>
        </p:nvSpPr>
        <p:spPr>
          <a:xfrm>
            <a:off x="8026400" y="1815441"/>
            <a:ext cx="3454400" cy="0"/>
          </a:xfrm>
          <a:prstGeom prst="line">
            <a:avLst/>
          </a:prstGeom>
          <a:noFill/>
          <a:ln w="19050">
            <a:solidFill>
              <a:srgbClr val="1F5FAF"/>
            </a:solidFill>
            <a:prstDash val="solid"/>
          </a:ln>
        </p:spPr>
      </p:sp>
      <p:sp>
        <p:nvSpPr>
          <p:cNvPr id="26" name="Text 23"/>
          <p:cNvSpPr/>
          <p:nvPr/>
        </p:nvSpPr>
        <p:spPr>
          <a:xfrm>
            <a:off x="8026400" y="1630431"/>
            <a:ext cx="246065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AF"/>
                </a:solidFill>
                <a:latin typeface="IBM Plex Sans" pitchFamily="34" charset="0"/>
                <a:ea typeface="IBM Plex Sans" pitchFamily="34" charset="-122"/>
                <a:cs typeface="IBM Plex Sans" pitchFamily="34" charset="-120"/>
              </a:rPr>
              <a:t>ACROSS THE ORGANIZATION</a:t>
            </a:r>
            <a:endParaRPr lang="en-US" sz="1200" dirty="0"/>
          </a:p>
        </p:txBody>
      </p:sp>
      <p:sp>
        <p:nvSpPr>
          <p:cNvPr id="27" name="Shape 24"/>
          <p:cNvSpPr/>
          <p:nvPr/>
        </p:nvSpPr>
        <p:spPr>
          <a:xfrm>
            <a:off x="8029575" y="1929743"/>
            <a:ext cx="3448050" cy="1708812"/>
          </a:xfrm>
          <a:prstGeom prst="roundRect">
            <a:avLst>
              <a:gd name="adj" fmla="val 4273"/>
            </a:avLst>
          </a:prstGeom>
          <a:solidFill>
            <a:srgbClr val="FBFAF6"/>
          </a:solidFill>
          <a:ln w="6350">
            <a:solidFill>
              <a:srgbClr val="D9D4C8"/>
            </a:solidFill>
            <a:prstDash val="solid"/>
          </a:ln>
        </p:spPr>
      </p:sp>
      <p:sp>
        <p:nvSpPr>
          <p:cNvPr id="28" name="Text 25"/>
          <p:cNvSpPr/>
          <p:nvPr/>
        </p:nvSpPr>
        <p:spPr>
          <a:xfrm>
            <a:off x="8208434" y="2095897"/>
            <a:ext cx="318304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AF"/>
                </a:solidFill>
                <a:latin typeface="IBM Plex Sans" pitchFamily="34" charset="0"/>
                <a:ea typeface="IBM Plex Sans" pitchFamily="34" charset="-122"/>
                <a:cs typeface="IBM Plex Sans" pitchFamily="34" charset="-120"/>
              </a:rPr>
              <a:t>7.3</a:t>
            </a:r>
            <a:endParaRPr lang="en-US" sz="1200" dirty="0"/>
          </a:p>
        </p:txBody>
      </p:sp>
      <p:sp>
        <p:nvSpPr>
          <p:cNvPr id="29" name="Text 26"/>
          <p:cNvSpPr/>
          <p:nvPr/>
        </p:nvSpPr>
        <p:spPr>
          <a:xfrm>
            <a:off x="8208434" y="2372717"/>
            <a:ext cx="318304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Source Serif 4" pitchFamily="18" charset="0"/>
                <a:ea typeface="Source Serif 4" pitchFamily="18" charset="-122"/>
                <a:cs typeface="Source Serif 4" pitchFamily="18" charset="-120"/>
              </a:rPr>
              <a:t>AI community mentoring</a:t>
            </a:r>
            <a:endParaRPr lang="en-US" sz="1400" dirty="0"/>
          </a:p>
        </p:txBody>
      </p:sp>
      <p:sp>
        <p:nvSpPr>
          <p:cNvPr id="30" name="Text 27"/>
          <p:cNvSpPr/>
          <p:nvPr/>
        </p:nvSpPr>
        <p:spPr>
          <a:xfrm>
            <a:off x="8208434" y="2649538"/>
            <a:ext cx="3183043" cy="84825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I run training and knowledge-sharing sessions and help engineers with their AI projects. </a:t>
            </a:r>
            <a:r>
              <a:rPr lang="en-US" sz="1200" b="1" dirty="0">
                <a:solidFill>
                  <a:srgbClr val="14202E"/>
                </a:solidFill>
                <a:latin typeface="IBM Plex Sans" pitchFamily="34" charset="0"/>
                <a:ea typeface="IBM Plex Sans" pitchFamily="34" charset="-122"/>
                <a:cs typeface="IBM Plex Sans" pitchFamily="34" charset="-120"/>
              </a:rPr>
              <a:t>Impact:</a:t>
            </a:r>
            <a:r>
              <a:rPr lang="en-US" sz="1200" dirty="0">
                <a:solidFill>
                  <a:srgbClr val="14202E"/>
                </a:solidFill>
                <a:latin typeface="IBM Plex Sans" pitchFamily="34" charset="0"/>
                <a:ea typeface="IBM Plex Sans" pitchFamily="34" charset="-122"/>
                <a:cs typeface="IBM Plex Sans" pitchFamily="34" charset="-120"/>
              </a:rPr>
              <a:t> engineers in other divisions able to deliver AI initiatives.</a:t>
            </a:r>
            <a:endParaRPr lang="en-US" sz="1200" dirty="0"/>
          </a:p>
        </p:txBody>
      </p:sp>
      <p:sp>
        <p:nvSpPr>
          <p:cNvPr id="31" name="Shape 28"/>
          <p:cNvSpPr/>
          <p:nvPr/>
        </p:nvSpPr>
        <p:spPr>
          <a:xfrm>
            <a:off x="8029575" y="3746500"/>
            <a:ext cx="3448050" cy="1503098"/>
          </a:xfrm>
          <a:prstGeom prst="roundRect">
            <a:avLst>
              <a:gd name="adj" fmla="val 4858"/>
            </a:avLst>
          </a:prstGeom>
          <a:solidFill>
            <a:srgbClr val="FBFAF6"/>
          </a:solidFill>
          <a:ln w="6350">
            <a:solidFill>
              <a:srgbClr val="D9D4C8"/>
            </a:solidFill>
            <a:prstDash val="solid"/>
          </a:ln>
        </p:spPr>
      </p:sp>
      <p:sp>
        <p:nvSpPr>
          <p:cNvPr id="32" name="Text 29"/>
          <p:cNvSpPr/>
          <p:nvPr/>
        </p:nvSpPr>
        <p:spPr>
          <a:xfrm>
            <a:off x="8208434" y="3912660"/>
            <a:ext cx="318304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AF"/>
                </a:solidFill>
                <a:latin typeface="IBM Plex Sans" pitchFamily="34" charset="0"/>
                <a:ea typeface="IBM Plex Sans" pitchFamily="34" charset="-122"/>
                <a:cs typeface="IBM Plex Sans" pitchFamily="34" charset="-120"/>
              </a:rPr>
              <a:t>7.4</a:t>
            </a:r>
            <a:endParaRPr lang="en-US" sz="1200" dirty="0"/>
          </a:p>
        </p:txBody>
      </p:sp>
      <p:sp>
        <p:nvSpPr>
          <p:cNvPr id="33" name="Text 30"/>
          <p:cNvSpPr/>
          <p:nvPr/>
        </p:nvSpPr>
        <p:spPr>
          <a:xfrm>
            <a:off x="8208434" y="4189481"/>
            <a:ext cx="318304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Source Serif 4" pitchFamily="18" charset="0"/>
                <a:ea typeface="Source Serif 4" pitchFamily="18" charset="-122"/>
                <a:cs typeface="Source Serif 4" pitchFamily="18" charset="-120"/>
              </a:rPr>
              <a:t>Graduate enablement</a:t>
            </a:r>
            <a:endParaRPr lang="en-US" sz="1400" dirty="0"/>
          </a:p>
        </p:txBody>
      </p:sp>
      <p:sp>
        <p:nvSpPr>
          <p:cNvPr id="34" name="Text 31"/>
          <p:cNvSpPr/>
          <p:nvPr/>
        </p:nvSpPr>
        <p:spPr>
          <a:xfrm>
            <a:off x="8208434" y="4466301"/>
            <a:ext cx="3183043"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I created and delivered DB Landing Zone training for graduates. </a:t>
            </a:r>
            <a:r>
              <a:rPr lang="en-US" sz="1200" b="1" dirty="0">
                <a:solidFill>
                  <a:srgbClr val="14202E"/>
                </a:solidFill>
                <a:latin typeface="IBM Plex Sans" pitchFamily="34" charset="0"/>
                <a:ea typeface="IBM Plex Sans" pitchFamily="34" charset="-122"/>
                <a:cs typeface="IBM Plex Sans" pitchFamily="34" charset="-120"/>
              </a:rPr>
              <a:t>Impact:</a:t>
            </a:r>
            <a:r>
              <a:rPr lang="en-US" sz="1200" dirty="0">
                <a:solidFill>
                  <a:srgbClr val="14202E"/>
                </a:solidFill>
                <a:latin typeface="IBM Plex Sans" pitchFamily="34" charset="0"/>
                <a:ea typeface="IBM Plex Sans" pitchFamily="34" charset="-122"/>
                <a:cs typeface="IBM Plex Sans" pitchFamily="34" charset="-120"/>
              </a:rPr>
              <a:t> shorter onboarding, lower training overhead.</a:t>
            </a:r>
            <a:endParaRPr lang="en-US" sz="1200" dirty="0"/>
          </a:p>
        </p:txBody>
      </p:sp>
      <p:sp>
        <p:nvSpPr>
          <p:cNvPr id="35" name="Shape 32"/>
          <p:cNvSpPr/>
          <p:nvPr/>
        </p:nvSpPr>
        <p:spPr>
          <a:xfrm>
            <a:off x="711200" y="5405177"/>
            <a:ext cx="10769600" cy="640027"/>
          </a:xfrm>
          <a:prstGeom prst="roundRect">
            <a:avLst>
              <a:gd name="adj" fmla="val 3969"/>
            </a:avLst>
          </a:prstGeom>
          <a:solidFill>
            <a:srgbClr val="E3EAF4"/>
          </a:solidFill>
          <a:ln/>
        </p:spPr>
      </p:sp>
      <p:sp>
        <p:nvSpPr>
          <p:cNvPr id="36" name="Shape 33"/>
          <p:cNvSpPr/>
          <p:nvPr/>
        </p:nvSpPr>
        <p:spPr>
          <a:xfrm>
            <a:off x="711200" y="5405177"/>
            <a:ext cx="10769600" cy="640027"/>
          </a:xfrm>
          <a:custGeom>
            <a:avLst/>
            <a:gdLst/>
            <a:ahLst/>
            <a:cxnLst/>
            <a:rect l="l" t="t" r="r" b="b"/>
            <a:pathLst>
              <a:path w="10769600" h="640027">
                <a:moveTo>
                  <a:pt x="38100" y="640027"/>
                </a:moveTo>
                <a:lnTo>
                  <a:pt x="25400" y="640027"/>
                </a:lnTo>
                <a:arcTo hR="25400" wR="25400" stAng="5400000" swAng="5400000"/>
                <a:lnTo>
                  <a:pt x="0" y="25400"/>
                </a:lnTo>
                <a:arcTo hR="25400" wR="25400" stAng="10800000" swAng="5400000"/>
                <a:lnTo>
                  <a:pt x="38100" y="0"/>
                </a:lnTo>
                <a:lnTo>
                  <a:pt x="38100" y="640027"/>
                </a:lnTo>
                <a:close/>
              </a:path>
            </a:pathLst>
          </a:custGeom>
          <a:solidFill>
            <a:srgbClr val="1F5FAF"/>
          </a:solidFill>
          <a:ln/>
        </p:spPr>
      </p:sp>
      <p:sp>
        <p:nvSpPr>
          <p:cNvPr id="37" name="Text 34"/>
          <p:cNvSpPr/>
          <p:nvPr/>
        </p:nvSpPr>
        <p:spPr>
          <a:xfrm>
            <a:off x="927100" y="5618497"/>
            <a:ext cx="18207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F"/>
                </a:solidFill>
                <a:latin typeface="IBM Plex Sans" pitchFamily="34" charset="0"/>
                <a:ea typeface="IBM Plex Sans" pitchFamily="34" charset="-122"/>
                <a:cs typeface="IBM Plex Sans" pitchFamily="34" charset="-120"/>
              </a:rPr>
              <a:t>Why this meets Level 3</a:t>
            </a:r>
            <a:endParaRPr lang="en-US" sz="1200" dirty="0"/>
          </a:p>
        </p:txBody>
      </p:sp>
      <p:sp>
        <p:nvSpPr>
          <p:cNvPr id="38" name="Text 35"/>
          <p:cNvSpPr/>
          <p:nvPr/>
        </p:nvSpPr>
        <p:spPr>
          <a:xfrm>
            <a:off x="2747830" y="5519477"/>
            <a:ext cx="881182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I build long-term relationships across organizational boundaries and take ownership of developing others — from my eight engineers to Operations, graduates and other divisions.</a:t>
            </a:r>
            <a:endParaRPr lang="en-US" sz="1200" dirty="0"/>
          </a:p>
        </p:txBody>
      </p:sp>
      <p:sp>
        <p:nvSpPr>
          <p:cNvPr id="39" name="Text 36"/>
          <p:cNvSpPr/>
          <p:nvPr/>
        </p:nvSpPr>
        <p:spPr>
          <a:xfrm>
            <a:off x="711200" y="6339880"/>
            <a:ext cx="9726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ECDF · ENGAGES · ~4 min · Boundary: AI mentoring (building capability) here; helping external teams adopt AI sits under INFLUENCES</a:t>
            </a:r>
            <a:endParaRPr lang="en-US" sz="1200" dirty="0"/>
          </a:p>
        </p:txBody>
      </p:sp>
      <p:sp>
        <p:nvSpPr>
          <p:cNvPr id="40" name="Text 37"/>
          <p:cNvSpPr/>
          <p:nvPr/>
        </p:nvSpPr>
        <p:spPr>
          <a:xfrm>
            <a:off x="10885488" y="63398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10 / 14</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711200" y="389136"/>
            <a:ext cx="1344150" cy="289520"/>
          </a:xfrm>
          <a:prstGeom prst="roundRect">
            <a:avLst>
              <a:gd name="adj" fmla="val 13160"/>
            </a:avLst>
          </a:prstGeom>
          <a:solidFill>
            <a:srgbClr val="1F5FAF"/>
          </a:solidFill>
          <a:ln/>
        </p:spPr>
        <p:txBody>
          <a:bodyPr wrap="none" lIns="0" tIns="0" rIns="0" bIns="0" rtlCol="0" anchor="ctr">
            <a:normAutofit/>
          </a:bodyPr>
          <a:lstStyle/>
          <a:p>
            <a:pPr algn="ctr" indent="0" marL="0">
              <a:lnSpc>
                <a:spcPts val="1680"/>
              </a:lnSpc>
              <a:buNone/>
            </a:pPr>
            <a:r>
              <a:rPr lang="en-US" sz="1200" b="1" spc="150" kern="0" dirty="0">
                <a:solidFill>
                  <a:srgbClr val="FBFAF6"/>
                </a:solidFill>
                <a:latin typeface="IBM Plex Sans" pitchFamily="34" charset="0"/>
                <a:ea typeface="IBM Plex Sans" pitchFamily="34" charset="-122"/>
                <a:cs typeface="IBM Plex Sans" pitchFamily="34" charset="-120"/>
              </a:rPr>
              <a:t>INFLUENCES</a:t>
            </a:r>
            <a:endParaRPr lang="en-US" sz="1200" dirty="0"/>
          </a:p>
        </p:txBody>
      </p:sp>
      <p:sp>
        <p:nvSpPr>
          <p:cNvPr id="3" name="Text 1"/>
          <p:cNvSpPr/>
          <p:nvPr/>
        </p:nvSpPr>
        <p:spPr>
          <a:xfrm>
            <a:off x="2182350" y="427236"/>
            <a:ext cx="220233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F"/>
                </a:solidFill>
                <a:latin typeface="IBM Plex Sans" pitchFamily="34" charset="0"/>
                <a:ea typeface="IBM Plex Sans" pitchFamily="34" charset="-122"/>
                <a:cs typeface="IBM Plex Sans" pitchFamily="34" charset="-120"/>
              </a:rPr>
              <a:t>Required: Level 3 · Skilled</a:t>
            </a:r>
            <a:endParaRPr lang="en-US" sz="1200" dirty="0"/>
          </a:p>
        </p:txBody>
      </p:sp>
      <p:sp>
        <p:nvSpPr>
          <p:cNvPr id="4" name="Text 2"/>
          <p:cNvSpPr/>
          <p:nvPr/>
        </p:nvSpPr>
        <p:spPr>
          <a:xfrm>
            <a:off x="10254589" y="427236"/>
            <a:ext cx="14714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Evidence 8.1 · 8.2</a:t>
            </a:r>
            <a:endParaRPr lang="en-US" sz="1200" dirty="0"/>
          </a:p>
        </p:txBody>
      </p:sp>
      <p:sp>
        <p:nvSpPr>
          <p:cNvPr id="5" name="Text 3"/>
          <p:cNvSpPr/>
          <p:nvPr>
            <p:ph type="title"/>
          </p:nvPr>
        </p:nvSpPr>
        <p:spPr>
          <a:xfrm>
            <a:off x="711200" y="813792"/>
            <a:ext cx="11092688" cy="665229"/>
          </a:xfrm>
          <a:prstGeom prst="rect">
            <a:avLst/>
          </a:prstGeom>
          <a:noFill/>
          <a:ln/>
        </p:spPr>
        <p:txBody>
          <a:bodyPr wrap="square" lIns="0" tIns="0" rIns="0" bIns="0" rtlCol="0" anchor="t">
            <a:normAutofit/>
          </a:bodyPr>
          <a:lstStyle/>
          <a:p>
            <a:pPr algn="l" indent="0" marL="0">
              <a:lnSpc>
                <a:spcPts val="2529"/>
              </a:lnSpc>
              <a:buNone/>
            </a:pPr>
            <a:r>
              <a:rPr lang="en-US" sz="2299" b="0" i="0" dirty="0">
                <a:solidFill>
                  <a:srgbClr val="14202E"/>
                </a:solidFill>
                <a:latin typeface="Source Serif 4" pitchFamily="18" charset="0"/>
                <a:ea typeface="Source Serif 4" pitchFamily="18" charset="-122"/>
                <a:cs typeface="Source Serif 4" pitchFamily="18" charset="-120"/>
              </a:rPr>
              <a:t>I earn commitment by making complex engineering decisions understandable</a:t>
            </a:r>
            <a:endParaRPr lang="en-US" sz="2299" dirty="0"/>
          </a:p>
        </p:txBody>
      </p:sp>
      <p:sp>
        <p:nvSpPr>
          <p:cNvPr id="6" name="Text 4"/>
          <p:cNvSpPr/>
          <p:nvPr/>
        </p:nvSpPr>
        <p:spPr>
          <a:xfrm>
            <a:off x="711200" y="1606023"/>
            <a:ext cx="1549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6472"/>
                </a:solidFill>
                <a:latin typeface="IBM Plex Sans" pitchFamily="34" charset="0"/>
                <a:ea typeface="IBM Plex Sans" pitchFamily="34" charset="-122"/>
                <a:cs typeface="IBM Plex Sans" pitchFamily="34" charset="-120"/>
              </a:rPr>
              <a:t>STAKEHOLDERS</a:t>
            </a:r>
            <a:endParaRPr lang="en-US" sz="1200" dirty="0"/>
          </a:p>
        </p:txBody>
      </p:sp>
      <p:sp>
        <p:nvSpPr>
          <p:cNvPr id="7" name="Text 5"/>
          <p:cNvSpPr/>
          <p:nvPr/>
        </p:nvSpPr>
        <p:spPr>
          <a:xfrm>
            <a:off x="2362200" y="1606023"/>
            <a:ext cx="202721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6472"/>
                </a:solidFill>
                <a:latin typeface="IBM Plex Sans" pitchFamily="34" charset="0"/>
                <a:ea typeface="IBM Plex Sans" pitchFamily="34" charset="-122"/>
                <a:cs typeface="IBM Plex Sans" pitchFamily="34" charset="-120"/>
              </a:rPr>
              <a:t>STARTING POINT</a:t>
            </a:r>
            <a:endParaRPr lang="en-US" sz="1200" dirty="0"/>
          </a:p>
        </p:txBody>
      </p:sp>
      <p:sp>
        <p:nvSpPr>
          <p:cNvPr id="8" name="Text 6"/>
          <p:cNvSpPr/>
          <p:nvPr/>
        </p:nvSpPr>
        <p:spPr>
          <a:xfrm>
            <a:off x="4482769" y="1606023"/>
            <a:ext cx="202728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6472"/>
                </a:solidFill>
                <a:latin typeface="IBM Plex Sans" pitchFamily="34" charset="0"/>
                <a:ea typeface="IBM Plex Sans" pitchFamily="34" charset="-122"/>
                <a:cs typeface="IBM Plex Sans" pitchFamily="34" charset="-120"/>
              </a:rPr>
              <a:t>MY APPROACH</a:t>
            </a:r>
            <a:endParaRPr lang="en-US" sz="1200" dirty="0"/>
          </a:p>
        </p:txBody>
      </p:sp>
      <p:sp>
        <p:nvSpPr>
          <p:cNvPr id="9" name="Text 7"/>
          <p:cNvSpPr/>
          <p:nvPr/>
        </p:nvSpPr>
        <p:spPr>
          <a:xfrm>
            <a:off x="6603405" y="1606023"/>
            <a:ext cx="235485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6472"/>
                </a:solidFill>
                <a:latin typeface="IBM Plex Sans" pitchFamily="34" charset="0"/>
                <a:ea typeface="IBM Plex Sans" pitchFamily="34" charset="-122"/>
                <a:cs typeface="IBM Plex Sans" pitchFamily="34" charset="-120"/>
              </a:rPr>
              <a:t>WHAT CHANGED</a:t>
            </a:r>
            <a:endParaRPr lang="en-US" sz="1200" dirty="0"/>
          </a:p>
        </p:txBody>
      </p:sp>
      <p:sp>
        <p:nvSpPr>
          <p:cNvPr id="10" name="Shape 8"/>
          <p:cNvSpPr/>
          <p:nvPr/>
        </p:nvSpPr>
        <p:spPr>
          <a:xfrm>
            <a:off x="9042070" y="1612373"/>
            <a:ext cx="2438665" cy="0"/>
          </a:xfrm>
          <a:prstGeom prst="line">
            <a:avLst/>
          </a:prstGeom>
          <a:noFill/>
          <a:ln w="12700">
            <a:solidFill>
              <a:srgbClr val="1F5FAF"/>
            </a:solidFill>
            <a:prstDash val="solid"/>
          </a:ln>
        </p:spPr>
      </p:sp>
      <p:sp>
        <p:nvSpPr>
          <p:cNvPr id="11" name="Text 9"/>
          <p:cNvSpPr/>
          <p:nvPr/>
        </p:nvSpPr>
        <p:spPr>
          <a:xfrm>
            <a:off x="9042070" y="1733023"/>
            <a:ext cx="235485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AF"/>
                </a:solidFill>
                <a:latin typeface="IBM Plex Sans" pitchFamily="34" charset="0"/>
                <a:ea typeface="IBM Plex Sans" pitchFamily="34" charset="-122"/>
                <a:cs typeface="IBM Plex Sans" pitchFamily="34" charset="-120"/>
              </a:rPr>
              <a:t>8.1</a:t>
            </a:r>
            <a:endParaRPr lang="en-US" sz="1200" dirty="0"/>
          </a:p>
        </p:txBody>
      </p:sp>
      <p:sp>
        <p:nvSpPr>
          <p:cNvPr id="12" name="Text 10"/>
          <p:cNvSpPr/>
          <p:nvPr/>
        </p:nvSpPr>
        <p:spPr>
          <a:xfrm>
            <a:off x="9042070" y="1971743"/>
            <a:ext cx="235485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Source Serif 4" pitchFamily="18" charset="0"/>
                <a:ea typeface="Source Serif 4" pitchFamily="18" charset="-122"/>
                <a:cs typeface="Source Serif 4" pitchFamily="18" charset="-120"/>
              </a:rPr>
              <a:t>Leadership forums</a:t>
            </a:r>
            <a:endParaRPr lang="en-US" sz="1400" dirty="0"/>
          </a:p>
        </p:txBody>
      </p:sp>
      <p:sp>
        <p:nvSpPr>
          <p:cNvPr id="13" name="Shape 11"/>
          <p:cNvSpPr/>
          <p:nvPr/>
        </p:nvSpPr>
        <p:spPr>
          <a:xfrm>
            <a:off x="711200" y="2305714"/>
            <a:ext cx="1651000" cy="0"/>
          </a:xfrm>
          <a:prstGeom prst="line">
            <a:avLst/>
          </a:prstGeom>
          <a:noFill/>
          <a:ln w="12700">
            <a:solidFill>
              <a:srgbClr val="1F5FAF"/>
            </a:solidFill>
            <a:prstDash val="solid"/>
          </a:ln>
        </p:spPr>
      </p:sp>
      <p:sp>
        <p:nvSpPr>
          <p:cNvPr id="14" name="Text 12"/>
          <p:cNvSpPr/>
          <p:nvPr/>
        </p:nvSpPr>
        <p:spPr>
          <a:xfrm>
            <a:off x="711200" y="2426364"/>
            <a:ext cx="154940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Senior leadership, platform tenants and peer teams</a:t>
            </a:r>
            <a:endParaRPr lang="en-US" sz="1200" dirty="0"/>
          </a:p>
        </p:txBody>
      </p:sp>
      <p:sp>
        <p:nvSpPr>
          <p:cNvPr id="15" name="Shape 13"/>
          <p:cNvSpPr/>
          <p:nvPr/>
        </p:nvSpPr>
        <p:spPr>
          <a:xfrm>
            <a:off x="2362200" y="2305714"/>
            <a:ext cx="2120569" cy="0"/>
          </a:xfrm>
          <a:prstGeom prst="line">
            <a:avLst/>
          </a:prstGeom>
          <a:noFill/>
          <a:ln w="12700">
            <a:solidFill>
              <a:srgbClr val="1F5FAF"/>
            </a:solidFill>
            <a:prstDash val="solid"/>
          </a:ln>
        </p:spPr>
      </p:sp>
      <p:sp>
        <p:nvSpPr>
          <p:cNvPr id="16" name="Text 14"/>
          <p:cNvSpPr/>
          <p:nvPr/>
        </p:nvSpPr>
        <p:spPr>
          <a:xfrm>
            <a:off x="2362200" y="2426364"/>
            <a:ext cx="2027214" cy="84825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Technical disputes and cross-team bottlenecks; peers following their own standards</a:t>
            </a:r>
            <a:endParaRPr lang="en-US" sz="1200" dirty="0"/>
          </a:p>
        </p:txBody>
      </p:sp>
      <p:sp>
        <p:nvSpPr>
          <p:cNvPr id="17" name="Shape 15"/>
          <p:cNvSpPr/>
          <p:nvPr/>
        </p:nvSpPr>
        <p:spPr>
          <a:xfrm>
            <a:off x="4482769" y="2305714"/>
            <a:ext cx="2120635" cy="0"/>
          </a:xfrm>
          <a:prstGeom prst="line">
            <a:avLst/>
          </a:prstGeom>
          <a:noFill/>
          <a:ln w="12700">
            <a:solidFill>
              <a:srgbClr val="1F5FAF"/>
            </a:solidFill>
            <a:prstDash val="solid"/>
          </a:ln>
        </p:spPr>
      </p:sp>
      <p:sp>
        <p:nvSpPr>
          <p:cNvPr id="18" name="Text 16"/>
          <p:cNvSpPr/>
          <p:nvPr/>
        </p:nvSpPr>
        <p:spPr>
          <a:xfrm>
            <a:off x="4482769" y="2426364"/>
            <a:ext cx="2027283" cy="951772"/>
          </a:xfrm>
          <a:prstGeom prst="rect">
            <a:avLst/>
          </a:prstGeom>
          <a:noFill/>
          <a:ln/>
        </p:spPr>
        <p:txBody>
          <a:bodyPr wrap="square" lIns="0" tIns="0" rIns="0" bIns="0" rtlCol="0" anchor="t">
            <a:normAutofit/>
          </a:bodyPr>
          <a:lstStyle/>
          <a:p>
            <a:pPr algn="l" indent="0" marL="0">
              <a:lnSpc>
                <a:spcPts val="1463"/>
              </a:lnSpc>
              <a:buNone/>
            </a:pPr>
            <a:r>
              <a:rPr lang="en-US" sz="1084" dirty="0">
                <a:solidFill>
                  <a:srgbClr val="14202E"/>
                </a:solidFill>
                <a:latin typeface="IBM Plex Sans" pitchFamily="34" charset="0"/>
                <a:ea typeface="IBM Plex Sans" pitchFamily="34" charset="-122"/>
                <a:cs typeface="IBM Plex Sans" pitchFamily="34" charset="-120"/>
              </a:rPr>
              <a:t>As my Team Lead's delegate, I presented architecture proposals and framed the platform view around each team's concerns</a:t>
            </a:r>
            <a:endParaRPr lang="en-US" sz="1084" dirty="0"/>
          </a:p>
        </p:txBody>
      </p:sp>
      <p:sp>
        <p:nvSpPr>
          <p:cNvPr id="19" name="Shape 17"/>
          <p:cNvSpPr/>
          <p:nvPr/>
        </p:nvSpPr>
        <p:spPr>
          <a:xfrm>
            <a:off x="6603405" y="2305714"/>
            <a:ext cx="2438665" cy="0"/>
          </a:xfrm>
          <a:prstGeom prst="line">
            <a:avLst/>
          </a:prstGeom>
          <a:noFill/>
          <a:ln w="12700">
            <a:solidFill>
              <a:srgbClr val="1F5FAF"/>
            </a:solidFill>
            <a:prstDash val="solid"/>
          </a:ln>
        </p:spPr>
      </p:sp>
      <p:sp>
        <p:nvSpPr>
          <p:cNvPr id="20" name="Text 18"/>
          <p:cNvSpPr/>
          <p:nvPr/>
        </p:nvSpPr>
        <p:spPr>
          <a:xfrm>
            <a:off x="6603405" y="2426364"/>
            <a:ext cx="2354853" cy="84825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02E"/>
                </a:solidFill>
                <a:latin typeface="IBM Plex Sans" pitchFamily="34" charset="0"/>
                <a:ea typeface="IBM Plex Sans" pitchFamily="34" charset="-122"/>
                <a:cs typeface="IBM Plex Sans" pitchFamily="34" charset="-120"/>
              </a:rPr>
              <a:t>Disputes resolved; peers adopted platform standards; alignment with central architecture kept</a:t>
            </a:r>
            <a:endParaRPr lang="en-US" sz="1200" dirty="0"/>
          </a:p>
        </p:txBody>
      </p:sp>
      <p:sp>
        <p:nvSpPr>
          <p:cNvPr id="21" name="Shape 19"/>
          <p:cNvSpPr/>
          <p:nvPr/>
        </p:nvSpPr>
        <p:spPr>
          <a:xfrm>
            <a:off x="9042070" y="2305714"/>
            <a:ext cx="2438665" cy="0"/>
          </a:xfrm>
          <a:prstGeom prst="line">
            <a:avLst/>
          </a:prstGeom>
          <a:noFill/>
          <a:ln w="12700">
            <a:solidFill>
              <a:srgbClr val="1F5FAF"/>
            </a:solidFill>
            <a:prstDash val="solid"/>
          </a:ln>
        </p:spPr>
      </p:sp>
      <p:sp>
        <p:nvSpPr>
          <p:cNvPr id="22" name="Text 20"/>
          <p:cNvSpPr/>
          <p:nvPr/>
        </p:nvSpPr>
        <p:spPr>
          <a:xfrm>
            <a:off x="9042070" y="2426364"/>
            <a:ext cx="235485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AF"/>
                </a:solidFill>
                <a:latin typeface="IBM Plex Sans" pitchFamily="34" charset="0"/>
                <a:ea typeface="IBM Plex Sans" pitchFamily="34" charset="-122"/>
                <a:cs typeface="IBM Plex Sans" pitchFamily="34" charset="-120"/>
              </a:rPr>
              <a:t>8.2</a:t>
            </a:r>
            <a:endParaRPr lang="en-US" sz="1200" dirty="0"/>
          </a:p>
        </p:txBody>
      </p:sp>
      <p:sp>
        <p:nvSpPr>
          <p:cNvPr id="23" name="Text 21"/>
          <p:cNvSpPr/>
          <p:nvPr/>
        </p:nvSpPr>
        <p:spPr>
          <a:xfrm>
            <a:off x="9042070" y="2665084"/>
            <a:ext cx="235485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Source Serif 4" pitchFamily="18" charset="0"/>
                <a:ea typeface="Source Serif 4" pitchFamily="18" charset="-122"/>
                <a:cs typeface="Source Serif 4" pitchFamily="18" charset="-120"/>
              </a:rPr>
              <a:t>External AI enablement</a:t>
            </a:r>
            <a:endParaRPr lang="en-US" sz="1400" dirty="0"/>
          </a:p>
        </p:txBody>
      </p:sp>
      <p:sp>
        <p:nvSpPr>
          <p:cNvPr id="24" name="Shape 22"/>
          <p:cNvSpPr/>
          <p:nvPr/>
        </p:nvSpPr>
        <p:spPr>
          <a:xfrm>
            <a:off x="711200" y="3473388"/>
            <a:ext cx="1651000" cy="0"/>
          </a:xfrm>
          <a:prstGeom prst="line">
            <a:avLst/>
          </a:prstGeom>
          <a:noFill/>
          <a:ln w="12700">
            <a:solidFill>
              <a:srgbClr val="1F5FAF"/>
            </a:solidFill>
            <a:prstDash val="solid"/>
          </a:ln>
        </p:spPr>
      </p:sp>
      <p:sp>
        <p:nvSpPr>
          <p:cNvPr id="25" name="Text 23"/>
          <p:cNvSpPr/>
          <p:nvPr/>
        </p:nvSpPr>
        <p:spPr>
          <a:xfrm>
            <a:off x="711200" y="3594038"/>
            <a:ext cx="1549400" cy="951772"/>
          </a:xfrm>
          <a:prstGeom prst="rect">
            <a:avLst/>
          </a:prstGeom>
          <a:noFill/>
          <a:ln/>
        </p:spPr>
        <p:txBody>
          <a:bodyPr wrap="square" lIns="0" tIns="0" rIns="0" bIns="0" rtlCol="0" anchor="t">
            <a:normAutofit/>
          </a:bodyPr>
          <a:lstStyle/>
          <a:p>
            <a:pPr algn="l" indent="0" marL="0">
              <a:lnSpc>
                <a:spcPts val="1524"/>
              </a:lnSpc>
              <a:buNone/>
            </a:pPr>
            <a:r>
              <a:rPr lang="en-US" sz="1129" dirty="0">
                <a:solidFill>
                  <a:srgbClr val="14202E"/>
                </a:solidFill>
                <a:latin typeface="IBM Plex Sans" pitchFamily="34" charset="0"/>
                <a:ea typeface="IBM Plex Sans" pitchFamily="34" charset="-122"/>
                <a:cs typeface="IBM Plex Sans" pitchFamily="34" charset="-120"/>
              </a:rPr>
              <a:t>External teams pursuing AI; hackathon teams; graduate and intern candidates</a:t>
            </a:r>
            <a:endParaRPr lang="en-US" sz="1129" dirty="0"/>
          </a:p>
        </p:txBody>
      </p:sp>
      <p:sp>
        <p:nvSpPr>
          <p:cNvPr id="26" name="Shape 24"/>
          <p:cNvSpPr/>
          <p:nvPr/>
        </p:nvSpPr>
        <p:spPr>
          <a:xfrm>
            <a:off x="2362200" y="3473388"/>
            <a:ext cx="2120569" cy="0"/>
          </a:xfrm>
          <a:prstGeom prst="line">
            <a:avLst/>
          </a:prstGeom>
          <a:noFill/>
          <a:ln w="12700">
            <a:solidFill>
              <a:srgbClr val="1F5FAF"/>
            </a:solidFill>
            <a:prstDash val="solid"/>
          </a:ln>
        </p:spPr>
      </p:sp>
      <p:sp>
        <p:nvSpPr>
          <p:cNvPr id="27" name="Text 25"/>
          <p:cNvSpPr/>
          <p:nvPr/>
        </p:nvSpPr>
        <p:spPr>
          <a:xfrm>
            <a:off x="2362200" y="3594038"/>
            <a:ext cx="2027214"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Teams outside my area needing practical help to enable AI</a:t>
            </a:r>
            <a:endParaRPr lang="en-US" sz="1200" dirty="0"/>
          </a:p>
        </p:txBody>
      </p:sp>
      <p:sp>
        <p:nvSpPr>
          <p:cNvPr id="28" name="Shape 26"/>
          <p:cNvSpPr/>
          <p:nvPr/>
        </p:nvSpPr>
        <p:spPr>
          <a:xfrm>
            <a:off x="4482769" y="3473388"/>
            <a:ext cx="2120635" cy="0"/>
          </a:xfrm>
          <a:prstGeom prst="line">
            <a:avLst/>
          </a:prstGeom>
          <a:noFill/>
          <a:ln w="12700">
            <a:solidFill>
              <a:srgbClr val="1F5FAF"/>
            </a:solidFill>
            <a:prstDash val="solid"/>
          </a:ln>
        </p:spPr>
      </p:sp>
      <p:sp>
        <p:nvSpPr>
          <p:cNvPr id="29" name="Text 27"/>
          <p:cNvSpPr/>
          <p:nvPr/>
        </p:nvSpPr>
        <p:spPr>
          <a:xfrm>
            <a:off x="4482769" y="3594038"/>
            <a:ext cx="2027283" cy="84825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I applied my Future Leaders and GEE capability hands-on — enabling their AI work and mentoring hackathon teams</a:t>
            </a:r>
            <a:endParaRPr lang="en-US" sz="1200" dirty="0"/>
          </a:p>
        </p:txBody>
      </p:sp>
      <p:sp>
        <p:nvSpPr>
          <p:cNvPr id="30" name="Shape 28"/>
          <p:cNvSpPr/>
          <p:nvPr/>
        </p:nvSpPr>
        <p:spPr>
          <a:xfrm>
            <a:off x="6603405" y="3473388"/>
            <a:ext cx="2438665" cy="0"/>
          </a:xfrm>
          <a:prstGeom prst="line">
            <a:avLst/>
          </a:prstGeom>
          <a:noFill/>
          <a:ln w="12700">
            <a:solidFill>
              <a:srgbClr val="1F5FAF"/>
            </a:solidFill>
            <a:prstDash val="solid"/>
          </a:ln>
        </p:spPr>
      </p:sp>
      <p:sp>
        <p:nvSpPr>
          <p:cNvPr id="31" name="Text 29"/>
          <p:cNvSpPr/>
          <p:nvPr/>
        </p:nvSpPr>
        <p:spPr>
          <a:xfrm>
            <a:off x="6603405" y="3594038"/>
            <a:ext cx="2354853" cy="84825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02E"/>
                </a:solidFill>
                <a:latin typeface="IBM Plex Sans" pitchFamily="34" charset="0"/>
                <a:ea typeface="IBM Plex Sans" pitchFamily="34" charset="-122"/>
                <a:cs typeface="IBM Plex Sans" pitchFamily="34" charset="-120"/>
              </a:rPr>
              <a:t>External teams moved forward on AI; colleagues motivated to certify; I interview for GEE graduate and intern hiring</a:t>
            </a:r>
            <a:endParaRPr lang="en-US" sz="1200" dirty="0"/>
          </a:p>
        </p:txBody>
      </p:sp>
      <p:sp>
        <p:nvSpPr>
          <p:cNvPr id="32" name="Text 30"/>
          <p:cNvSpPr/>
          <p:nvPr/>
        </p:nvSpPr>
        <p:spPr>
          <a:xfrm>
            <a:off x="711200" y="4787106"/>
            <a:ext cx="11480800" cy="387747"/>
          </a:xfrm>
          <a:prstGeom prst="rect">
            <a:avLst/>
          </a:prstGeom>
          <a:noFill/>
          <a:ln/>
        </p:spPr>
        <p:txBody>
          <a:bodyPr wrap="square" lIns="0" tIns="0" rIns="0" bIns="0" rtlCol="0" anchor="t">
            <a:normAutofit/>
          </a:bodyPr>
          <a:lstStyle/>
          <a:p>
            <a:pPr algn="l" indent="0" marL="0">
              <a:lnSpc>
                <a:spcPts val="1448"/>
              </a:lnSpc>
              <a:buNone/>
            </a:pPr>
            <a:r>
              <a:rPr lang="en-US" sz="1073" b="1" dirty="0">
                <a:solidFill>
                  <a:srgbClr val="5A6472"/>
                </a:solidFill>
                <a:latin typeface="IBM Plex Sans" pitchFamily="34" charset="0"/>
                <a:ea typeface="IBM Plex Sans" pitchFamily="34" charset="-122"/>
                <a:cs typeface="IBM Plex Sans" pitchFamily="34" charset="-120"/>
              </a:rPr>
              <a:t>Supporting credibility only:</a:t>
            </a:r>
            <a:r>
              <a:rPr lang="en-US" sz="1073" dirty="0">
                <a:solidFill>
                  <a:srgbClr val="5A6472"/>
                </a:solidFill>
                <a:latin typeface="IBM Plex Sans" pitchFamily="34" charset="0"/>
                <a:ea typeface="IBM Plex Sans" pitchFamily="34" charset="-122"/>
                <a:cs typeface="IBM Plex Sans" pitchFamily="34" charset="-120"/>
              </a:rPr>
              <a:t> selected for Future Leaders; GEE and DB Engineering Sprints certifications with distinction. The evidence is the change in others, not the certificate.</a:t>
            </a:r>
            <a:endParaRPr lang="en-US" sz="1073" dirty="0"/>
          </a:p>
        </p:txBody>
      </p:sp>
      <p:sp>
        <p:nvSpPr>
          <p:cNvPr id="33" name="Shape 31"/>
          <p:cNvSpPr/>
          <p:nvPr/>
        </p:nvSpPr>
        <p:spPr>
          <a:xfrm>
            <a:off x="711200" y="5454253"/>
            <a:ext cx="10769600" cy="590947"/>
          </a:xfrm>
          <a:prstGeom prst="roundRect">
            <a:avLst>
              <a:gd name="adj" fmla="val 4298"/>
            </a:avLst>
          </a:prstGeom>
          <a:solidFill>
            <a:srgbClr val="E3EAF4"/>
          </a:solidFill>
          <a:ln/>
        </p:spPr>
      </p:sp>
      <p:sp>
        <p:nvSpPr>
          <p:cNvPr id="34" name="Shape 32"/>
          <p:cNvSpPr/>
          <p:nvPr/>
        </p:nvSpPr>
        <p:spPr>
          <a:xfrm>
            <a:off x="711200" y="5454253"/>
            <a:ext cx="10769600" cy="590947"/>
          </a:xfrm>
          <a:custGeom>
            <a:avLst/>
            <a:gdLst/>
            <a:ahLst/>
            <a:cxnLst/>
            <a:rect l="l" t="t" r="r" b="b"/>
            <a:pathLst>
              <a:path w="10769600" h="590947">
                <a:moveTo>
                  <a:pt x="38100" y="590947"/>
                </a:moveTo>
                <a:lnTo>
                  <a:pt x="25400" y="590947"/>
                </a:lnTo>
                <a:arcTo hR="25400" wR="25400" stAng="5400000" swAng="5400000"/>
                <a:lnTo>
                  <a:pt x="0" y="25400"/>
                </a:lnTo>
                <a:arcTo hR="25400" wR="25400" stAng="10800000" swAng="5400000"/>
                <a:lnTo>
                  <a:pt x="38100" y="0"/>
                </a:lnTo>
                <a:lnTo>
                  <a:pt x="38100" y="590947"/>
                </a:lnTo>
                <a:close/>
              </a:path>
            </a:pathLst>
          </a:custGeom>
          <a:solidFill>
            <a:srgbClr val="1F5FAF"/>
          </a:solidFill>
          <a:ln/>
        </p:spPr>
      </p:sp>
      <p:sp>
        <p:nvSpPr>
          <p:cNvPr id="35" name="Text 33"/>
          <p:cNvSpPr/>
          <p:nvPr/>
        </p:nvSpPr>
        <p:spPr>
          <a:xfrm>
            <a:off x="927100" y="5643035"/>
            <a:ext cx="18207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F"/>
                </a:solidFill>
                <a:latin typeface="IBM Plex Sans" pitchFamily="34" charset="0"/>
                <a:ea typeface="IBM Plex Sans" pitchFamily="34" charset="-122"/>
                <a:cs typeface="IBM Plex Sans" pitchFamily="34" charset="-120"/>
              </a:rPr>
              <a:t>Why this meets Level 3</a:t>
            </a:r>
            <a:endParaRPr lang="en-US" sz="1200" dirty="0"/>
          </a:p>
        </p:txBody>
      </p:sp>
      <p:sp>
        <p:nvSpPr>
          <p:cNvPr id="36" name="Text 34"/>
          <p:cNvSpPr/>
          <p:nvPr/>
        </p:nvSpPr>
        <p:spPr>
          <a:xfrm>
            <a:off x="2747830" y="5544015"/>
            <a:ext cx="881182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I am a visible engineering role model who gains commitment by understanding others' concerns and adapting complex messages for senior leaders, peers and external teams.</a:t>
            </a:r>
            <a:endParaRPr lang="en-US" sz="1200" dirty="0"/>
          </a:p>
        </p:txBody>
      </p:sp>
      <p:sp>
        <p:nvSpPr>
          <p:cNvPr id="37" name="Text 35"/>
          <p:cNvSpPr/>
          <p:nvPr/>
        </p:nvSpPr>
        <p:spPr>
          <a:xfrm>
            <a:off x="711200" y="6339880"/>
            <a:ext cx="9204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ECDF · INFLUENCES · ~3 min · Evidence: meeting invitations, decks, email agreements, AI enablement correspondence</a:t>
            </a:r>
            <a:endParaRPr lang="en-US" sz="1200" dirty="0"/>
          </a:p>
        </p:txBody>
      </p:sp>
      <p:sp>
        <p:nvSpPr>
          <p:cNvPr id="38" name="Text 36"/>
          <p:cNvSpPr/>
          <p:nvPr/>
        </p:nvSpPr>
        <p:spPr>
          <a:xfrm>
            <a:off x="10885488" y="63398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11 / 14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711200" y="406400"/>
            <a:ext cx="11092688" cy="227013"/>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5A6472"/>
                </a:solidFill>
                <a:latin typeface="IBM Plex Sans" pitchFamily="34" charset="0"/>
                <a:ea typeface="IBM Plex Sans" pitchFamily="34" charset="-122"/>
                <a:cs typeface="IBM Plex Sans" pitchFamily="34" charset="-120"/>
              </a:rPr>
              <a:t>ECDF EVIDENCE SUMMARY</a:t>
            </a:r>
            <a:endParaRPr lang="en-US" sz="1159" dirty="0"/>
          </a:p>
        </p:txBody>
      </p:sp>
      <p:sp>
        <p:nvSpPr>
          <p:cNvPr id="3" name="Text 1"/>
          <p:cNvSpPr/>
          <p:nvPr>
            <p:ph type="title"/>
          </p:nvPr>
        </p:nvSpPr>
        <p:spPr>
          <a:xfrm>
            <a:off x="711200" y="760413"/>
            <a:ext cx="11092688" cy="368565"/>
          </a:xfrm>
          <a:prstGeom prst="rect">
            <a:avLst/>
          </a:prstGeom>
          <a:noFill/>
          <a:ln/>
        </p:spPr>
        <p:txBody>
          <a:bodyPr wrap="square" lIns="0" tIns="0" rIns="0" bIns="0" rtlCol="0" anchor="t">
            <a:normAutofit/>
          </a:bodyPr>
          <a:lstStyle/>
          <a:p>
            <a:pPr algn="l" indent="0" marL="0">
              <a:lnSpc>
                <a:spcPts val="2717"/>
              </a:lnSpc>
              <a:buNone/>
            </a:pPr>
            <a:r>
              <a:rPr lang="en-US" sz="2470" b="0" i="0" dirty="0">
                <a:solidFill>
                  <a:srgbClr val="14202E"/>
                </a:solidFill>
                <a:latin typeface="Source Serif 4" pitchFamily="18" charset="0"/>
                <a:ea typeface="Source Serif 4" pitchFamily="18" charset="-122"/>
                <a:cs typeface="Source Serif 4" pitchFamily="18" charset="-120"/>
              </a:rPr>
              <a:t>Every parameter evidenced once, at the required level</a:t>
            </a:r>
            <a:endParaRPr lang="en-US" sz="2470" dirty="0"/>
          </a:p>
        </p:txBody>
      </p:sp>
      <p:sp>
        <p:nvSpPr>
          <p:cNvPr id="4" name="Shape 2"/>
          <p:cNvSpPr/>
          <p:nvPr/>
        </p:nvSpPr>
        <p:spPr>
          <a:xfrm>
            <a:off x="11477625" y="1255979"/>
            <a:ext cx="0" cy="4636823"/>
          </a:xfrm>
          <a:prstGeom prst="line">
            <a:avLst/>
          </a:prstGeom>
          <a:noFill/>
          <a:ln w="6350">
            <a:solidFill>
              <a:srgbClr val="D9D4C8"/>
            </a:solidFill>
            <a:prstDash val="solid"/>
          </a:ln>
        </p:spPr>
      </p:sp>
      <p:sp>
        <p:nvSpPr>
          <p:cNvPr id="5" name="Shape 3"/>
          <p:cNvSpPr/>
          <p:nvPr/>
        </p:nvSpPr>
        <p:spPr>
          <a:xfrm>
            <a:off x="711200" y="5889627"/>
            <a:ext cx="10769600" cy="0"/>
          </a:xfrm>
          <a:prstGeom prst="line">
            <a:avLst/>
          </a:prstGeom>
          <a:noFill/>
          <a:ln w="6350">
            <a:solidFill>
              <a:srgbClr val="D9D4C8"/>
            </a:solidFill>
            <a:prstDash val="solid"/>
          </a:ln>
        </p:spPr>
      </p:sp>
      <p:sp>
        <p:nvSpPr>
          <p:cNvPr id="6" name="Shape 4"/>
          <p:cNvSpPr/>
          <p:nvPr/>
        </p:nvSpPr>
        <p:spPr>
          <a:xfrm>
            <a:off x="711200" y="1262329"/>
            <a:ext cx="10769600" cy="0"/>
          </a:xfrm>
          <a:prstGeom prst="line">
            <a:avLst/>
          </a:prstGeom>
          <a:noFill/>
          <a:ln w="12700">
            <a:solidFill>
              <a:srgbClr val="141413">
                <a:alpha val="22000"/>
              </a:srgbClr>
            </a:solidFill>
            <a:prstDash val="solid"/>
          </a:ln>
        </p:spPr>
      </p:sp>
      <p:sp>
        <p:nvSpPr>
          <p:cNvPr id="7" name="Shape 5"/>
          <p:cNvSpPr/>
          <p:nvPr/>
        </p:nvSpPr>
        <p:spPr>
          <a:xfrm>
            <a:off x="717550" y="1255979"/>
            <a:ext cx="0" cy="4636823"/>
          </a:xfrm>
          <a:prstGeom prst="line">
            <a:avLst/>
          </a:prstGeom>
          <a:noFill/>
          <a:ln w="12700">
            <a:solidFill>
              <a:srgbClr val="141413">
                <a:alpha val="22000"/>
              </a:srgbClr>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38200" y="1357579"/>
          <a:ext cx="10524067" cy="4442090"/>
        </p:xfrm>
        <a:graphic>
          <a:graphicData uri="http://schemas.openxmlformats.org/drawingml/2006/table">
            <a:tbl>
              <a:tblPr/>
              <a:tblGrid>
                <a:gridCol w="1578610"/>
                <a:gridCol w="947166"/>
                <a:gridCol w="4841071"/>
                <a:gridCol w="3157220"/>
              </a:tblGrid>
              <a:tr h="329671">
                <a:tc>
                  <a:txBody>
                    <a:bodyPr/>
                    <a:lstStyle/>
                    <a:p>
                      <a:pPr indent="0" marL="0">
                        <a:lnSpc>
                          <a:spcPts val="1659"/>
                        </a:lnSpc>
                        <a:buNone/>
                      </a:pPr>
                      <a:r>
                        <a:rPr lang="en-US" sz="1185" b="1" dirty="0">
                          <a:solidFill>
                            <a:srgbClr val="5A6472"/>
                          </a:solidFill>
                          <a:latin typeface="IBM Plex Sans" pitchFamily="34" charset="0"/>
                          <a:ea typeface="IBM Plex Sans" pitchFamily="34" charset="-122"/>
                          <a:cs typeface="IBM Plex Sans" pitchFamily="34" charset="-120"/>
                        </a:rPr>
                        <a:t>Parameter</a:t>
                      </a:r>
                      <a:endParaRPr lang="en-US" sz="1185" dirty="0">
                        <a:latin typeface="IBM Plex Sans" charset="0"/>
                        <a:ea typeface="IBM Plex Sans" charset="0"/>
                        <a:cs typeface="IBM Plex Sans" charset="0"/>
                      </a:endParaRPr>
                    </a:p>
                  </a:txBody>
                  <a:tcPr marL="52673" marR="52673" marT="52673" marB="52673" anchor="t">
                    <a:lnL w="0" cap="flat" cmpd="sng" algn="ctr">
                      <a:noFill/>
                    </a:lnL>
                    <a:lnR w="12700" cap="flat" cmpd="sng" algn="ctr">
                      <a:solidFill>
                        <a:srgbClr val="B5B3AF"/>
                      </a:solidFill>
                      <a:prstDash val="solid"/>
                      <a:round/>
                      <a:headEnd type="none" w="med" len="med"/>
                      <a:tailEnd type="none" w="med" len="med"/>
                    </a:lnR>
                    <a:lnT w="0" cap="flat" cmpd="sng" algn="ctr">
                      <a:noFill/>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659"/>
                        </a:lnSpc>
                        <a:buNone/>
                      </a:pPr>
                      <a:r>
                        <a:rPr lang="en-US" sz="1185" b="1" dirty="0">
                          <a:solidFill>
                            <a:srgbClr val="5A6472"/>
                          </a:solidFill>
                          <a:latin typeface="IBM Plex Sans" pitchFamily="34" charset="0"/>
                          <a:ea typeface="IBM Plex Sans" pitchFamily="34" charset="-122"/>
                          <a:cs typeface="IBM Plex Sans" pitchFamily="34" charset="-120"/>
                        </a:rPr>
                        <a:t>Required</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0" cap="flat" cmpd="sng" algn="ctr">
                      <a:noFill/>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659"/>
                        </a:lnSpc>
                        <a:buNone/>
                      </a:pPr>
                      <a:r>
                        <a:rPr lang="en-US" sz="1185" b="1" dirty="0">
                          <a:solidFill>
                            <a:srgbClr val="5A6472"/>
                          </a:solidFill>
                          <a:latin typeface="IBM Plex Sans" pitchFamily="34" charset="0"/>
                          <a:ea typeface="IBM Plex Sans" pitchFamily="34" charset="-122"/>
                          <a:cs typeface="IBM Plex Sans" pitchFamily="34" charset="-120"/>
                        </a:rPr>
                        <a:t>Strongest evidence</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0" cap="flat" cmpd="sng" algn="ctr">
                      <a:noFill/>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659"/>
                        </a:lnSpc>
                        <a:buNone/>
                      </a:pPr>
                      <a:r>
                        <a:rPr lang="en-US" sz="1185" b="1" dirty="0">
                          <a:solidFill>
                            <a:srgbClr val="5A6472"/>
                          </a:solidFill>
                          <a:latin typeface="IBM Plex Sans" pitchFamily="34" charset="0"/>
                          <a:ea typeface="IBM Plex Sans" pitchFamily="34" charset="-122"/>
                          <a:cs typeface="IBM Plex Sans" pitchFamily="34" charset="-120"/>
                        </a:rPr>
                        <a:t>Demonstrated behaviour</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0" cap="flat" cmpd="sng" algn="ctr">
                      <a:noFill/>
                    </a:lnT>
                    <a:lnB w="12700" cap="flat" cmpd="sng" algn="ctr">
                      <a:solidFill>
                        <a:srgbClr val="B5B3AF"/>
                      </a:solidFill>
                      <a:prstDash val="solid"/>
                      <a:round/>
                      <a:headEnd type="none" w="med" len="med"/>
                      <a:tailEnd type="none" w="med" len="med"/>
                    </a:lnB>
                    <a:solidFill>
                      <a:srgbClr val="E2E0DB"/>
                    </a:solidFill>
                  </a:tcPr>
                </a:tc>
              </a:tr>
              <a:tr h="540345">
                <a:tc>
                  <a:txBody>
                    <a:bodyPr/>
                    <a:lstStyle/>
                    <a:p>
                      <a:pPr indent="0" marL="0">
                        <a:lnSpc>
                          <a:spcPts val="1659"/>
                        </a:lnSpc>
                        <a:buNone/>
                      </a:pPr>
                      <a:r>
                        <a:rPr lang="en-US" sz="1185" dirty="0">
                          <a:solidFill>
                            <a:srgbClr val="14202E"/>
                          </a:solidFill>
                          <a:latin typeface="IBM Plex Sans" pitchFamily="34" charset="0"/>
                          <a:ea typeface="IBM Plex Sans" pitchFamily="34" charset="-122"/>
                          <a:cs typeface="IBM Plex Sans" pitchFamily="34" charset="-120"/>
                        </a:rPr>
                        <a:t>THINKS</a:t>
                      </a:r>
                      <a:endParaRPr lang="en-US" sz="1185" dirty="0">
                        <a:latin typeface="IBM Plex Sans" charset="0"/>
                        <a:ea typeface="IBM Plex Sans" charset="0"/>
                        <a:cs typeface="IBM Plex Sans" charset="0"/>
                      </a:endParaRPr>
                    </a:p>
                  </a:txBody>
                  <a:tcPr marL="52673" marR="52673" marT="52673" marB="52673" anchor="t">
                    <a:lnL w="0" cap="flat" cmpd="sng" algn="ctr">
                      <a:noFill/>
                    </a:lnL>
                    <a:lnR w="12700" cap="flat" cmpd="sng" algn="ctr">
                      <a:solidFill>
                        <a:srgbClr val="C2B8AD"/>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2B8AD"/>
                      </a:solidFill>
                      <a:prstDash val="solid"/>
                      <a:round/>
                      <a:headEnd type="none" w="med" len="med"/>
                      <a:tailEnd type="none" w="med" len="med"/>
                    </a:lnB>
                    <a:solidFill>
                      <a:srgbClr val="F3E6D8"/>
                    </a:solidFill>
                  </a:tcPr>
                </a:tc>
                <a:tc>
                  <a:txBody>
                    <a:bodyPr/>
                    <a:lstStyle/>
                    <a:p>
                      <a:pPr indent="0" marL="0">
                        <a:lnSpc>
                          <a:spcPts val="1659"/>
                        </a:lnSpc>
                        <a:buNone/>
                      </a:pPr>
                      <a:r>
                        <a:rPr lang="en-US" sz="1185" dirty="0">
                          <a:solidFill>
                            <a:srgbClr val="A4520F"/>
                          </a:solidFill>
                          <a:latin typeface="IBM Plex Sans" pitchFamily="34" charset="0"/>
                          <a:ea typeface="IBM Plex Sans" pitchFamily="34" charset="-122"/>
                          <a:cs typeface="IBM Plex Sans" pitchFamily="34" charset="-120"/>
                        </a:rPr>
                        <a:t>L4</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C2B8AD"/>
                      </a:solidFill>
                      <a:prstDash val="solid"/>
                      <a:round/>
                      <a:headEnd type="none" w="med" len="med"/>
                      <a:tailEnd type="none" w="med" len="med"/>
                    </a:lnL>
                    <a:lnR w="12700" cap="flat" cmpd="sng" algn="ctr">
                      <a:solidFill>
                        <a:srgbClr val="C2B8AD"/>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2B8AD"/>
                      </a:solidFill>
                      <a:prstDash val="solid"/>
                      <a:round/>
                      <a:headEnd type="none" w="med" len="med"/>
                      <a:tailEnd type="none" w="med" len="med"/>
                    </a:lnB>
                    <a:solidFill>
                      <a:srgbClr val="F3E6D8"/>
                    </a:solidFill>
                  </a:tcPr>
                </a:tc>
                <a:tc>
                  <a:txBody>
                    <a:bodyPr/>
                    <a:lstStyle/>
                    <a:p>
                      <a:pPr indent="0" marL="0">
                        <a:lnSpc>
                          <a:spcPts val="1659"/>
                        </a:lnSpc>
                        <a:buNone/>
                      </a:pPr>
                      <a:r>
                        <a:rPr lang="en-US" sz="1185" dirty="0">
                          <a:solidFill>
                            <a:srgbClr val="14202E"/>
                          </a:solidFill>
                          <a:latin typeface="IBM Plex Sans" pitchFamily="34" charset="0"/>
                          <a:ea typeface="IBM Plex Sans" pitchFamily="34" charset="-122"/>
                          <a:cs typeface="IBM Plex Sans" pitchFamily="34" charset="-120"/>
                        </a:rPr>
                        <a:t>ACM segregation strategy · ACM policy reconcile &amp; standardization</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C2B8AD"/>
                      </a:solidFill>
                      <a:prstDash val="solid"/>
                      <a:round/>
                      <a:headEnd type="none" w="med" len="med"/>
                      <a:tailEnd type="none" w="med" len="med"/>
                    </a:lnL>
                    <a:lnR w="12700" cap="flat" cmpd="sng" algn="ctr">
                      <a:solidFill>
                        <a:srgbClr val="C2B8AD"/>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2B8AD"/>
                      </a:solidFill>
                      <a:prstDash val="solid"/>
                      <a:round/>
                      <a:headEnd type="none" w="med" len="med"/>
                      <a:tailEnd type="none" w="med" len="med"/>
                    </a:lnB>
                    <a:solidFill>
                      <a:srgbClr val="F3E6D8"/>
                    </a:solidFill>
                  </a:tcPr>
                </a:tc>
                <a:tc>
                  <a:txBody>
                    <a:bodyPr/>
                    <a:lstStyle/>
                    <a:p>
                      <a:pPr indent="0" marL="0">
                        <a:lnSpc>
                          <a:spcPts val="1659"/>
                        </a:lnSpc>
                        <a:buNone/>
                      </a:pPr>
                      <a:r>
                        <a:rPr lang="en-US" sz="1185" dirty="0">
                          <a:solidFill>
                            <a:srgbClr val="14202E"/>
                          </a:solidFill>
                          <a:latin typeface="IBM Plex Sans" pitchFamily="34" charset="0"/>
                          <a:ea typeface="IBM Plex Sans" pitchFamily="34" charset="-122"/>
                          <a:cs typeface="IBM Plex Sans" pitchFamily="34" charset="-120"/>
                        </a:rPr>
                        <a:t>Systemic, long-term thinking with divisional impact</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C2B8AD"/>
                      </a:solidFill>
                      <a:prstDash val="solid"/>
                      <a:round/>
                      <a:headEnd type="none" w="med" len="med"/>
                      <a:tailEnd type="none" w="med" len="med"/>
                    </a:lnL>
                    <a:lnR w="12700" cap="flat" cmpd="sng" algn="ctr">
                      <a:solidFill>
                        <a:srgbClr val="C2B8AD"/>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2B8AD"/>
                      </a:solidFill>
                      <a:prstDash val="solid"/>
                      <a:round/>
                      <a:headEnd type="none" w="med" len="med"/>
                      <a:tailEnd type="none" w="med" len="med"/>
                    </a:lnB>
                    <a:solidFill>
                      <a:srgbClr val="F3E6D8"/>
                    </a:solidFill>
                  </a:tcPr>
                </a:tc>
              </a:tr>
              <a:tr h="540345">
                <a:tc>
                  <a:txBody>
                    <a:bodyPr/>
                    <a:lstStyle/>
                    <a:p>
                      <a:pPr indent="0" marL="0">
                        <a:lnSpc>
                          <a:spcPts val="1659"/>
                        </a:lnSpc>
                        <a:buNone/>
                      </a:pPr>
                      <a:r>
                        <a:rPr lang="en-US" sz="1185" dirty="0">
                          <a:solidFill>
                            <a:srgbClr val="14202E"/>
                          </a:solidFill>
                          <a:latin typeface="IBM Plex Sans" pitchFamily="34" charset="0"/>
                          <a:ea typeface="IBM Plex Sans" pitchFamily="34" charset="-122"/>
                          <a:cs typeface="IBM Plex Sans" pitchFamily="34" charset="-120"/>
                        </a:rPr>
                        <a:t>DESIGNS</a:t>
                      </a:r>
                      <a:endParaRPr lang="en-US" sz="1185" dirty="0">
                        <a:latin typeface="IBM Plex Sans" charset="0"/>
                        <a:ea typeface="IBM Plex Sans" charset="0"/>
                        <a:cs typeface="IBM Plex Sans" charset="0"/>
                      </a:endParaRPr>
                    </a:p>
                  </a:txBody>
                  <a:tcPr marL="52673" marR="52673" marT="52673" marB="52673"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C2B8AD"/>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59"/>
                        </a:lnSpc>
                        <a:buNone/>
                      </a:pPr>
                      <a:r>
                        <a:rPr lang="en-US" sz="1185" dirty="0">
                          <a:solidFill>
                            <a:srgbClr val="1F5FAF"/>
                          </a:solidFill>
                          <a:latin typeface="IBM Plex Sans" pitchFamily="34" charset="0"/>
                          <a:ea typeface="IBM Plex Sans" pitchFamily="34" charset="-122"/>
                          <a:cs typeface="IBM Plex Sans" pitchFamily="34" charset="-120"/>
                        </a:rPr>
                        <a:t>L3</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B8AD"/>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59"/>
                        </a:lnSpc>
                        <a:buNone/>
                      </a:pPr>
                      <a:r>
                        <a:rPr lang="en-US" sz="1185" dirty="0">
                          <a:solidFill>
                            <a:srgbClr val="14202E"/>
                          </a:solidFill>
                          <a:latin typeface="IBM Plex Sans" pitchFamily="34" charset="0"/>
                          <a:ea typeface="IBM Plex Sans" pitchFamily="34" charset="-122"/>
                          <a:cs typeface="IBM Plex Sans" pitchFamily="34" charset="-120"/>
                        </a:rPr>
                        <a:t>ACM hub architecture · multi-repo Landing Zone · ADR governance · hackathon design</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B8AD"/>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59"/>
                        </a:lnSpc>
                        <a:buNone/>
                      </a:pPr>
                      <a:r>
                        <a:rPr lang="en-US" sz="1185" dirty="0">
                          <a:solidFill>
                            <a:srgbClr val="14202E"/>
                          </a:solidFill>
                          <a:latin typeface="IBM Plex Sans" pitchFamily="34" charset="0"/>
                          <a:ea typeface="IBM Plex Sans" pitchFamily="34" charset="-122"/>
                          <a:cs typeface="IBM Plex Sans" pitchFamily="34" charset="-120"/>
                        </a:rPr>
                        <a:t>Autonomous complex design; design standards across teams</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B8AD"/>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r h="540345">
                <a:tc>
                  <a:txBody>
                    <a:bodyPr/>
                    <a:lstStyle/>
                    <a:p>
                      <a:pPr indent="0" marL="0">
                        <a:lnSpc>
                          <a:spcPts val="1659"/>
                        </a:lnSpc>
                        <a:buNone/>
                      </a:pPr>
                      <a:r>
                        <a:rPr lang="en-US" sz="1185" dirty="0">
                          <a:solidFill>
                            <a:srgbClr val="14202E"/>
                          </a:solidFill>
                          <a:latin typeface="IBM Plex Sans" pitchFamily="34" charset="0"/>
                          <a:ea typeface="IBM Plex Sans" pitchFamily="34" charset="-122"/>
                          <a:cs typeface="IBM Plex Sans" pitchFamily="34" charset="-120"/>
                        </a:rPr>
                        <a:t>CONTROLS</a:t>
                      </a:r>
                      <a:endParaRPr lang="en-US" sz="1185" dirty="0">
                        <a:latin typeface="IBM Plex Sans" charset="0"/>
                        <a:ea typeface="IBM Plex Sans" charset="0"/>
                        <a:cs typeface="IBM Plex Sans" charset="0"/>
                      </a:endParaRPr>
                    </a:p>
                  </a:txBody>
                  <a:tcPr marL="52673" marR="52673" marT="52673" marB="52673"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59"/>
                        </a:lnSpc>
                        <a:buNone/>
                      </a:pPr>
                      <a:r>
                        <a:rPr lang="en-US" sz="1185" dirty="0">
                          <a:solidFill>
                            <a:srgbClr val="1F5FAF"/>
                          </a:solidFill>
                          <a:latin typeface="IBM Plex Sans" pitchFamily="34" charset="0"/>
                          <a:ea typeface="IBM Plex Sans" pitchFamily="34" charset="-122"/>
                          <a:cs typeface="IBM Plex Sans" pitchFamily="34" charset="-120"/>
                        </a:rPr>
                        <a:t>L3</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59"/>
                        </a:lnSpc>
                        <a:buNone/>
                      </a:pPr>
                      <a:r>
                        <a:rPr lang="en-US" sz="1185" dirty="0">
                          <a:solidFill>
                            <a:srgbClr val="14202E"/>
                          </a:solidFill>
                          <a:latin typeface="IBM Plex Sans" pitchFamily="34" charset="0"/>
                          <a:ea typeface="IBM Plex Sans" pitchFamily="34" charset="-122"/>
                          <a:cs typeface="IBM Plex Sans" pitchFamily="34" charset="-120"/>
                        </a:rPr>
                        <a:t>CyberArk privileged access · credential monitoring remediation · Tanium PoC</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59"/>
                        </a:lnSpc>
                        <a:buNone/>
                      </a:pPr>
                      <a:r>
                        <a:rPr lang="en-US" sz="1185" dirty="0">
                          <a:solidFill>
                            <a:srgbClr val="14202E"/>
                          </a:solidFill>
                          <a:latin typeface="IBM Plex Sans" pitchFamily="34" charset="0"/>
                          <a:ea typeface="IBM Plex Sans" pitchFamily="34" charset="-122"/>
                          <a:cs typeface="IBM Plex Sans" pitchFamily="34" charset="-120"/>
                        </a:rPr>
                        <a:t>Controls embedded in the platform</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r h="540411">
                <a:tc>
                  <a:txBody>
                    <a:bodyPr/>
                    <a:lstStyle/>
                    <a:p>
                      <a:pPr indent="0" marL="0">
                        <a:lnSpc>
                          <a:spcPts val="1659"/>
                        </a:lnSpc>
                        <a:buNone/>
                      </a:pPr>
                      <a:r>
                        <a:rPr lang="en-US" sz="1185" dirty="0">
                          <a:solidFill>
                            <a:srgbClr val="14202E"/>
                          </a:solidFill>
                          <a:latin typeface="IBM Plex Sans" pitchFamily="34" charset="0"/>
                          <a:ea typeface="IBM Plex Sans" pitchFamily="34" charset="-122"/>
                          <a:cs typeface="IBM Plex Sans" pitchFamily="34" charset="-120"/>
                        </a:rPr>
                        <a:t>DELIVERS</a:t>
                      </a:r>
                      <a:endParaRPr lang="en-US" sz="1185" dirty="0">
                        <a:latin typeface="IBM Plex Sans" charset="0"/>
                        <a:ea typeface="IBM Plex Sans" charset="0"/>
                        <a:cs typeface="IBM Plex Sans" charset="0"/>
                      </a:endParaRPr>
                    </a:p>
                  </a:txBody>
                  <a:tcPr marL="52673" marR="52673" marT="52673" marB="52673" anchor="t">
                    <a:lnL w="0" cap="flat" cmpd="sng" algn="ctr">
                      <a:noFill/>
                    </a:lnL>
                    <a:lnR w="12700" cap="flat" cmpd="sng" algn="ctr">
                      <a:solidFill>
                        <a:srgbClr val="C2B8AD"/>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B8AD"/>
                      </a:solidFill>
                      <a:prstDash val="solid"/>
                      <a:round/>
                      <a:headEnd type="none" w="med" len="med"/>
                      <a:tailEnd type="none" w="med" len="med"/>
                    </a:lnB>
                    <a:solidFill>
                      <a:srgbClr val="F3E6D8"/>
                    </a:solidFill>
                  </a:tcPr>
                </a:tc>
                <a:tc>
                  <a:txBody>
                    <a:bodyPr/>
                    <a:lstStyle/>
                    <a:p>
                      <a:pPr indent="0" marL="0">
                        <a:lnSpc>
                          <a:spcPts val="1659"/>
                        </a:lnSpc>
                        <a:buNone/>
                      </a:pPr>
                      <a:r>
                        <a:rPr lang="en-US" sz="1185" dirty="0">
                          <a:solidFill>
                            <a:srgbClr val="A4520F"/>
                          </a:solidFill>
                          <a:latin typeface="IBM Plex Sans" pitchFamily="34" charset="0"/>
                          <a:ea typeface="IBM Plex Sans" pitchFamily="34" charset="-122"/>
                          <a:cs typeface="IBM Plex Sans" pitchFamily="34" charset="-120"/>
                        </a:rPr>
                        <a:t>L4</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C2B8AD"/>
                      </a:solidFill>
                      <a:prstDash val="solid"/>
                      <a:round/>
                      <a:headEnd type="none" w="med" len="med"/>
                      <a:tailEnd type="none" w="med" len="med"/>
                    </a:lnL>
                    <a:lnR w="12700" cap="flat" cmpd="sng" algn="ctr">
                      <a:solidFill>
                        <a:srgbClr val="C2B8AD"/>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B8AD"/>
                      </a:solidFill>
                      <a:prstDash val="solid"/>
                      <a:round/>
                      <a:headEnd type="none" w="med" len="med"/>
                      <a:tailEnd type="none" w="med" len="med"/>
                    </a:lnB>
                    <a:solidFill>
                      <a:srgbClr val="F3E6D8"/>
                    </a:solidFill>
                  </a:tcPr>
                </a:tc>
                <a:tc>
                  <a:txBody>
                    <a:bodyPr/>
                    <a:lstStyle/>
                    <a:p>
                      <a:pPr indent="0" marL="0">
                        <a:lnSpc>
                          <a:spcPts val="1659"/>
                        </a:lnSpc>
                        <a:buNone/>
                      </a:pPr>
                      <a:r>
                        <a:rPr lang="en-US" sz="1185" dirty="0">
                          <a:solidFill>
                            <a:srgbClr val="14202E"/>
                          </a:solidFill>
                          <a:latin typeface="IBM Plex Sans" pitchFamily="34" charset="0"/>
                          <a:ea typeface="IBM Plex Sans" pitchFamily="34" charset="-122"/>
                          <a:cs typeface="IBM Plex Sans" pitchFamily="34" charset="-120"/>
                        </a:rPr>
                        <a:t>Bafir root cause · India Payments · NPA4 migration</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C2B8AD"/>
                      </a:solidFill>
                      <a:prstDash val="solid"/>
                      <a:round/>
                      <a:headEnd type="none" w="med" len="med"/>
                      <a:tailEnd type="none" w="med" len="med"/>
                    </a:lnL>
                    <a:lnR w="12700" cap="flat" cmpd="sng" algn="ctr">
                      <a:solidFill>
                        <a:srgbClr val="C2B8AD"/>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B8AD"/>
                      </a:solidFill>
                      <a:prstDash val="solid"/>
                      <a:round/>
                      <a:headEnd type="none" w="med" len="med"/>
                      <a:tailEnd type="none" w="med" len="med"/>
                    </a:lnB>
                    <a:solidFill>
                      <a:srgbClr val="F3E6D8"/>
                    </a:solidFill>
                  </a:tcPr>
                </a:tc>
                <a:tc>
                  <a:txBody>
                    <a:bodyPr/>
                    <a:lstStyle/>
                    <a:p>
                      <a:pPr indent="0" marL="0">
                        <a:lnSpc>
                          <a:spcPts val="1659"/>
                        </a:lnSpc>
                        <a:buNone/>
                      </a:pPr>
                      <a:r>
                        <a:rPr lang="en-US" sz="1185" dirty="0">
                          <a:solidFill>
                            <a:srgbClr val="14202E"/>
                          </a:solidFill>
                          <a:latin typeface="IBM Plex Sans" pitchFamily="34" charset="0"/>
                          <a:ea typeface="IBM Plex Sans" pitchFamily="34" charset="-122"/>
                          <a:cs typeface="IBM Plex Sans" pitchFamily="34" charset="-120"/>
                        </a:rPr>
                        <a:t>Hands-on technical expertise on critical delivery</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C2B8AD"/>
                      </a:solidFill>
                      <a:prstDash val="solid"/>
                      <a:round/>
                      <a:headEnd type="none" w="med" len="med"/>
                      <a:tailEnd type="none" w="med" len="med"/>
                    </a:lnL>
                    <a:lnR w="12700" cap="flat" cmpd="sng" algn="ctr">
                      <a:solidFill>
                        <a:srgbClr val="C2B8AD"/>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B8AD"/>
                      </a:solidFill>
                      <a:prstDash val="solid"/>
                      <a:round/>
                      <a:headEnd type="none" w="med" len="med"/>
                      <a:tailEnd type="none" w="med" len="med"/>
                    </a:lnB>
                    <a:solidFill>
                      <a:srgbClr val="F3E6D8"/>
                    </a:solidFill>
                  </a:tcPr>
                </a:tc>
              </a:tr>
              <a:tr h="540411">
                <a:tc>
                  <a:txBody>
                    <a:bodyPr/>
                    <a:lstStyle/>
                    <a:p>
                      <a:pPr indent="0" marL="0">
                        <a:lnSpc>
                          <a:spcPts val="1659"/>
                        </a:lnSpc>
                        <a:buNone/>
                      </a:pPr>
                      <a:r>
                        <a:rPr lang="en-US" sz="1185" dirty="0">
                          <a:solidFill>
                            <a:srgbClr val="14202E"/>
                          </a:solidFill>
                          <a:latin typeface="IBM Plex Sans" pitchFamily="34" charset="0"/>
                          <a:ea typeface="IBM Plex Sans" pitchFamily="34" charset="-122"/>
                          <a:cs typeface="IBM Plex Sans" pitchFamily="34" charset="-120"/>
                        </a:rPr>
                        <a:t>OPERATES</a:t>
                      </a:r>
                      <a:endParaRPr lang="en-US" sz="1185" dirty="0">
                        <a:latin typeface="IBM Plex Sans" charset="0"/>
                        <a:ea typeface="IBM Plex Sans" charset="0"/>
                        <a:cs typeface="IBM Plex Sans" charset="0"/>
                      </a:endParaRPr>
                    </a:p>
                  </a:txBody>
                  <a:tcPr marL="52673" marR="52673" marT="52673" marB="52673"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C2B8AD"/>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59"/>
                        </a:lnSpc>
                        <a:buNone/>
                      </a:pPr>
                      <a:r>
                        <a:rPr lang="en-US" sz="1185" dirty="0">
                          <a:solidFill>
                            <a:srgbClr val="1F5FAF"/>
                          </a:solidFill>
                          <a:latin typeface="IBM Plex Sans" pitchFamily="34" charset="0"/>
                          <a:ea typeface="IBM Plex Sans" pitchFamily="34" charset="-122"/>
                          <a:cs typeface="IBM Plex Sans" pitchFamily="34" charset="-120"/>
                        </a:rPr>
                        <a:t>L3</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B8AD"/>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59"/>
                        </a:lnSpc>
                        <a:buNone/>
                      </a:pPr>
                      <a:r>
                        <a:rPr lang="en-US" sz="1185" dirty="0">
                          <a:solidFill>
                            <a:srgbClr val="14202E"/>
                          </a:solidFill>
                          <a:latin typeface="IBM Plex Sans" pitchFamily="34" charset="0"/>
                          <a:ea typeface="IBM Plex Sans" pitchFamily="34" charset="-122"/>
                          <a:cs typeface="IBM Plex Sans" pitchFamily="34" charset="-120"/>
                        </a:rPr>
                        <a:t>Three P1 / recovery events · handover framework · regression automation</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B8AD"/>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59"/>
                        </a:lnSpc>
                        <a:buNone/>
                      </a:pPr>
                      <a:r>
                        <a:rPr lang="en-US" sz="1185" dirty="0">
                          <a:solidFill>
                            <a:srgbClr val="14202E"/>
                          </a:solidFill>
                          <a:latin typeface="IBM Plex Sans" pitchFamily="34" charset="0"/>
                          <a:ea typeface="IBM Plex Sans" pitchFamily="34" charset="-122"/>
                          <a:cs typeface="IBM Plex Sans" pitchFamily="34" charset="-120"/>
                        </a:rPr>
                        <a:t>Reliability, learning loops, reduced toil</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B8AD"/>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r h="329737">
                <a:tc>
                  <a:txBody>
                    <a:bodyPr/>
                    <a:lstStyle/>
                    <a:p>
                      <a:pPr indent="0" marL="0">
                        <a:lnSpc>
                          <a:spcPts val="1659"/>
                        </a:lnSpc>
                        <a:buNone/>
                      </a:pPr>
                      <a:r>
                        <a:rPr lang="en-US" sz="1185" dirty="0">
                          <a:solidFill>
                            <a:srgbClr val="14202E"/>
                          </a:solidFill>
                          <a:latin typeface="IBM Plex Sans" pitchFamily="34" charset="0"/>
                          <a:ea typeface="IBM Plex Sans" pitchFamily="34" charset="-122"/>
                          <a:cs typeface="IBM Plex Sans" pitchFamily="34" charset="-120"/>
                        </a:rPr>
                        <a:t>ACHIEVES</a:t>
                      </a:r>
                      <a:endParaRPr lang="en-US" sz="1185" dirty="0">
                        <a:latin typeface="IBM Plex Sans" charset="0"/>
                        <a:ea typeface="IBM Plex Sans" charset="0"/>
                        <a:cs typeface="IBM Plex Sans" charset="0"/>
                      </a:endParaRPr>
                    </a:p>
                  </a:txBody>
                  <a:tcPr marL="52673" marR="52673" marT="52673" marB="52673"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59"/>
                        </a:lnSpc>
                        <a:buNone/>
                      </a:pPr>
                      <a:r>
                        <a:rPr lang="en-US" sz="1185" dirty="0">
                          <a:solidFill>
                            <a:srgbClr val="1F5FAF"/>
                          </a:solidFill>
                          <a:latin typeface="IBM Plex Sans" pitchFamily="34" charset="0"/>
                          <a:ea typeface="IBM Plex Sans" pitchFamily="34" charset="-122"/>
                          <a:cs typeface="IBM Plex Sans" pitchFamily="34" charset="-120"/>
                        </a:rPr>
                        <a:t>L3</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59"/>
                        </a:lnSpc>
                        <a:buNone/>
                      </a:pPr>
                      <a:r>
                        <a:rPr lang="en-US" sz="1185" dirty="0">
                          <a:solidFill>
                            <a:srgbClr val="14202E"/>
                          </a:solidFill>
                          <a:latin typeface="IBM Plex Sans" pitchFamily="34" charset="0"/>
                          <a:ea typeface="IBM Plex Sans" pitchFamily="34" charset="-122"/>
                          <a:cs typeface="IBM Plex Sans" pitchFamily="34" charset="-120"/>
                        </a:rPr>
                        <a:t>OCP4 upgrade · Vertex AI enablement · central ACM Hub monitoring</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59"/>
                        </a:lnSpc>
                        <a:buNone/>
                      </a:pPr>
                      <a:r>
                        <a:rPr lang="en-US" sz="1185" dirty="0">
                          <a:solidFill>
                            <a:srgbClr val="14202E"/>
                          </a:solidFill>
                          <a:latin typeface="IBM Plex Sans" pitchFamily="34" charset="0"/>
                          <a:ea typeface="IBM Plex Sans" pitchFamily="34" charset="-122"/>
                          <a:cs typeface="IBM Plex Sans" pitchFamily="34" charset="-120"/>
                        </a:rPr>
                        <a:t>Business capability unlocked</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r h="540411">
                <a:tc>
                  <a:txBody>
                    <a:bodyPr/>
                    <a:lstStyle/>
                    <a:p>
                      <a:pPr indent="0" marL="0">
                        <a:lnSpc>
                          <a:spcPts val="1659"/>
                        </a:lnSpc>
                        <a:buNone/>
                      </a:pPr>
                      <a:r>
                        <a:rPr lang="en-US" sz="1185" dirty="0">
                          <a:solidFill>
                            <a:srgbClr val="14202E"/>
                          </a:solidFill>
                          <a:latin typeface="IBM Plex Sans" pitchFamily="34" charset="0"/>
                          <a:ea typeface="IBM Plex Sans" pitchFamily="34" charset="-122"/>
                          <a:cs typeface="IBM Plex Sans" pitchFamily="34" charset="-120"/>
                        </a:rPr>
                        <a:t>ENGAGES</a:t>
                      </a:r>
                      <a:endParaRPr lang="en-US" sz="1185" dirty="0">
                        <a:latin typeface="IBM Plex Sans" charset="0"/>
                        <a:ea typeface="IBM Plex Sans" charset="0"/>
                        <a:cs typeface="IBM Plex Sans" charset="0"/>
                      </a:endParaRPr>
                    </a:p>
                  </a:txBody>
                  <a:tcPr marL="52673" marR="52673" marT="52673" marB="52673"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59"/>
                        </a:lnSpc>
                        <a:buNone/>
                      </a:pPr>
                      <a:r>
                        <a:rPr lang="en-US" sz="1185" dirty="0">
                          <a:solidFill>
                            <a:srgbClr val="1F5FAF"/>
                          </a:solidFill>
                          <a:latin typeface="IBM Plex Sans" pitchFamily="34" charset="0"/>
                          <a:ea typeface="IBM Plex Sans" pitchFamily="34" charset="-122"/>
                          <a:cs typeface="IBM Plex Sans" pitchFamily="34" charset="-120"/>
                        </a:rPr>
                        <a:t>L3</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59"/>
                        </a:lnSpc>
                        <a:buNone/>
                      </a:pPr>
                      <a:r>
                        <a:rPr lang="en-US" sz="1185" dirty="0">
                          <a:solidFill>
                            <a:srgbClr val="14202E"/>
                          </a:solidFill>
                          <a:latin typeface="IBM Plex Sans" pitchFamily="34" charset="0"/>
                          <a:ea typeface="IBM Plex Sans" pitchFamily="34" charset="-122"/>
                          <a:cs typeface="IBM Plex Sans" pitchFamily="34" charset="-120"/>
                        </a:rPr>
                        <a:t>Team leadership · demand ownership · AI, graduate and Ops enablement</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59"/>
                        </a:lnSpc>
                        <a:buNone/>
                      </a:pPr>
                      <a:r>
                        <a:rPr lang="en-US" sz="1185" dirty="0">
                          <a:solidFill>
                            <a:srgbClr val="14202E"/>
                          </a:solidFill>
                          <a:latin typeface="IBM Plex Sans" pitchFamily="34" charset="0"/>
                          <a:ea typeface="IBM Plex Sans" pitchFamily="34" charset="-122"/>
                          <a:cs typeface="IBM Plex Sans" pitchFamily="34" charset="-120"/>
                        </a:rPr>
                        <a:t>Capability building across boundaries</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r h="540411">
                <a:tc>
                  <a:txBody>
                    <a:bodyPr/>
                    <a:lstStyle/>
                    <a:p>
                      <a:pPr indent="0" marL="0">
                        <a:lnSpc>
                          <a:spcPts val="1659"/>
                        </a:lnSpc>
                        <a:buNone/>
                      </a:pPr>
                      <a:r>
                        <a:rPr lang="en-US" sz="1185" dirty="0">
                          <a:solidFill>
                            <a:srgbClr val="14202E"/>
                          </a:solidFill>
                          <a:latin typeface="IBM Plex Sans" pitchFamily="34" charset="0"/>
                          <a:ea typeface="IBM Plex Sans" pitchFamily="34" charset="-122"/>
                          <a:cs typeface="IBM Plex Sans" pitchFamily="34" charset="-120"/>
                        </a:rPr>
                        <a:t>INFLUENCES</a:t>
                      </a:r>
                      <a:endParaRPr lang="en-US" sz="1185" dirty="0">
                        <a:latin typeface="IBM Plex Sans" charset="0"/>
                        <a:ea typeface="IBM Plex Sans" charset="0"/>
                        <a:cs typeface="IBM Plex Sans" charset="0"/>
                      </a:endParaRPr>
                    </a:p>
                  </a:txBody>
                  <a:tcPr marL="52673" marR="52673" marT="52673" marB="52673"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59"/>
                        </a:lnSpc>
                        <a:buNone/>
                      </a:pPr>
                      <a:r>
                        <a:rPr lang="en-US" sz="1185" dirty="0">
                          <a:solidFill>
                            <a:srgbClr val="1F5FAF"/>
                          </a:solidFill>
                          <a:latin typeface="IBM Plex Sans" pitchFamily="34" charset="0"/>
                          <a:ea typeface="IBM Plex Sans" pitchFamily="34" charset="-122"/>
                          <a:cs typeface="IBM Plex Sans" pitchFamily="34" charset="-120"/>
                        </a:rPr>
                        <a:t>L3</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59"/>
                        </a:lnSpc>
                        <a:buNone/>
                      </a:pPr>
                      <a:r>
                        <a:rPr lang="en-US" sz="1185" dirty="0">
                          <a:solidFill>
                            <a:srgbClr val="14202E"/>
                          </a:solidFill>
                          <a:latin typeface="IBM Plex Sans" pitchFamily="34" charset="0"/>
                          <a:ea typeface="IBM Plex Sans" pitchFamily="34" charset="-122"/>
                          <a:cs typeface="IBM Plex Sans" pitchFamily="34" charset="-120"/>
                        </a:rPr>
                        <a:t>Leadership forum representation · external AI enablement</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659"/>
                        </a:lnSpc>
                        <a:buNone/>
                      </a:pPr>
                      <a:r>
                        <a:rPr lang="en-US" sz="1185" dirty="0">
                          <a:solidFill>
                            <a:srgbClr val="14202E"/>
                          </a:solidFill>
                          <a:latin typeface="IBM Plex Sans" pitchFamily="34" charset="0"/>
                          <a:ea typeface="IBM Plex Sans" pitchFamily="34" charset="-122"/>
                          <a:cs typeface="IBM Plex Sans" pitchFamily="34" charset="-120"/>
                        </a:rPr>
                        <a:t>Commitment from senior and peer stakeholders</a:t>
                      </a:r>
                      <a:endParaRPr lang="en-US" sz="1185" dirty="0">
                        <a:latin typeface="IBM Plex Sans" charset="0"/>
                        <a:ea typeface="IBM Plex Sans" charset="0"/>
                        <a:cs typeface="IBM Plex Sans" charset="0"/>
                      </a:endParaRPr>
                    </a:p>
                  </a:txBody>
                  <a:tcPr marL="52673" marR="52673" marT="52673" marB="52673"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bl>
          </a:graphicData>
        </a:graphic>
      </p:graphicFrame>
      <p:sp>
        <p:nvSpPr>
          <p:cNvPr id="9" name="Text 6"/>
          <p:cNvSpPr/>
          <p:nvPr/>
        </p:nvSpPr>
        <p:spPr>
          <a:xfrm>
            <a:off x="711200" y="6339880"/>
            <a:ext cx="63492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Summary · ~2 min · No achievement appears under more than one parameter</a:t>
            </a:r>
            <a:endParaRPr lang="en-US" sz="1200" dirty="0"/>
          </a:p>
        </p:txBody>
      </p:sp>
      <p:sp>
        <p:nvSpPr>
          <p:cNvPr id="10" name="Text 7"/>
          <p:cNvSpPr/>
          <p:nvPr/>
        </p:nvSpPr>
        <p:spPr>
          <a:xfrm>
            <a:off x="10885488" y="63398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12 / 14</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02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35E"/>
                </a:solidFill>
                <a:latin typeface="IBM Plex Sans" pitchFamily="34" charset="0"/>
                <a:ea typeface="IBM Plex Sans" pitchFamily="34" charset="-122"/>
                <a:cs typeface="IBM Plex Sans" pitchFamily="34" charset="-120"/>
              </a:rPr>
              <a:t>WHY I AM READY FOR VP</a:t>
            </a:r>
            <a:endParaRPr lang="en-US" sz="1200" dirty="0"/>
          </a:p>
        </p:txBody>
      </p:sp>
      <p:sp>
        <p:nvSpPr>
          <p:cNvPr id="3" name="Shape 1"/>
          <p:cNvSpPr/>
          <p:nvPr/>
        </p:nvSpPr>
        <p:spPr>
          <a:xfrm>
            <a:off x="812800" y="1188045"/>
            <a:ext cx="3318933" cy="0"/>
          </a:xfrm>
          <a:prstGeom prst="line">
            <a:avLst/>
          </a:prstGeom>
          <a:noFill/>
          <a:ln w="19050">
            <a:solidFill>
              <a:srgbClr val="F0A35E"/>
            </a:solidFill>
            <a:prstDash val="solid"/>
          </a:ln>
        </p:spPr>
      </p:sp>
      <p:sp>
        <p:nvSpPr>
          <p:cNvPr id="4" name="Text 2"/>
          <p:cNvSpPr/>
          <p:nvPr/>
        </p:nvSpPr>
        <p:spPr>
          <a:xfrm>
            <a:off x="812800" y="1322456"/>
            <a:ext cx="34185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0CC"/>
                </a:solidFill>
                <a:latin typeface="IBM Plex Sans" pitchFamily="34" charset="0"/>
                <a:ea typeface="IBM Plex Sans" pitchFamily="34" charset="-122"/>
                <a:cs typeface="IBM Plex Sans" pitchFamily="34" charset="-120"/>
              </a:rPr>
              <a:t>01</a:t>
            </a:r>
            <a:endParaRPr lang="en-US" sz="1200" dirty="0"/>
          </a:p>
        </p:txBody>
      </p:sp>
      <p:sp>
        <p:nvSpPr>
          <p:cNvPr id="5" name="Text 3"/>
          <p:cNvSpPr/>
          <p:nvPr/>
        </p:nvSpPr>
        <p:spPr>
          <a:xfrm>
            <a:off x="812800" y="1611976"/>
            <a:ext cx="341850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4F2EC"/>
                </a:solidFill>
                <a:latin typeface="Source Serif 4" pitchFamily="18" charset="0"/>
                <a:ea typeface="Source Serif 4" pitchFamily="18" charset="-122"/>
                <a:cs typeface="Source Serif 4" pitchFamily="18" charset="-120"/>
              </a:rPr>
              <a:t>Level 4 thinking</a:t>
            </a:r>
            <a:endParaRPr lang="en-US" sz="1400" dirty="0"/>
          </a:p>
        </p:txBody>
      </p:sp>
      <p:sp>
        <p:nvSpPr>
          <p:cNvPr id="6" name="Text 4"/>
          <p:cNvSpPr/>
          <p:nvPr/>
        </p:nvSpPr>
        <p:spPr>
          <a:xfrm>
            <a:off x="812800" y="1901496"/>
            <a:ext cx="341850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2EC"/>
                </a:solidFill>
                <a:latin typeface="IBM Plex Sans" pitchFamily="34" charset="0"/>
                <a:ea typeface="IBM Plex Sans" pitchFamily="34" charset="-122"/>
                <a:cs typeface="IBM Plex Sans" pitchFamily="34" charset="-120"/>
              </a:rPr>
              <a:t>I identify systemic risks, challenge assumptions and create sustainable, platform-level solutions.</a:t>
            </a:r>
            <a:endParaRPr lang="en-US" sz="1200" dirty="0"/>
          </a:p>
        </p:txBody>
      </p:sp>
      <p:sp>
        <p:nvSpPr>
          <p:cNvPr id="7" name="Shape 5"/>
          <p:cNvSpPr/>
          <p:nvPr/>
        </p:nvSpPr>
        <p:spPr>
          <a:xfrm>
            <a:off x="4436533" y="1188045"/>
            <a:ext cx="3318933" cy="0"/>
          </a:xfrm>
          <a:prstGeom prst="line">
            <a:avLst/>
          </a:prstGeom>
          <a:noFill/>
          <a:ln w="19050">
            <a:solidFill>
              <a:srgbClr val="F0A35E"/>
            </a:solidFill>
            <a:prstDash val="solid"/>
          </a:ln>
        </p:spPr>
      </p:sp>
      <p:sp>
        <p:nvSpPr>
          <p:cNvPr id="8" name="Text 6"/>
          <p:cNvSpPr/>
          <p:nvPr/>
        </p:nvSpPr>
        <p:spPr>
          <a:xfrm>
            <a:off x="4436533" y="1322456"/>
            <a:ext cx="34185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0CC"/>
                </a:solidFill>
                <a:latin typeface="IBM Plex Sans" pitchFamily="34" charset="0"/>
                <a:ea typeface="IBM Plex Sans" pitchFamily="34" charset="-122"/>
                <a:cs typeface="IBM Plex Sans" pitchFamily="34" charset="-120"/>
              </a:rPr>
              <a:t>02</a:t>
            </a:r>
            <a:endParaRPr lang="en-US" sz="1200" dirty="0"/>
          </a:p>
        </p:txBody>
      </p:sp>
      <p:sp>
        <p:nvSpPr>
          <p:cNvPr id="9" name="Text 7"/>
          <p:cNvSpPr/>
          <p:nvPr/>
        </p:nvSpPr>
        <p:spPr>
          <a:xfrm>
            <a:off x="4436533" y="1611976"/>
            <a:ext cx="341850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4F2EC"/>
                </a:solidFill>
                <a:latin typeface="Source Serif 4" pitchFamily="18" charset="0"/>
                <a:ea typeface="Source Serif 4" pitchFamily="18" charset="-122"/>
                <a:cs typeface="Source Serif 4" pitchFamily="18" charset="-120"/>
              </a:rPr>
              <a:t>Level 4 delivery</a:t>
            </a:r>
            <a:endParaRPr lang="en-US" sz="1400" dirty="0"/>
          </a:p>
        </p:txBody>
      </p:sp>
      <p:sp>
        <p:nvSpPr>
          <p:cNvPr id="10" name="Text 8"/>
          <p:cNvSpPr/>
          <p:nvPr/>
        </p:nvSpPr>
        <p:spPr>
          <a:xfrm>
            <a:off x="4436533" y="1901496"/>
            <a:ext cx="3418501"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2EC"/>
                </a:solidFill>
                <a:latin typeface="IBM Plex Sans" pitchFamily="34" charset="0"/>
                <a:ea typeface="IBM Plex Sans" pitchFamily="34" charset="-122"/>
                <a:cs typeface="IBM Plex Sans" pitchFamily="34" charset="-120"/>
              </a:rPr>
              <a:t>I apply deep technical expertise personally to remove difficult blockers and deliver high-impact outcomes.</a:t>
            </a:r>
            <a:endParaRPr lang="en-US" sz="1200" dirty="0"/>
          </a:p>
        </p:txBody>
      </p:sp>
      <p:sp>
        <p:nvSpPr>
          <p:cNvPr id="11" name="Shape 9"/>
          <p:cNvSpPr/>
          <p:nvPr/>
        </p:nvSpPr>
        <p:spPr>
          <a:xfrm>
            <a:off x="8060267" y="1188045"/>
            <a:ext cx="3318933" cy="0"/>
          </a:xfrm>
          <a:prstGeom prst="line">
            <a:avLst/>
          </a:prstGeom>
          <a:noFill/>
          <a:ln w="19050">
            <a:solidFill>
              <a:srgbClr val="9CC0F0"/>
            </a:solidFill>
            <a:prstDash val="solid"/>
          </a:ln>
        </p:spPr>
      </p:sp>
      <p:sp>
        <p:nvSpPr>
          <p:cNvPr id="12" name="Text 10"/>
          <p:cNvSpPr/>
          <p:nvPr/>
        </p:nvSpPr>
        <p:spPr>
          <a:xfrm>
            <a:off x="8060267" y="1322456"/>
            <a:ext cx="34185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0CC"/>
                </a:solidFill>
                <a:latin typeface="IBM Plex Sans" pitchFamily="34" charset="0"/>
                <a:ea typeface="IBM Plex Sans" pitchFamily="34" charset="-122"/>
                <a:cs typeface="IBM Plex Sans" pitchFamily="34" charset="-120"/>
              </a:rPr>
              <a:t>03</a:t>
            </a:r>
            <a:endParaRPr lang="en-US" sz="1200" dirty="0"/>
          </a:p>
        </p:txBody>
      </p:sp>
      <p:sp>
        <p:nvSpPr>
          <p:cNvPr id="13" name="Text 11"/>
          <p:cNvSpPr/>
          <p:nvPr/>
        </p:nvSpPr>
        <p:spPr>
          <a:xfrm>
            <a:off x="8060267" y="1611976"/>
            <a:ext cx="341850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4F2EC"/>
                </a:solidFill>
                <a:latin typeface="Source Serif 4" pitchFamily="18" charset="0"/>
                <a:ea typeface="Source Serif 4" pitchFamily="18" charset="-122"/>
                <a:cs typeface="Source Serif 4" pitchFamily="18" charset="-120"/>
              </a:rPr>
              <a:t>Level 3 breadth</a:t>
            </a:r>
            <a:endParaRPr lang="en-US" sz="1400" dirty="0"/>
          </a:p>
        </p:txBody>
      </p:sp>
      <p:sp>
        <p:nvSpPr>
          <p:cNvPr id="14" name="Text 12"/>
          <p:cNvSpPr/>
          <p:nvPr/>
        </p:nvSpPr>
        <p:spPr>
          <a:xfrm>
            <a:off x="8060267" y="1901496"/>
            <a:ext cx="3418501"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2EC"/>
                </a:solidFill>
                <a:latin typeface="IBM Plex Sans" pitchFamily="34" charset="0"/>
                <a:ea typeface="IBM Plex Sans" pitchFamily="34" charset="-122"/>
                <a:cs typeface="IBM Plex Sans" pitchFamily="34" charset="-120"/>
              </a:rPr>
              <a:t>I demonstrate strong design, controls, operations, business alignment, engagement and influence.</a:t>
            </a:r>
            <a:endParaRPr lang="en-US" sz="1200" dirty="0"/>
          </a:p>
        </p:txBody>
      </p:sp>
      <p:sp>
        <p:nvSpPr>
          <p:cNvPr id="15" name="Text 13"/>
          <p:cNvSpPr/>
          <p:nvPr/>
        </p:nvSpPr>
        <p:spPr>
          <a:xfrm>
            <a:off x="812800" y="3734532"/>
            <a:ext cx="10883392" cy="1397000"/>
          </a:xfrm>
          <a:prstGeom prst="rect">
            <a:avLst/>
          </a:prstGeom>
          <a:noFill/>
          <a:ln/>
        </p:spPr>
        <p:txBody>
          <a:bodyPr wrap="square" lIns="0" tIns="0" rIns="0" bIns="0" rtlCol="0" anchor="t">
            <a:normAutofit/>
          </a:bodyPr>
          <a:lstStyle/>
          <a:p>
            <a:pPr algn="l" indent="0" marL="0">
              <a:lnSpc>
                <a:spcPts val="2700"/>
              </a:lnSpc>
              <a:buNone/>
            </a:pPr>
            <a:r>
              <a:rPr lang="en-US" sz="2000" i="1" dirty="0">
                <a:solidFill>
                  <a:srgbClr val="F4F2EC"/>
                </a:solidFill>
                <a:latin typeface="Source Serif 4" pitchFamily="18" charset="0"/>
                <a:ea typeface="Source Serif 4" pitchFamily="18" charset="-122"/>
                <a:cs typeface="Source Serif 4" pitchFamily="18" charset="-120"/>
              </a:rPr>
              <a:t>“My case for VP is not based on the number of projects I have completed. It is based on the change in the scope and nature of my impact. I am increasingly shaping the solution, solving the difficult technical problems, enabling others and improving the engineering system around me.”</a:t>
            </a:r>
            <a:endParaRPr lang="en-US" sz="2000" dirty="0"/>
          </a:p>
        </p:txBody>
      </p:sp>
      <p:sp>
        <p:nvSpPr>
          <p:cNvPr id="16" name="Text 14"/>
          <p:cNvSpPr/>
          <p:nvPr/>
        </p:nvSpPr>
        <p:spPr>
          <a:xfrm>
            <a:off x="711200" y="6339880"/>
            <a:ext cx="50308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0CC"/>
                </a:solidFill>
                <a:latin typeface="IBM Plex Sans" pitchFamily="34" charset="0"/>
                <a:ea typeface="IBM Plex Sans" pitchFamily="34" charset="-122"/>
                <a:cs typeface="IBM Plex Sans" pitchFamily="34" charset="-120"/>
              </a:rPr>
              <a:t>Close · ~2 min · then 10–15 min for questions and deep dives</a:t>
            </a:r>
            <a:endParaRPr lang="en-US" sz="1200" dirty="0"/>
          </a:p>
        </p:txBody>
      </p:sp>
      <p:sp>
        <p:nvSpPr>
          <p:cNvPr id="17" name="Text 15"/>
          <p:cNvSpPr/>
          <p:nvPr/>
        </p:nvSpPr>
        <p:spPr>
          <a:xfrm>
            <a:off x="10885488" y="63398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7C0CC"/>
                </a:solidFill>
                <a:latin typeface="IBM Plex Sans" pitchFamily="34" charset="0"/>
                <a:ea typeface="IBM Plex Sans" pitchFamily="34" charset="-122"/>
                <a:cs typeface="IBM Plex Sans" pitchFamily="34" charset="-120"/>
              </a:rPr>
              <a:t>13 / 14</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711200" y="4064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A6472"/>
                </a:solidFill>
                <a:latin typeface="IBM Plex Sans" pitchFamily="34" charset="0"/>
                <a:ea typeface="IBM Plex Sans" pitchFamily="34" charset="-122"/>
                <a:cs typeface="IBM Plex Sans" pitchFamily="34" charset="-120"/>
              </a:rPr>
              <a:t>APPENDIX · FOR PANEL PROBING</a:t>
            </a:r>
            <a:endParaRPr lang="en-US" sz="1200" dirty="0"/>
          </a:p>
        </p:txBody>
      </p:sp>
      <p:sp>
        <p:nvSpPr>
          <p:cNvPr id="3" name="Text 1"/>
          <p:cNvSpPr/>
          <p:nvPr>
            <p:ph type="title"/>
          </p:nvPr>
        </p:nvSpPr>
        <p:spPr>
          <a:xfrm>
            <a:off x="711200" y="772120"/>
            <a:ext cx="11092688" cy="388607"/>
          </a:xfrm>
          <a:prstGeom prst="rect">
            <a:avLst/>
          </a:prstGeom>
          <a:noFill/>
          <a:ln/>
        </p:spPr>
        <p:txBody>
          <a:bodyPr wrap="square" lIns="0" tIns="0" rIns="0" bIns="0" rtlCol="0" anchor="t">
            <a:normAutofit/>
          </a:bodyPr>
          <a:lstStyle/>
          <a:p>
            <a:pPr algn="l" indent="0" marL="0">
              <a:lnSpc>
                <a:spcPts val="2860"/>
              </a:lnSpc>
              <a:buNone/>
            </a:pPr>
            <a:r>
              <a:rPr lang="en-US" sz="2600" b="0" i="0" dirty="0">
                <a:solidFill>
                  <a:srgbClr val="14202E"/>
                </a:solidFill>
                <a:latin typeface="Source Serif 4" pitchFamily="18" charset="0"/>
                <a:ea typeface="Source Serif 4" pitchFamily="18" charset="-122"/>
                <a:cs typeface="Source Serif 4" pitchFamily="18" charset="-120"/>
              </a:rPr>
              <a:t>Backup evidence and likely deep dives</a:t>
            </a:r>
            <a:endParaRPr lang="en-US" sz="2600" dirty="0"/>
          </a:p>
        </p:txBody>
      </p:sp>
      <p:sp>
        <p:nvSpPr>
          <p:cNvPr id="4" name="Text 2"/>
          <p:cNvSpPr/>
          <p:nvPr/>
        </p:nvSpPr>
        <p:spPr>
          <a:xfrm>
            <a:off x="711200" y="1287729"/>
            <a:ext cx="56734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6472"/>
                </a:solidFill>
                <a:latin typeface="IBM Plex Sans" pitchFamily="34" charset="0"/>
                <a:ea typeface="IBM Plex Sans" pitchFamily="34" charset="-122"/>
                <a:cs typeface="IBM Plex Sans" pitchFamily="34" charset="-120"/>
              </a:rPr>
              <a:t>LIKELY QUESTION → WHERE I GO</a:t>
            </a:r>
            <a:endParaRPr lang="en-US" sz="1200" dirty="0"/>
          </a:p>
        </p:txBody>
      </p:sp>
      <p:sp>
        <p:nvSpPr>
          <p:cNvPr id="5" name="Shape 3"/>
          <p:cNvSpPr/>
          <p:nvPr/>
        </p:nvSpPr>
        <p:spPr>
          <a:xfrm>
            <a:off x="711200" y="1504224"/>
            <a:ext cx="5508162" cy="0"/>
          </a:xfrm>
          <a:prstGeom prst="line">
            <a:avLst/>
          </a:prstGeom>
          <a:noFill/>
          <a:ln w="6350">
            <a:solidFill>
              <a:srgbClr val="D9D4C8"/>
            </a:solidFill>
            <a:prstDash val="solid"/>
          </a:ln>
        </p:spPr>
      </p:sp>
      <p:sp>
        <p:nvSpPr>
          <p:cNvPr id="6" name="Text 4"/>
          <p:cNvSpPr/>
          <p:nvPr/>
        </p:nvSpPr>
        <p:spPr>
          <a:xfrm>
            <a:off x="711200" y="1581485"/>
            <a:ext cx="2758183"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Another example of L4 thinking?</a:t>
            </a:r>
            <a:endParaRPr lang="en-US" sz="1200" dirty="0"/>
          </a:p>
        </p:txBody>
      </p:sp>
      <p:sp>
        <p:nvSpPr>
          <p:cNvPr id="7" name="Text 5"/>
          <p:cNvSpPr/>
          <p:nvPr/>
        </p:nvSpPr>
        <p:spPr>
          <a:xfrm>
            <a:off x="3541448" y="1581485"/>
            <a:ext cx="2758251"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5FAF"/>
                </a:solidFill>
                <a:latin typeface="IBM Plex Sans" pitchFamily="34" charset="0"/>
                <a:ea typeface="IBM Plex Sans" pitchFamily="34" charset="-122"/>
                <a:cs typeface="IBM Plex Sans" pitchFamily="34" charset="-120"/>
              </a:rPr>
              <a:t>1.3 Strategic MLA (backup, right)</a:t>
            </a:r>
            <a:endParaRPr lang="en-US" sz="1200" dirty="0"/>
          </a:p>
        </p:txBody>
      </p:sp>
      <p:sp>
        <p:nvSpPr>
          <p:cNvPr id="8" name="Shape 6"/>
          <p:cNvSpPr/>
          <p:nvPr/>
        </p:nvSpPr>
        <p:spPr>
          <a:xfrm>
            <a:off x="711200" y="1866571"/>
            <a:ext cx="5508162" cy="0"/>
          </a:xfrm>
          <a:prstGeom prst="line">
            <a:avLst/>
          </a:prstGeom>
          <a:noFill/>
          <a:ln w="6350">
            <a:solidFill>
              <a:srgbClr val="D9D4C8"/>
            </a:solidFill>
            <a:prstDash val="solid"/>
          </a:ln>
        </p:spPr>
      </p:sp>
      <p:sp>
        <p:nvSpPr>
          <p:cNvPr id="9" name="Text 7"/>
          <p:cNvSpPr/>
          <p:nvPr/>
        </p:nvSpPr>
        <p:spPr>
          <a:xfrm>
            <a:off x="711200" y="1943832"/>
            <a:ext cx="2830248"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Hardest technical problem you solved?</a:t>
            </a:r>
            <a:endParaRPr lang="en-US" sz="1200" dirty="0"/>
          </a:p>
        </p:txBody>
      </p:sp>
      <p:sp>
        <p:nvSpPr>
          <p:cNvPr id="10" name="Text 8"/>
          <p:cNvSpPr/>
          <p:nvPr/>
        </p:nvSpPr>
        <p:spPr>
          <a:xfrm>
            <a:off x="3541448" y="1943832"/>
            <a:ext cx="2758251"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5FAF"/>
                </a:solidFill>
                <a:latin typeface="IBM Plex Sans" pitchFamily="34" charset="0"/>
                <a:ea typeface="IBM Plex Sans" pitchFamily="34" charset="-122"/>
                <a:cs typeface="IBM Plex Sans" pitchFamily="34" charset="-120"/>
              </a:rPr>
              <a:t>4.2 Bafir root cause</a:t>
            </a:r>
            <a:endParaRPr lang="en-US" sz="1200" dirty="0"/>
          </a:p>
        </p:txBody>
      </p:sp>
      <p:sp>
        <p:nvSpPr>
          <p:cNvPr id="11" name="Shape 9"/>
          <p:cNvSpPr/>
          <p:nvPr/>
        </p:nvSpPr>
        <p:spPr>
          <a:xfrm>
            <a:off x="711200" y="2228918"/>
            <a:ext cx="5508162" cy="0"/>
          </a:xfrm>
          <a:prstGeom prst="line">
            <a:avLst/>
          </a:prstGeom>
          <a:noFill/>
          <a:ln w="6350">
            <a:solidFill>
              <a:srgbClr val="D9D4C8"/>
            </a:solidFill>
            <a:prstDash val="solid"/>
          </a:ln>
        </p:spPr>
      </p:sp>
      <p:sp>
        <p:nvSpPr>
          <p:cNvPr id="12" name="Text 10"/>
          <p:cNvSpPr/>
          <p:nvPr/>
        </p:nvSpPr>
        <p:spPr>
          <a:xfrm>
            <a:off x="711200" y="2306179"/>
            <a:ext cx="2758183"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A stakeholder who disagreed?</a:t>
            </a:r>
            <a:endParaRPr lang="en-US" sz="1200" dirty="0"/>
          </a:p>
        </p:txBody>
      </p:sp>
      <p:sp>
        <p:nvSpPr>
          <p:cNvPr id="13" name="Text 11"/>
          <p:cNvSpPr/>
          <p:nvPr/>
        </p:nvSpPr>
        <p:spPr>
          <a:xfrm>
            <a:off x="3541448" y="2306179"/>
            <a:ext cx="2758251"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5FAF"/>
                </a:solidFill>
                <a:latin typeface="IBM Plex Sans" pitchFamily="34" charset="0"/>
                <a:ea typeface="IBM Plex Sans" pitchFamily="34" charset="-122"/>
                <a:cs typeface="IBM Plex Sans" pitchFamily="34" charset="-120"/>
              </a:rPr>
              <a:t>8.1 Leadership forums</a:t>
            </a:r>
            <a:endParaRPr lang="en-US" sz="1200" dirty="0"/>
          </a:p>
        </p:txBody>
      </p:sp>
      <p:sp>
        <p:nvSpPr>
          <p:cNvPr id="14" name="Shape 12"/>
          <p:cNvSpPr/>
          <p:nvPr/>
        </p:nvSpPr>
        <p:spPr>
          <a:xfrm>
            <a:off x="711200" y="2591265"/>
            <a:ext cx="5508162" cy="0"/>
          </a:xfrm>
          <a:prstGeom prst="line">
            <a:avLst/>
          </a:prstGeom>
          <a:noFill/>
          <a:ln w="6350">
            <a:solidFill>
              <a:srgbClr val="D9D4C8"/>
            </a:solidFill>
            <a:prstDash val="solid"/>
          </a:ln>
        </p:spPr>
      </p:sp>
      <p:sp>
        <p:nvSpPr>
          <p:cNvPr id="15" name="Text 13"/>
          <p:cNvSpPr/>
          <p:nvPr/>
        </p:nvSpPr>
        <p:spPr>
          <a:xfrm>
            <a:off x="711200" y="2668525"/>
            <a:ext cx="2758183"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What did you institutionalize?</a:t>
            </a:r>
            <a:endParaRPr lang="en-US" sz="1200" dirty="0"/>
          </a:p>
        </p:txBody>
      </p:sp>
      <p:sp>
        <p:nvSpPr>
          <p:cNvPr id="16" name="Text 14"/>
          <p:cNvSpPr/>
          <p:nvPr/>
        </p:nvSpPr>
        <p:spPr>
          <a:xfrm>
            <a:off x="3541448" y="2668525"/>
            <a:ext cx="2758251" cy="64254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5FAF"/>
                </a:solidFill>
                <a:latin typeface="IBM Plex Sans" pitchFamily="34" charset="0"/>
                <a:ea typeface="IBM Plex Sans" pitchFamily="34" charset="-122"/>
                <a:cs typeface="IBM Plex Sans" pitchFamily="34" charset="-120"/>
              </a:rPr>
              <a:t>GitOps policy workflow · ADRs · handover framework · regression automation</a:t>
            </a:r>
            <a:endParaRPr lang="en-US" sz="1200" dirty="0"/>
          </a:p>
        </p:txBody>
      </p:sp>
      <p:sp>
        <p:nvSpPr>
          <p:cNvPr id="17" name="Shape 15"/>
          <p:cNvSpPr/>
          <p:nvPr/>
        </p:nvSpPr>
        <p:spPr>
          <a:xfrm>
            <a:off x="711200" y="3365041"/>
            <a:ext cx="5508162" cy="0"/>
          </a:xfrm>
          <a:prstGeom prst="line">
            <a:avLst/>
          </a:prstGeom>
          <a:noFill/>
          <a:ln w="6350">
            <a:solidFill>
              <a:srgbClr val="D9D4C8"/>
            </a:solidFill>
            <a:prstDash val="solid"/>
          </a:ln>
        </p:spPr>
      </p:sp>
      <p:sp>
        <p:nvSpPr>
          <p:cNvPr id="18" name="Text 16"/>
          <p:cNvSpPr/>
          <p:nvPr/>
        </p:nvSpPr>
        <p:spPr>
          <a:xfrm>
            <a:off x="711200" y="3442295"/>
            <a:ext cx="2758183"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Why was your solution better than alternatives?</a:t>
            </a:r>
            <a:endParaRPr lang="en-US" sz="1200" dirty="0"/>
          </a:p>
        </p:txBody>
      </p:sp>
      <p:sp>
        <p:nvSpPr>
          <p:cNvPr id="19" name="Text 17"/>
          <p:cNvSpPr/>
          <p:nvPr/>
        </p:nvSpPr>
        <p:spPr>
          <a:xfrm>
            <a:off x="3541448" y="3442295"/>
            <a:ext cx="2758251"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5FAF"/>
                </a:solidFill>
                <a:latin typeface="IBM Plex Sans" pitchFamily="34" charset="0"/>
                <a:ea typeface="IBM Plex Sans" pitchFamily="34" charset="-122"/>
                <a:cs typeface="IBM Plex Sans" pitchFamily="34" charset="-120"/>
              </a:rPr>
              <a:t>1.1 segregation PoC · 2.1 design approval</a:t>
            </a:r>
            <a:endParaRPr lang="en-US" sz="1200" dirty="0"/>
          </a:p>
        </p:txBody>
      </p:sp>
      <p:sp>
        <p:nvSpPr>
          <p:cNvPr id="20" name="Shape 18"/>
          <p:cNvSpPr/>
          <p:nvPr/>
        </p:nvSpPr>
        <p:spPr>
          <a:xfrm>
            <a:off x="711200" y="3933099"/>
            <a:ext cx="5508162" cy="0"/>
          </a:xfrm>
          <a:prstGeom prst="line">
            <a:avLst/>
          </a:prstGeom>
          <a:noFill/>
          <a:ln w="6350">
            <a:solidFill>
              <a:srgbClr val="D9D4C8"/>
            </a:solidFill>
            <a:prstDash val="solid"/>
          </a:ln>
        </p:spPr>
      </p:sp>
      <p:sp>
        <p:nvSpPr>
          <p:cNvPr id="21" name="Text 19"/>
          <p:cNvSpPr/>
          <p:nvPr/>
        </p:nvSpPr>
        <p:spPr>
          <a:xfrm>
            <a:off x="711200" y="4010360"/>
            <a:ext cx="2758183"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Resistance faced / what would you do differently?</a:t>
            </a:r>
            <a:endParaRPr lang="en-US" sz="1200" dirty="0"/>
          </a:p>
        </p:txBody>
      </p:sp>
      <p:sp>
        <p:nvSpPr>
          <p:cNvPr id="22" name="Text 20"/>
          <p:cNvSpPr/>
          <p:nvPr/>
        </p:nvSpPr>
        <p:spPr>
          <a:xfrm>
            <a:off x="3541448" y="4010360"/>
            <a:ext cx="2758251"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5FAF"/>
                </a:solidFill>
                <a:latin typeface="IBM Plex Sans" pitchFamily="34" charset="0"/>
                <a:ea typeface="IBM Plex Sans" pitchFamily="34" charset="-122"/>
                <a:cs typeface="IBM Plex Sans" pitchFamily="34" charset="-120"/>
              </a:rPr>
              <a:t>[Prepare a personal, specific answer]</a:t>
            </a:r>
            <a:endParaRPr lang="en-US" sz="1200" dirty="0"/>
          </a:p>
        </p:txBody>
      </p:sp>
      <p:sp>
        <p:nvSpPr>
          <p:cNvPr id="23" name="Shape 21"/>
          <p:cNvSpPr/>
          <p:nvPr/>
        </p:nvSpPr>
        <p:spPr>
          <a:xfrm>
            <a:off x="6476537" y="1290904"/>
            <a:ext cx="5001088" cy="3260593"/>
          </a:xfrm>
          <a:prstGeom prst="roundRect">
            <a:avLst>
              <a:gd name="adj" fmla="val 2240"/>
            </a:avLst>
          </a:prstGeom>
          <a:solidFill>
            <a:srgbClr val="FBFAF6"/>
          </a:solidFill>
          <a:ln w="6350">
            <a:solidFill>
              <a:srgbClr val="D9D4C8"/>
            </a:solidFill>
            <a:prstDash val="solid"/>
          </a:ln>
        </p:spPr>
      </p:sp>
      <p:sp>
        <p:nvSpPr>
          <p:cNvPr id="24" name="Text 22"/>
          <p:cNvSpPr/>
          <p:nvPr/>
        </p:nvSpPr>
        <p:spPr>
          <a:xfrm>
            <a:off x="6655395" y="1457065"/>
            <a:ext cx="478267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20F"/>
                </a:solidFill>
                <a:latin typeface="IBM Plex Sans" pitchFamily="34" charset="0"/>
                <a:ea typeface="IBM Plex Sans" pitchFamily="34" charset="-122"/>
                <a:cs typeface="IBM Plex Sans" pitchFamily="34" charset="-120"/>
              </a:rPr>
              <a:t>BACKUP · THINKS</a:t>
            </a:r>
            <a:endParaRPr lang="en-US" sz="1200" dirty="0"/>
          </a:p>
        </p:txBody>
      </p:sp>
      <p:sp>
        <p:nvSpPr>
          <p:cNvPr id="25" name="Text 23"/>
          <p:cNvSpPr/>
          <p:nvPr/>
        </p:nvSpPr>
        <p:spPr>
          <a:xfrm>
            <a:off x="6655395" y="1733885"/>
            <a:ext cx="478267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Source Serif 4" pitchFamily="18" charset="0"/>
                <a:ea typeface="Source Serif 4" pitchFamily="18" charset="-122"/>
                <a:cs typeface="Source Serif 4" pitchFamily="18" charset="-120"/>
              </a:rPr>
              <a:t>1.3 Strategic Monitoring, Logging &amp; Alerting</a:t>
            </a:r>
            <a:endParaRPr lang="en-US" sz="1400" dirty="0"/>
          </a:p>
        </p:txBody>
      </p:sp>
      <p:sp>
        <p:nvSpPr>
          <p:cNvPr id="26" name="Text 24"/>
          <p:cNvSpPr/>
          <p:nvPr/>
        </p:nvSpPr>
        <p:spPr>
          <a:xfrm>
            <a:off x="6655395" y="2010705"/>
            <a:ext cx="4782673" cy="1465395"/>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As Engineering Team Lead, I architected the MLA strategy with Operations, Customer Success, Architecture and Product: namespace-level monitoring so customers do not see sensitive cluster metrics; analysed Loki limits under load and authored the decommissioning and migration plan to GCP Cloud Logging; root-caused failing console-login/SSH alerting, fixed it in Dev and handed over to Operations for UAT/Prod.</a:t>
            </a:r>
            <a:endParaRPr lang="en-US" sz="1200" dirty="0"/>
          </a:p>
        </p:txBody>
      </p:sp>
      <p:sp>
        <p:nvSpPr>
          <p:cNvPr id="27" name="Text 25"/>
          <p:cNvSpPr/>
          <p:nvPr/>
        </p:nvSpPr>
        <p:spPr>
          <a:xfrm>
            <a:off x="6655395" y="3514198"/>
            <a:ext cx="4782673"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02E"/>
                </a:solidFill>
                <a:latin typeface="IBM Plex Sans" pitchFamily="34" charset="0"/>
                <a:ea typeface="IBM Plex Sans" pitchFamily="34" charset="-122"/>
                <a:cs typeface="IBM Plex Sans" pitchFamily="34" charset="-120"/>
              </a:rPr>
              <a:t>Impact:</a:t>
            </a:r>
            <a:r>
              <a:rPr lang="en-US" sz="1200" dirty="0">
                <a:solidFill>
                  <a:srgbClr val="14202E"/>
                </a:solidFill>
                <a:latin typeface="IBM Plex Sans" pitchFamily="34" charset="0"/>
                <a:ea typeface="IBM Plex Sans" pitchFamily="34" charset="-122"/>
                <a:cs typeface="IBM Plex Sans" pitchFamily="34" charset="-120"/>
              </a:rPr>
              <a:t> prevented operational blind spots in critical production incidents; legacy logging replaced division-wide.</a:t>
            </a:r>
            <a:endParaRPr lang="en-US" sz="1200" dirty="0"/>
          </a:p>
        </p:txBody>
      </p:sp>
      <p:sp>
        <p:nvSpPr>
          <p:cNvPr id="28" name="Text 26"/>
          <p:cNvSpPr/>
          <p:nvPr/>
        </p:nvSpPr>
        <p:spPr>
          <a:xfrm>
            <a:off x="6655395" y="3989127"/>
            <a:ext cx="4782673" cy="421614"/>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A6472"/>
                </a:solidFill>
                <a:latin typeface="IBM Plex Sans" pitchFamily="34" charset="0"/>
                <a:ea typeface="IBM Plex Sans" pitchFamily="34" charset="-122"/>
                <a:cs typeface="IBM Plex Sans" pitchFamily="34" charset="-120"/>
              </a:rPr>
              <a:t>Evidence:</a:t>
            </a:r>
            <a:r>
              <a:rPr lang="en-US" sz="1200" dirty="0">
                <a:solidFill>
                  <a:srgbClr val="5A6472"/>
                </a:solidFill>
                <a:latin typeface="IBM Plex Sans" pitchFamily="34" charset="0"/>
                <a:ea typeface="IBM Plex Sans" pitchFamily="34" charset="-122"/>
                <a:cs typeface="IBM Plex Sans" pitchFamily="34" charset="-120"/>
              </a:rPr>
              <a:t> Feature Jira; Confluence as-is docs; monitoring policy PRs</a:t>
            </a:r>
            <a:endParaRPr lang="en-US" sz="1200" dirty="0"/>
          </a:p>
        </p:txBody>
      </p:sp>
      <p:sp>
        <p:nvSpPr>
          <p:cNvPr id="29" name="Shape 27"/>
          <p:cNvSpPr/>
          <p:nvPr/>
        </p:nvSpPr>
        <p:spPr>
          <a:xfrm>
            <a:off x="6476537" y="4659449"/>
            <a:ext cx="5001088" cy="1226278"/>
          </a:xfrm>
          <a:prstGeom prst="roundRect">
            <a:avLst>
              <a:gd name="adj" fmla="val 5955"/>
            </a:avLst>
          </a:prstGeom>
          <a:solidFill>
            <a:srgbClr val="FBFAF6"/>
          </a:solidFill>
          <a:ln w="6350">
            <a:solidFill>
              <a:srgbClr val="D9D4C8"/>
            </a:solidFill>
            <a:prstDash val="solid"/>
          </a:ln>
        </p:spPr>
      </p:sp>
      <p:sp>
        <p:nvSpPr>
          <p:cNvPr id="30" name="Text 28"/>
          <p:cNvSpPr/>
          <p:nvPr/>
        </p:nvSpPr>
        <p:spPr>
          <a:xfrm>
            <a:off x="6655395" y="4825603"/>
            <a:ext cx="478267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6472"/>
                </a:solidFill>
                <a:latin typeface="IBM Plex Sans" pitchFamily="34" charset="0"/>
                <a:ea typeface="IBM Plex Sans" pitchFamily="34" charset="-122"/>
                <a:cs typeface="IBM Plex Sans" pitchFamily="34" charset="-120"/>
              </a:rPr>
              <a:t>ALSO IN RESERVE</a:t>
            </a:r>
            <a:endParaRPr lang="en-US" sz="1200" dirty="0"/>
          </a:p>
        </p:txBody>
      </p:sp>
      <p:sp>
        <p:nvSpPr>
          <p:cNvPr id="31" name="Text 29"/>
          <p:cNvSpPr/>
          <p:nvPr/>
        </p:nvSpPr>
        <p:spPr>
          <a:xfrm>
            <a:off x="6655395" y="5102423"/>
            <a:ext cx="4782673"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02E"/>
                </a:solidFill>
                <a:latin typeface="IBM Plex Sans" pitchFamily="34" charset="0"/>
                <a:ea typeface="IBM Plex Sans" pitchFamily="34" charset="-122"/>
                <a:cs typeface="IBM Plex Sans" pitchFamily="34" charset="-120"/>
              </a:rPr>
              <a:t>Detailed ACM hub architecture · additional controls and incidents · GEE graduate/intern interviewing · certification mentoring · hackathon recognition · stakeholder appreciation</a:t>
            </a:r>
            <a:endParaRPr lang="en-US" sz="1200" dirty="0"/>
          </a:p>
        </p:txBody>
      </p:sp>
      <p:sp>
        <p:nvSpPr>
          <p:cNvPr id="32" name="Text 30"/>
          <p:cNvSpPr/>
          <p:nvPr/>
        </p:nvSpPr>
        <p:spPr>
          <a:xfrm>
            <a:off x="711200" y="6339880"/>
            <a:ext cx="57501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Appendix · not presented unless probed · MLA is used only if 6.3 is not</a:t>
            </a:r>
            <a:endParaRPr lang="en-US" sz="1200" dirty="0"/>
          </a:p>
        </p:txBody>
      </p:sp>
      <p:sp>
        <p:nvSpPr>
          <p:cNvPr id="33" name="Text 31"/>
          <p:cNvSpPr/>
          <p:nvPr/>
        </p:nvSpPr>
        <p:spPr>
          <a:xfrm>
            <a:off x="10885488" y="63398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14 / 14</a:t>
            </a:r>
            <a:endParaRPr lang="en-US" sz="1200" dirty="0"/>
          </a:p>
        </p:txBody>
      </p:sp>
    </p:spTree>
  </p:cSld>
  <p:clrMapOvr>
    <a:masterClrMapping/>
  </p:clrMapOvr>
</p:sld>
</file>

<file path=ppt/theme/theme1.xml><?xml version="1.0" encoding="utf-8"?>
<a:theme xmlns:a="http://schemas.openxmlformats.org/drawingml/2006/main" name="AVP → VP Promotion: ECDF Evidence &amp; VP Readiness">
  <a:themeElements>
    <a:clrScheme name="AVP → VP Promotion: ECDF Evidence &amp; VP Readiness">
      <a:dk1>
        <a:srgbClr val="14202E"/>
      </a:dk1>
      <a:lt1>
        <a:srgbClr val="F4F2EC"/>
      </a:lt1>
      <a:dk2>
        <a:srgbClr val="4C555E"/>
      </a:dk2>
      <a:lt2>
        <a:srgbClr val="DEDDD9"/>
      </a:lt2>
      <a:accent1>
        <a:srgbClr val="1F5FAF"/>
      </a:accent1>
      <a:accent2>
        <a:srgbClr val="A4520F"/>
      </a:accent2>
      <a:accent3>
        <a:srgbClr val="F0A35E"/>
      </a:accent3>
      <a:accent4>
        <a:srgbClr val="9CC0F0"/>
      </a:accent4>
      <a:accent5>
        <a:srgbClr val="5A6472"/>
      </a:accent5>
      <a:accent6>
        <a:srgbClr val="B7C0CC"/>
      </a:accent6>
      <a:hlink>
        <a:srgbClr val="0563C1"/>
      </a:hlink>
      <a:folHlink>
        <a:srgbClr val="954F72"/>
      </a:folHlink>
    </a:clrScheme>
    <a:fontScheme name="AVP → VP Promotion: ECDF Evidence &amp; VP Readiness">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AVP → VP Promotion: ECDF Evidence &amp; VP Readiness</dc:title>
  <dc:subject/>
  <dc:creator/>
  <cp:lastModifiedBy/>
  <cp:revision>1</cp:revision>
  <dcterms:created xsi:type="dcterms:W3CDTF">2026-10-04T15:33:51Z</dcterms:created>
  <dcterms:modified xsi:type="dcterms:W3CDTF">2026-10-04T15:33:51Z</dcterms:modified>
</cp:coreProperties>
</file>