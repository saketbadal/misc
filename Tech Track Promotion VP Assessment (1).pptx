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(no Q&amp;A). Clock at end: 0:01. Thank the panel. Introduce yourself with both titles: AVP (corporate) and Senior Engineer &amp; Technical Lead for Fabric Platform Engineering (functional). Say the deck follows the eight ECDF parameters, then the Leadership Kompass behaviours, and closes with why you are ready for VP. Mention that every achievement has a linked evidence item they already have access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(no Q&amp;A). Clock at end: 0:03. Set the scale before the evidence: 8-person team across three locations, Fabric as the bank's strategic Hybrid Cloud PaaS, 600+ applications and 200+ business teams (~30% of the estate). The point to land: decisions on this platform have bank-wide consequences, which is why the following evidence is divisional in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talk + 3 min Q&amp;A = 7 minutes. Clock at end: 0:10. Lead with ACM Segregation: the single-hub model managed Dev, UAT and Prod together, so any non-production change implemented on ACM-Prod put the 15+ production clusters (of 36 managed) at risk. You challenged that model and created separate ACM-Dev and ACM-UAT hubs. Then MLA (namespace-level visibility, move to GCP Cloud Logging) and Policy Standardization (70+ non-compliant policies, GitOps declarative workflow). Close on the amber band: assumption challenged and divisional impact. That is the Level 4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0:15. Lead with one example in depth (Graduate Trainee Enablement or the 5-day Ops training), then one line each on the others. Show the widening reach: own team, Operations, other divisions through the AI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0:20. Tell the MD/Director briefing as a short story: who the stakeholders were, what the friction was, how you explained the OCP4 certificate workflow, and what changed. Then one line each on the 3-month degcpp1 escalation and the Prisma false-positive analysis, where you influenced the Architect to adopt both tracks (the platform default change is agreed but not yet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0:25. For each item, name the obstacle and the business outcome it unlocked. NPA4: change freeze, 3-day window, 2-week Sentinel grace period secured by setting out the business risk, then blockers fixed (module downgrades, IP mapping logic, GitHub workflow failures). Vertex AI: AI development made possible inside regulatory constraints. Grafana: central monitoring achieved despite network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0:30. CHECKPOINT: you should be finishing this slide at 0:30. If you are more than 3 minutes behind, plan to take Kompass 1-4 and 5-8 in 1 minute each. Here, talk about the technical design: independent control planes per hub, repo-level RBAC and merge validation pipelines, and ADR templates across 36 clusters. The strategic decision to segregate was covered under Thinks.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talk + 3 min Q&amp;A = 7 minutes. Clock at end: 0:37. Spend most of the time on Bafir. It is your strongest hands-on story: the issue had persisted for 5 years and caused a 1% transaction drop rate. Explain what you personally did to diagnose it (the transaction path, the packet-level analysis and the network routes) and what fixed it. Then India Payments (compliant Fabric 2.0 in 4 months) and OCP4 (15+ production clusters). Close on the amber band; that is the Level 4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0:42. CHECKPOINT: you should be finishing this slide at 0:42. Structure it as restore, then prevent. Restore: the Artifactory secrets P1 (50+ applications) and the 2-day inonpp1a rebuild. Prevent: the Python regression modules that remove 6-8 hours of manual validation per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0:47. Lead with CyberArk: shared root keys replaced with individual, auditable access. Then Ingress TLS hardening and port blocking: analysis, design and PoC are complete for all 600+ tenant applications, and the production rollout is in progress (say this plainly) and credential monitoring remediation with coaching so the problem does not recur.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talk + 1 min Q&amp;A = 3 minutes. Clock at end: 0:50. If you are running behind, cover this slide in 1 minute: read the four behaviour names and give one example. Best example to tell: owning the inonpp1a incident and running a transparent post-mortem.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talk + 1 min Q&amp;A = 3 minutes. Clock at end: 0:53. If you are running behind, cover this slide in 1 minute. Best example to tell: silo breaking through the operations handover and hands-on training. Never cut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(no Q&amp;A). Clock at end: 0:55. The remaining 5 minutes are buffer for overflow questions. Slow down. Name the three pillars, then deliver the closing statement word for word and stop. Thank the panel and invite any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48320"/>
            <a:ext cx="10769600" cy="350507"/>
          </a:xfrm>
          <a:prstGeom prst="rect">
            <a:avLst/>
          </a:prstGeom>
          <a:noFill/>
          <a:ln/>
        </p:spPr>
        <p:txBody>
          <a:bodyPr wrap="square" lIns="0" tIns="0" rIns="0" bIns="0" rtlCol="0" anchor="t"/>
          <a:lstStyle>
            <a:lvl1pPr algn="l" indent="0" marL="0">
              <a:lnSpc>
                <a:spcPct val="115000"/>
              </a:lnSpc>
              <a:buNone/>
              <a:defRPr lang="en-US" sz="2400" dirty="0">
                <a:solidFill>
                  <a:srgbClr val="0F4C8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711200" y="1503627"/>
            <a:ext cx="10668000" cy="4541573"/>
          </a:xfrm>
          <a:prstGeom prst="rect">
            <a:avLst/>
          </a:prstGeom>
          <a:noFill/>
          <a:ln/>
        </p:spPr>
        <p:txBody>
          <a:bodyPr wrap="square" lIns="0" tIns="0" rIns="0" bIns="0" rtlCol="0" anchor="t"/>
          <a:lstStyle>
            <a:lvl1pPr algn="l" indent="0" marL="0">
              <a:lnSpc>
                <a:spcPct val="140000"/>
              </a:lnSpc>
              <a:buNone/>
              <a:defRPr lang="en-US" sz="1600" dirty="0">
                <a:solidFill>
                  <a:srgbClr val="0F4C8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48320"/>
            <a:ext cx="10769600" cy="350507"/>
          </a:xfrm>
          <a:prstGeom prst="rect">
            <a:avLst/>
          </a:prstGeom>
          <a:noFill/>
          <a:ln/>
        </p:spPr>
        <p:txBody>
          <a:bodyPr wrap="square" lIns="0" tIns="0" rIns="0" bIns="0" rtlCol="0" anchor="t"/>
          <a:lstStyle>
            <a:lvl1pPr algn="l" indent="0" marL="0">
              <a:lnSpc>
                <a:spcPct val="115000"/>
              </a:lnSpc>
              <a:buNone/>
              <a:defRPr lang="en-US" sz="2400" dirty="0">
                <a:solidFill>
                  <a:srgbClr val="0F4C8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711200" y="1503627"/>
            <a:ext cx="10668000" cy="4541573"/>
          </a:xfrm>
          <a:prstGeom prst="rect">
            <a:avLst/>
          </a:prstGeom>
          <a:noFill/>
          <a:ln/>
        </p:spPr>
        <p:txBody>
          <a:bodyPr wrap="square" lIns="0" tIns="0" rIns="0" bIns="0" rtlCol="0" anchor="t"/>
          <a:lstStyle>
            <a:lvl1pPr algn="l" indent="0" marL="0">
              <a:lnSpc>
                <a:spcPct val="140000"/>
              </a:lnSpc>
              <a:buNone/>
              <a:defRPr lang="en-US" sz="1600" dirty="0">
                <a:solidFill>
                  <a:srgbClr val="0F4C8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batlas.db.com/jira02/browse/HCLPDRM-35789" TargetMode="External"/><Relationship Id="rId2" Type="http://schemas.openxmlformats.org/officeDocument/2006/relationships/hyperlink" Target="https://confluence.intranet.db.com/spaces/Paas/pages/1982025615/OpenShift+MELT+-+Metrics+Events+Logging+and+Tracing+AS-IS+Strategy" TargetMode="External"/><Relationship Id="rId3" Type="http://schemas.openxmlformats.org/officeDocument/2006/relationships/hyperlink" Target="https://dbatlas.db.com/jira02/browse/HCLPDRM-30786" TargetMode="External"/><Relationship Id="rId4" Type="http://schemas.openxmlformats.org/officeDocument/2006/relationships/hyperlink" Target="https://dbatlas.db.com/jira02/browse/HCLPDRM-31204" TargetMode="External"/><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eutschebank-my.sharepoint.com/:b:/r/personal/saket_badal_db_com/Documents/Saket/Other/Promotion%20Process/2026/ECDF%20-%20Saket%20Badal/Engages/Technical%20Leadership%20of%20Fabric%20Engineering%20Team/Sprint%20Velocity%20Chart%20-%20Fabric%20Team%20Board%20-%20Agile%20Board%20-%20Enterprise%20JIRA%20DataCenter.pdf" TargetMode="External"/><Relationship Id="rId2" Type="http://schemas.openxmlformats.org/officeDocument/2006/relationships/hyperlink" Target="https://confluence.intranet.db.com/spaces/AIENABLED/pages/1921441993/AI+Community+Mentors" TargetMode="External"/><Relationship Id="rId3" Type="http://schemas.openxmlformats.org/officeDocument/2006/relationships/hyperlink" Target="https://deutschebank-my.sharepoint.com/:p:/r/personal/saket_badal_db_com/Documents/Saket/Other/Promotion%20Process/2026/ECDF%20-%20Saket%20Badal/Graduate%20%26%20Intern%20Hiring%20and%20Mentorship/DB%20GCP%20Landing%20Zone.pptx" TargetMode="External"/><Relationship Id="rId4" Type="http://schemas.openxmlformats.org/officeDocument/2006/relationships/hyperlink" Target="https://deutschebank-my.sharepoint.com/:b:/r/personal/saket_badal_db_com/Documents/Saket/Other/Promotion%20Process/2026/ECDF%20-%20Saket%20Badal/Engages/Hands-on%20Training%20Session%20on%20Terraform%20,%20GitOps%20and%20argoCD/Feedback%20Received.pdf" TargetMode="External"/><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eutschebank-my.sharepoint.com/:b:/r/personal/saket_badal_db_com/Documents/Saket/Other/Promotion%20Process/2026/ECDF%20-%20Saket%20Badal/Influences/P1%20Certificate%20Workflow%20%E2%80%93%20MD%26%23x3a;Director%20Conflict%20Resolution%20During%20Critical%20Payment%20Incident/Certificates%20in%20OCP4%20-%20Saket%20Badal%20-%20Confluence.pdf?d=wde7f7b16dd81485ba4ec38078d57bb04&amp;csf=1&amp;web=1&amp;e=mplCfL" TargetMode="External"/><Relationship Id="rId2" Type="http://schemas.openxmlformats.org/officeDocument/2006/relationships/hyperlink" Target="https://deutschebank-my.sharepoint.com/:u:/r/personal/saket_badal_db_com/Documents/Saket/Other/Promotion%20Process/2026/ECDF%20-%20Saket%20Badal/Influences/IPSec%20Production%20Remediation/Problem%20Call%239%20P3Cs%20INC0030255303_INC0030252469_INC0030252299-PRB0152671%20sDDA%20Data%20and%20sStatements%20impacted%20by%20Fabric%20degcpp1%20issue%20after%20platform%20change..eml" TargetMode="External"/><Relationship Id="rId3" Type="http://schemas.openxmlformats.org/officeDocument/2006/relationships/hyperlink" Target="https://deutschebank-my.sharepoint.com/:u:/r/personal/saket_badal_db_com/Documents/Saket/Other/Promotion%20Process/2026/ECDF%20-%20Saket%20Badal/Influences/Prisma%20False%20Positive%20Guidance/Re_%20INC0030777772%20-%20Guidance%20Required-%20IPT%20Ticket%20dbwings_173181-1.eml" TargetMode="External"/><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20-%20Saket%20Badal/Achieves/NPA4%20Landing%20Zone%20Migration/RE_%20Urgent_%20Landing%20Zone%20Migration%20Issue%20%E2%80%93%20Exception%20Required.eml" TargetMode="External"/><Relationship Id="rId2" Type="http://schemas.openxmlformats.org/officeDocument/2006/relationships/hyperlink" Target="https://dbatlas.db.com/jira02/browse/HCLPDRM-27282" TargetMode="External"/><Relationship Id="rId3" Type="http://schemas.openxmlformats.org/officeDocument/2006/relationships/hyperlink" Target="https://grafana-open-cluster-management-observability.apps.ukgcpacm.acm-prd.fabric.gcp.db.com/d/2b679d600f3b9e7676a7c5ac3643d448/acm-clusters-overview" TargetMode="Externa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onfluence.intranet.db.com/spaces/Paas/pages/2075648241/Environment+Segregated+Multi-ACM+Design+Document" TargetMode="External"/><Relationship Id="rId2" Type="http://schemas.openxmlformats.org/officeDocument/2006/relationships/hyperlink" Target="https://deutschebank-my.sharepoint.com/:p:/r/personal/saket_badal_db_com/Documents/Saket/Other/Promotion%20Process/2026/ECDF%20-%20Saket%20Badal/Designs/Fabric%20Landing%20Zone%20Multi%20Repo%20Model/Sprint%201%20-%20MVP%20on%20GCP.pptx" TargetMode="External"/><Relationship Id="rId3" Type="http://schemas.openxmlformats.org/officeDocument/2006/relationships/hyperlink" Target="https://deutschebank-my.sharepoint.com/:b:/r/personal/saket_badal_db_com/Documents/Saket/Other/Promotion%20Process/2026/ECDF%20-%20Saket%20Badal/Designs/Fabric%20ADR%20Updates/F-ADR.pdf" TargetMode="External"/><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eutschebank-my.sharepoint.com/:i:/r/personal/saket_badal_db_com/Documents/Saket/Other/Promotion%20Process/2026/ECDF%20-%20Saket%20Badal/Delivers/India%20Payments%20Data%20Localization/SDLC%20and%20India%20Payments%20Cluster%20Delivery-1.png" TargetMode="External"/><Relationship Id="rId2" Type="http://schemas.openxmlformats.org/officeDocument/2006/relationships/hyperlink" Target="https://deutschebank-my.sharepoint.com/:u:/r/personal/saket_badal_db_com/Documents/Saket/Other/Promotion%20Process/2026/ECDF%20-%20Saket%20Badal/Delivers/5-Year%20Payment%20App%20Performance%20Resolution/Re_%20ESCALATION%20-%20RE_%20%5BDB-CORP%5D-%20INC0029371826%20-Urgent%20Action%20Required_%20TCP%20Session%20Management%20Issue%20Impacting%20Bafir%20Application%20Performance.eml" TargetMode="External"/><Relationship Id="rId3" Type="http://schemas.openxmlformats.org/officeDocument/2006/relationships/hyperlink" Target="https://deutschebank-my.sharepoint.com/:b:/r/personal/saket_badal_db_com/Documents/Saket/Other/Promotion%20Process/2026/ECDF%20-%20Saket%20Badal/Delivers/OCP4%20Migration/On-premise%20OCP4%20Clusters%20-%20Red%20Hat%20OpenShift.pdf" TargetMode="Externa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20-%20Saket%20Badal/Operates/P1%20Incident%20Management/Re_%20Good%20work%20team-%20Appreciation%20.eml" TargetMode="External"/><Relationship Id="rId2" Type="http://schemas.openxmlformats.org/officeDocument/2006/relationships/hyperlink" Target="https://deutschebank-my.sharepoint.com/:u:/r/personal/saket_badal_db_com/Documents/Saket/Other/Promotion%20Process/2026/ECDF%20-%20Saket%20Badal/Operates/Emergency%20Cluster%20Redeployment/RE_%20Kudos%20to%20the%20team!%20Sincere%20thanks%20for%20restoring%20the%20inonpp1a%20cluster.eml" TargetMode="External"/><Relationship Id="rId3" Type="http://schemas.openxmlformats.org/officeDocument/2006/relationships/hyperlink" Target="https://stash.gto.intranet.db.com:8081/projects/PAAS/repos/fabric-ocp4-regression-tests/pull-requests/31/overview" TargetMode="External"/><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eutschebank-my.sharepoint.com/:i:/r/personal/saket_badal_db_com/Documents/Saket/Other/Promotion%20Process/2026/ECDF%20-%20Saket%20Badal/Controls/ACM%20Remediation/Coaching%20Screenshot_7-10-2026_122649_whiteboard.cloud.microsoft.jpeg" TargetMode="External"/><Relationship Id="rId2" Type="http://schemas.openxmlformats.org/officeDocument/2006/relationships/hyperlink" Target="https://confluence.intranet.db.com/spaces/Paas/pages/1473979250/How+to+ssh+on+VM+through+cyberark+process+for+OCP+4+clusters" TargetMode="External"/><Relationship Id="rId3" Type="http://schemas.openxmlformats.org/officeDocument/2006/relationships/hyperlink" Target="https://deutschebank-my.sharepoint.com/:u:/r/personal/saket_badal_db_com/Documents/Saket/Other/Promotion%20Process/2026/ECDF%20-%20Saket%20Badal/Controls/APT%20Security%20Findings/RE_%20Technical%20Guidance%20Required_%20TLS%20Configuration%20%26%20Open%20Ports%20Findings%20(UAT%20APT%20Test)%20-%20Versana.eml" TargetMode="External"/><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20-%20Saket%20Badal/Engages/Technical%20Leadership%20of%20Fabric%20Engineering%20Team/RE_%20Kudos%20to%20the%20team!%20Sincere%20thanks%20for%20restoring%20the%20inonpp1a%20cluster.eml" TargetMode="External"/><Relationship Id="rId2" Type="http://schemas.openxmlformats.org/officeDocument/2006/relationships/hyperlink" Target="https://deutschebank-my.sharepoint.com/:x:/r/personal/saket_badal_db_com/Documents/Saket/Other/Promotion%20Process/2026/ECDF%20-%20Saket%20Badal/Engages/Developing%20Graduate%20into%20Emerging%20Engineer/1-1%20%20Atharva.xlsx" TargetMode="Externa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eutschebank-my.sharepoint.com/:b:/r/personal/saket_badal_db_com/Documents/Saket/Other/Promotion%20Process/2026/ECDF%20-%20Saket%20Badal/Engages/Engineering%20Demand%20Management%20Ownership/Fabric%20Demand%20Board%20-%20Aisyah%20-%20Agile%20Board%20-%20Enterprise%20JIRA%20DataCenter.pdf" TargetMode="External"/><Relationship Id="rId2" Type="http://schemas.openxmlformats.org/officeDocument/2006/relationships/hyperlink" Target="https://deutschebank-my.sharepoint.com/:b:/r/personal/saket_badal_db_com/Documents/Saket/Other/Promotion%20Process/2026/ECDF%20-%20Saket%20Badal/Engages/Hands-on%20Training%20Session%20on%20Terraform%20,%20GitOps%20and%20argoCD/Feedback%20Received.pdf" TargetMode="External"/><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81"/>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A458"/>
          </a:solidFill>
          <a:ln/>
        </p:spPr>
      </p:sp>
      <p:sp>
        <p:nvSpPr>
          <p:cNvPr id="3" name="Text 1"/>
          <p:cNvSpPr/>
          <p:nvPr/>
        </p:nvSpPr>
        <p:spPr>
          <a:xfrm>
            <a:off x="10160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0A458"/>
                </a:solidFill>
                <a:latin typeface="IBM Plex Sans" pitchFamily="34" charset="0"/>
                <a:ea typeface="IBM Plex Sans" pitchFamily="34" charset="-122"/>
                <a:cs typeface="IBM Plex Sans" pitchFamily="34" charset="-120"/>
              </a:rPr>
              <a:t>TECH TRACK PROMOTION</a:t>
            </a:r>
            <a:endParaRPr lang="en-US" sz="1200" dirty="0"/>
          </a:p>
        </p:txBody>
      </p:sp>
      <p:sp>
        <p:nvSpPr>
          <p:cNvPr id="4" name="Text 2"/>
          <p:cNvSpPr/>
          <p:nvPr>
            <p:ph type="title"/>
          </p:nvPr>
        </p:nvSpPr>
        <p:spPr>
          <a:xfrm>
            <a:off x="1016000" y="2257227"/>
            <a:ext cx="10674096" cy="612114"/>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5F7FA"/>
                </a:solidFill>
                <a:latin typeface="IBM Plex Sans" pitchFamily="34" charset="0"/>
                <a:ea typeface="IBM Plex Sans" pitchFamily="34" charset="-122"/>
                <a:cs typeface="IBM Plex Sans" pitchFamily="34" charset="-120"/>
              </a:rPr>
              <a:t>VP Assessment</a:t>
            </a:r>
            <a:endParaRPr lang="en-US" sz="4400" dirty="0"/>
          </a:p>
        </p:txBody>
      </p:sp>
      <p:sp>
        <p:nvSpPr>
          <p:cNvPr id="5" name="Text 3"/>
          <p:cNvSpPr/>
          <p:nvPr/>
        </p:nvSpPr>
        <p:spPr>
          <a:xfrm>
            <a:off x="1016000" y="3047140"/>
            <a:ext cx="10674096"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2EE"/>
                </a:solidFill>
                <a:latin typeface="IBM Plex Sans" pitchFamily="34" charset="0"/>
                <a:ea typeface="IBM Plex Sans" pitchFamily="34" charset="-122"/>
                <a:cs typeface="IBM Plex Sans" pitchFamily="34" charset="-120"/>
              </a:rPr>
              <a:t>Candidate: </a:t>
            </a:r>
            <a:r>
              <a:rPr lang="en-US" sz="2000" b="1" dirty="0">
                <a:solidFill>
                  <a:srgbClr val="D6E2EE"/>
                </a:solidFill>
                <a:latin typeface="IBM Plex Sans" pitchFamily="34" charset="0"/>
                <a:ea typeface="IBM Plex Sans" pitchFamily="34" charset="-122"/>
                <a:cs typeface="IBM Plex Sans" pitchFamily="34" charset="-120"/>
              </a:rPr>
              <a:t>Saket Badal</a:t>
            </a:r>
            <a:endParaRPr lang="en-US" sz="2000" dirty="0"/>
          </a:p>
        </p:txBody>
      </p:sp>
      <p:sp>
        <p:nvSpPr>
          <p:cNvPr id="6" name="Shape 4"/>
          <p:cNvSpPr/>
          <p:nvPr/>
        </p:nvSpPr>
        <p:spPr>
          <a:xfrm>
            <a:off x="1016000" y="4611688"/>
            <a:ext cx="10363200" cy="0"/>
          </a:xfrm>
          <a:prstGeom prst="line">
            <a:avLst/>
          </a:prstGeom>
          <a:noFill/>
          <a:ln w="6350">
            <a:solidFill>
              <a:srgbClr val="4A7AA6"/>
            </a:solidFill>
            <a:prstDash val="solid"/>
          </a:ln>
        </p:spPr>
      </p:sp>
      <p:sp>
        <p:nvSpPr>
          <p:cNvPr id="7" name="Text 5"/>
          <p:cNvSpPr/>
          <p:nvPr/>
        </p:nvSpPr>
        <p:spPr>
          <a:xfrm>
            <a:off x="1016000" y="4815946"/>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CORPORATE TITLE</a:t>
            </a:r>
            <a:endParaRPr lang="en-US" sz="1200" dirty="0"/>
          </a:p>
        </p:txBody>
      </p:sp>
      <p:sp>
        <p:nvSpPr>
          <p:cNvPr id="8" name="Text 6"/>
          <p:cNvSpPr/>
          <p:nvPr/>
        </p:nvSpPr>
        <p:spPr>
          <a:xfrm>
            <a:off x="1016000" y="5080066"/>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Assistant Vice President (AVP)</a:t>
            </a:r>
            <a:endParaRPr lang="en-US" sz="1400" dirty="0"/>
          </a:p>
        </p:txBody>
      </p:sp>
      <p:sp>
        <p:nvSpPr>
          <p:cNvPr id="9" name="Text 7"/>
          <p:cNvSpPr/>
          <p:nvPr/>
        </p:nvSpPr>
        <p:spPr>
          <a:xfrm>
            <a:off x="6299200" y="4815946"/>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FUNCTIONAL ROLE</a:t>
            </a:r>
            <a:endParaRPr lang="en-US" sz="1200" dirty="0"/>
          </a:p>
        </p:txBody>
      </p:sp>
      <p:sp>
        <p:nvSpPr>
          <p:cNvPr id="10" name="Text 8"/>
          <p:cNvSpPr/>
          <p:nvPr/>
        </p:nvSpPr>
        <p:spPr>
          <a:xfrm>
            <a:off x="6299200" y="5080066"/>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Senior Engineer &amp; Technical Lead, Fabric Platform Engineering</a:t>
            </a:r>
            <a:endParaRPr lang="en-US" sz="1400" dirty="0"/>
          </a:p>
        </p:txBody>
      </p:sp>
      <p:sp>
        <p:nvSpPr>
          <p:cNvPr id="11" name="Text 9"/>
          <p:cNvSpPr/>
          <p:nvPr/>
        </p:nvSpPr>
        <p:spPr>
          <a:xfrm>
            <a:off x="1016000" y="5532173"/>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TARGET ROLE</a:t>
            </a:r>
            <a:endParaRPr lang="en-US" sz="1200" dirty="0"/>
          </a:p>
        </p:txBody>
      </p:sp>
      <p:sp>
        <p:nvSpPr>
          <p:cNvPr id="12" name="Text 10"/>
          <p:cNvSpPr/>
          <p:nvPr/>
        </p:nvSpPr>
        <p:spPr>
          <a:xfrm>
            <a:off x="1016000" y="5796293"/>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Vice President (VP)</a:t>
            </a:r>
            <a:endParaRPr lang="en-US" sz="1400" dirty="0"/>
          </a:p>
        </p:txBody>
      </p:sp>
      <p:sp>
        <p:nvSpPr>
          <p:cNvPr id="13" name="Text 11"/>
          <p:cNvSpPr/>
          <p:nvPr/>
        </p:nvSpPr>
        <p:spPr>
          <a:xfrm>
            <a:off x="6299200" y="5532173"/>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DATE</a:t>
            </a:r>
            <a:endParaRPr lang="en-US" sz="1200" dirty="0"/>
          </a:p>
        </p:txBody>
      </p:sp>
      <p:sp>
        <p:nvSpPr>
          <p:cNvPr id="14" name="Text 12"/>
          <p:cNvSpPr/>
          <p:nvPr/>
        </p:nvSpPr>
        <p:spPr>
          <a:xfrm>
            <a:off x="6299200" y="5796293"/>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00257"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PROFILE</a:t>
            </a:r>
            <a:endParaRPr lang="en-US" sz="1200" dirty="0"/>
          </a:p>
        </p:txBody>
      </p:sp>
      <p:sp>
        <p:nvSpPr>
          <p:cNvPr id="3" name="Text 1"/>
          <p:cNvSpPr/>
          <p:nvPr/>
        </p:nvSpPr>
        <p:spPr>
          <a:xfrm>
            <a:off x="1838457" y="444500"/>
            <a:ext cx="17837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573"/>
                </a:solidFill>
                <a:latin typeface="IBM Plex Sans" pitchFamily="34" charset="0"/>
                <a:ea typeface="IBM Plex Sans" pitchFamily="34" charset="-122"/>
                <a:cs typeface="IBM Plex Sans" pitchFamily="34" charset="-120"/>
              </a:rPr>
              <a:t>Context for the panel</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Candidate Profile &amp; Scope of Impact</a:t>
            </a:r>
            <a:endParaRPr lang="en-US" sz="2400" dirty="0"/>
          </a:p>
        </p:txBody>
      </p:sp>
      <p:sp>
        <p:nvSpPr>
          <p:cNvPr id="5" name="Shape 3"/>
          <p:cNvSpPr/>
          <p:nvPr/>
        </p:nvSpPr>
        <p:spPr>
          <a:xfrm>
            <a:off x="714375" y="1354403"/>
            <a:ext cx="10763250" cy="3135445"/>
          </a:xfrm>
          <a:prstGeom prst="roundRect">
            <a:avLst>
              <a:gd name="adj" fmla="val 2329"/>
            </a:avLst>
          </a:prstGeom>
          <a:solidFill>
            <a:srgbClr val="FBFCFD"/>
          </a:solidFill>
          <a:ln w="6350">
            <a:solidFill>
              <a:srgbClr val="D5DCE4"/>
            </a:solidFill>
            <a:prstDash val="solid"/>
          </a:ln>
        </p:spPr>
      </p:sp>
      <p:sp>
        <p:nvSpPr>
          <p:cNvPr id="6" name="Text 4"/>
          <p:cNvSpPr/>
          <p:nvPr/>
        </p:nvSpPr>
        <p:spPr>
          <a:xfrm>
            <a:off x="893233" y="1545961"/>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Tenure</a:t>
            </a:r>
            <a:endParaRPr lang="en-US" sz="1300" dirty="0"/>
          </a:p>
        </p:txBody>
      </p:sp>
      <p:sp>
        <p:nvSpPr>
          <p:cNvPr id="7" name="Text 5"/>
          <p:cNvSpPr/>
          <p:nvPr/>
        </p:nvSpPr>
        <p:spPr>
          <a:xfrm>
            <a:off x="3052233" y="1545961"/>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Joined March 14, 2022 (4 years 7 months as AVP) with 24+ years of technology leadership.</a:t>
            </a:r>
            <a:endParaRPr lang="en-US" sz="1300" dirty="0"/>
          </a:p>
        </p:txBody>
      </p:sp>
      <p:sp>
        <p:nvSpPr>
          <p:cNvPr id="8" name="Shape 6"/>
          <p:cNvSpPr/>
          <p:nvPr/>
        </p:nvSpPr>
        <p:spPr>
          <a:xfrm>
            <a:off x="893233" y="1919949"/>
            <a:ext cx="2159000" cy="0"/>
          </a:xfrm>
          <a:prstGeom prst="line">
            <a:avLst/>
          </a:prstGeom>
          <a:noFill/>
          <a:ln w="6350">
            <a:solidFill>
              <a:srgbClr val="D5DCE4"/>
            </a:solidFill>
            <a:prstDash val="solid"/>
          </a:ln>
        </p:spPr>
      </p:sp>
      <p:sp>
        <p:nvSpPr>
          <p:cNvPr id="9" name="Text 7"/>
          <p:cNvSpPr/>
          <p:nvPr/>
        </p:nvSpPr>
        <p:spPr>
          <a:xfrm>
            <a:off x="893233" y="2060708"/>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Leadership</a:t>
            </a:r>
            <a:endParaRPr lang="en-US" sz="1300" dirty="0"/>
          </a:p>
        </p:txBody>
      </p:sp>
      <p:sp>
        <p:nvSpPr>
          <p:cNvPr id="10" name="Shape 8"/>
          <p:cNvSpPr/>
          <p:nvPr/>
        </p:nvSpPr>
        <p:spPr>
          <a:xfrm>
            <a:off x="3052233" y="1919949"/>
            <a:ext cx="8246534" cy="0"/>
          </a:xfrm>
          <a:prstGeom prst="line">
            <a:avLst/>
          </a:prstGeom>
          <a:noFill/>
          <a:ln w="6350">
            <a:solidFill>
              <a:srgbClr val="D5DCE4"/>
            </a:solidFill>
            <a:prstDash val="solid"/>
          </a:ln>
        </p:spPr>
      </p:sp>
      <p:sp>
        <p:nvSpPr>
          <p:cNvPr id="11" name="Text 9"/>
          <p:cNvSpPr/>
          <p:nvPr/>
        </p:nvSpPr>
        <p:spPr>
          <a:xfrm>
            <a:off x="3052233" y="2060708"/>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Manages 1 direct report; leads an 8-person distributed engineering team in Pune, Bangalore and London.</a:t>
            </a:r>
            <a:endParaRPr lang="en-US" sz="1300" dirty="0"/>
          </a:p>
        </p:txBody>
      </p:sp>
      <p:sp>
        <p:nvSpPr>
          <p:cNvPr id="12" name="Shape 10"/>
          <p:cNvSpPr/>
          <p:nvPr/>
        </p:nvSpPr>
        <p:spPr>
          <a:xfrm>
            <a:off x="893233" y="2434696"/>
            <a:ext cx="2159000" cy="0"/>
          </a:xfrm>
          <a:prstGeom prst="line">
            <a:avLst/>
          </a:prstGeom>
          <a:noFill/>
          <a:ln w="6350">
            <a:solidFill>
              <a:srgbClr val="D5DCE4"/>
            </a:solidFill>
            <a:prstDash val="solid"/>
          </a:ln>
        </p:spPr>
      </p:sp>
      <p:sp>
        <p:nvSpPr>
          <p:cNvPr id="13" name="Text 11"/>
          <p:cNvSpPr/>
          <p:nvPr/>
        </p:nvSpPr>
        <p:spPr>
          <a:xfrm>
            <a:off x="893233" y="2575454"/>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Scale</a:t>
            </a:r>
            <a:endParaRPr lang="en-US" sz="1300" dirty="0"/>
          </a:p>
        </p:txBody>
      </p:sp>
      <p:sp>
        <p:nvSpPr>
          <p:cNvPr id="14" name="Shape 12"/>
          <p:cNvSpPr/>
          <p:nvPr/>
        </p:nvSpPr>
        <p:spPr>
          <a:xfrm>
            <a:off x="3052233" y="2434696"/>
            <a:ext cx="8246534" cy="0"/>
          </a:xfrm>
          <a:prstGeom prst="line">
            <a:avLst/>
          </a:prstGeom>
          <a:noFill/>
          <a:ln w="6350">
            <a:solidFill>
              <a:srgbClr val="D5DCE4"/>
            </a:solidFill>
            <a:prstDash val="solid"/>
          </a:ln>
        </p:spPr>
      </p:sp>
      <p:sp>
        <p:nvSpPr>
          <p:cNvPr id="15" name="Text 13"/>
          <p:cNvSpPr/>
          <p:nvPr/>
        </p:nvSpPr>
        <p:spPr>
          <a:xfrm>
            <a:off x="3052233" y="2575454"/>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Architect and evolve Fabric, the bank's strategic Hybrid Cloud PaaS platform.</a:t>
            </a:r>
            <a:endParaRPr lang="en-US" sz="1300" dirty="0"/>
          </a:p>
        </p:txBody>
      </p:sp>
      <p:sp>
        <p:nvSpPr>
          <p:cNvPr id="16" name="Shape 14"/>
          <p:cNvSpPr/>
          <p:nvPr/>
        </p:nvSpPr>
        <p:spPr>
          <a:xfrm>
            <a:off x="893233" y="2949443"/>
            <a:ext cx="2159000" cy="0"/>
          </a:xfrm>
          <a:prstGeom prst="line">
            <a:avLst/>
          </a:prstGeom>
          <a:noFill/>
          <a:ln w="6350">
            <a:solidFill>
              <a:srgbClr val="D5DCE4"/>
            </a:solidFill>
            <a:prstDash val="solid"/>
          </a:ln>
        </p:spPr>
      </p:sp>
      <p:sp>
        <p:nvSpPr>
          <p:cNvPr id="17" name="Text 15"/>
          <p:cNvSpPr/>
          <p:nvPr/>
        </p:nvSpPr>
        <p:spPr>
          <a:xfrm>
            <a:off x="893233" y="3090201"/>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Impact</a:t>
            </a:r>
            <a:endParaRPr lang="en-US" sz="1300" dirty="0"/>
          </a:p>
        </p:txBody>
      </p:sp>
      <p:sp>
        <p:nvSpPr>
          <p:cNvPr id="18" name="Shape 16"/>
          <p:cNvSpPr/>
          <p:nvPr/>
        </p:nvSpPr>
        <p:spPr>
          <a:xfrm>
            <a:off x="3052233" y="2949443"/>
            <a:ext cx="8246534" cy="0"/>
          </a:xfrm>
          <a:prstGeom prst="line">
            <a:avLst/>
          </a:prstGeom>
          <a:noFill/>
          <a:ln w="6350">
            <a:solidFill>
              <a:srgbClr val="D5DCE4"/>
            </a:solidFill>
            <a:prstDash val="solid"/>
          </a:ln>
        </p:spPr>
      </p:sp>
      <p:sp>
        <p:nvSpPr>
          <p:cNvPr id="19" name="Text 17"/>
          <p:cNvSpPr/>
          <p:nvPr/>
        </p:nvSpPr>
        <p:spPr>
          <a:xfrm>
            <a:off x="3052233" y="3090201"/>
            <a:ext cx="84939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Foundational infrastructure for 600+ applications across 200+ business teams (~30% of the application estate).</a:t>
            </a:r>
            <a:endParaRPr lang="en-US" sz="1300" dirty="0"/>
          </a:p>
        </p:txBody>
      </p:sp>
      <p:sp>
        <p:nvSpPr>
          <p:cNvPr id="20" name="Shape 18"/>
          <p:cNvSpPr/>
          <p:nvPr/>
        </p:nvSpPr>
        <p:spPr>
          <a:xfrm>
            <a:off x="893233" y="3695303"/>
            <a:ext cx="2159000" cy="0"/>
          </a:xfrm>
          <a:prstGeom prst="line">
            <a:avLst/>
          </a:prstGeom>
          <a:noFill/>
          <a:ln w="6350">
            <a:solidFill>
              <a:srgbClr val="D5DCE4"/>
            </a:solidFill>
            <a:prstDash val="solid"/>
          </a:ln>
        </p:spPr>
      </p:sp>
      <p:sp>
        <p:nvSpPr>
          <p:cNvPr id="21" name="Text 19"/>
          <p:cNvSpPr/>
          <p:nvPr/>
        </p:nvSpPr>
        <p:spPr>
          <a:xfrm>
            <a:off x="893233" y="3836062"/>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Mission-critical</a:t>
            </a:r>
            <a:endParaRPr lang="en-US" sz="1300" dirty="0"/>
          </a:p>
        </p:txBody>
      </p:sp>
      <p:sp>
        <p:nvSpPr>
          <p:cNvPr id="22" name="Shape 20"/>
          <p:cNvSpPr/>
          <p:nvPr/>
        </p:nvSpPr>
        <p:spPr>
          <a:xfrm>
            <a:off x="3052233" y="3695303"/>
            <a:ext cx="8246534" cy="0"/>
          </a:xfrm>
          <a:prstGeom prst="line">
            <a:avLst/>
          </a:prstGeom>
          <a:noFill/>
          <a:ln w="6350">
            <a:solidFill>
              <a:srgbClr val="D5DCE4"/>
            </a:solidFill>
            <a:prstDash val="solid"/>
          </a:ln>
        </p:spPr>
      </p:sp>
      <p:sp>
        <p:nvSpPr>
          <p:cNvPr id="23" name="Text 21"/>
          <p:cNvSpPr/>
          <p:nvPr/>
        </p:nvSpPr>
        <p:spPr>
          <a:xfrm>
            <a:off x="3052233" y="3836062"/>
            <a:ext cx="84939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Platform decisions directly impact production stability, cross-geography operations, regulatory compliance and cloud-first strategy.</a:t>
            </a:r>
            <a:endParaRPr lang="en-US" sz="1300" dirty="0"/>
          </a:p>
        </p:txBody>
      </p:sp>
      <p:sp>
        <p:nvSpPr>
          <p:cNvPr id="24" name="Text 22"/>
          <p:cNvSpPr/>
          <p:nvPr/>
        </p:nvSpPr>
        <p:spPr>
          <a:xfrm>
            <a:off x="711200" y="6289080"/>
            <a:ext cx="2386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VP Assessment</a:t>
            </a:r>
            <a:endParaRPr lang="en-US" sz="1200" dirty="0"/>
          </a:p>
        </p:txBody>
      </p:sp>
      <p:sp>
        <p:nvSpPr>
          <p:cNvPr id="25" name="Text 23"/>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918104"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THINKS</a:t>
            </a:r>
            <a:endParaRPr lang="en-US" sz="1200" dirty="0"/>
          </a:p>
        </p:txBody>
      </p:sp>
      <p:sp>
        <p:nvSpPr>
          <p:cNvPr id="3" name="Text 1"/>
          <p:cNvSpPr/>
          <p:nvPr/>
        </p:nvSpPr>
        <p:spPr>
          <a:xfrm>
            <a:off x="1756304" y="444500"/>
            <a:ext cx="13279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4" name="Text 2"/>
          <p:cNvSpPr/>
          <p:nvPr>
            <p:ph type="title"/>
          </p:nvPr>
        </p:nvSpPr>
        <p:spPr>
          <a:xfrm>
            <a:off x="711200" y="848320"/>
            <a:ext cx="11092688" cy="726414"/>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Strategic Problem Solving, Diverse Perspectives, and Architectural Evolution</a:t>
            </a:r>
            <a:endParaRPr lang="en-US" sz="2400" dirty="0"/>
          </a:p>
        </p:txBody>
      </p:sp>
      <p:sp>
        <p:nvSpPr>
          <p:cNvPr id="5" name="Shape 3"/>
          <p:cNvSpPr/>
          <p:nvPr/>
        </p:nvSpPr>
        <p:spPr>
          <a:xfrm>
            <a:off x="714375" y="1704910"/>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832967"/>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832967"/>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832967"/>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2125663"/>
            <a:ext cx="2540000" cy="0"/>
          </a:xfrm>
          <a:prstGeom prst="line">
            <a:avLst/>
          </a:prstGeom>
          <a:noFill/>
          <a:ln w="6350">
            <a:solidFill>
              <a:srgbClr val="D5DCE4"/>
            </a:solidFill>
            <a:prstDash val="solid"/>
          </a:ln>
        </p:spPr>
      </p:sp>
      <p:sp>
        <p:nvSpPr>
          <p:cNvPr id="10" name="Text 8"/>
          <p:cNvSpPr/>
          <p:nvPr/>
        </p:nvSpPr>
        <p:spPr>
          <a:xfrm>
            <a:off x="893233" y="2241021"/>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Unified ACM Hub Redesign (ACM Segregation)</a:t>
            </a:r>
            <a:endParaRPr lang="en-US" sz="1300" dirty="0"/>
          </a:p>
        </p:txBody>
      </p:sp>
      <p:sp>
        <p:nvSpPr>
          <p:cNvPr id="11" name="Shape 9"/>
          <p:cNvSpPr/>
          <p:nvPr/>
        </p:nvSpPr>
        <p:spPr>
          <a:xfrm>
            <a:off x="3433233" y="2125663"/>
            <a:ext cx="5071533" cy="0"/>
          </a:xfrm>
          <a:prstGeom prst="line">
            <a:avLst/>
          </a:prstGeom>
          <a:noFill/>
          <a:ln w="6350">
            <a:solidFill>
              <a:srgbClr val="D5DCE4"/>
            </a:solidFill>
            <a:prstDash val="solid"/>
          </a:ln>
        </p:spPr>
      </p:sp>
      <p:sp>
        <p:nvSpPr>
          <p:cNvPr id="12" name="Text 10"/>
          <p:cNvSpPr/>
          <p:nvPr/>
        </p:nvSpPr>
        <p:spPr>
          <a:xfrm>
            <a:off x="3433233" y="2241021"/>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Designed a segregated topology with separate ACM-Dev and ACM-UAT hub clusters, eliminating risk cascading across 36 clusters.</a:t>
            </a:r>
            <a:endParaRPr lang="en-US" sz="1300" dirty="0"/>
          </a:p>
        </p:txBody>
      </p:sp>
      <p:sp>
        <p:nvSpPr>
          <p:cNvPr id="13" name="Shape 11"/>
          <p:cNvSpPr/>
          <p:nvPr/>
        </p:nvSpPr>
        <p:spPr>
          <a:xfrm>
            <a:off x="8504767" y="2125663"/>
            <a:ext cx="2794000" cy="0"/>
          </a:xfrm>
          <a:prstGeom prst="line">
            <a:avLst/>
          </a:prstGeom>
          <a:noFill/>
          <a:ln w="6350">
            <a:solidFill>
              <a:srgbClr val="D5DCE4"/>
            </a:solidFill>
            <a:prstDash val="solid"/>
          </a:ln>
        </p:spPr>
      </p:sp>
      <p:sp>
        <p:nvSpPr>
          <p:cNvPr id="14" name="Text 12"/>
          <p:cNvSpPr/>
          <p:nvPr/>
        </p:nvSpPr>
        <p:spPr>
          <a:xfrm>
            <a:off x="8504767" y="2241021"/>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ACM Segregation JIRA</a:t>
            </a:r>
            <a:endParaRPr lang="en-US" sz="1200" dirty="0"/>
          </a:p>
        </p:txBody>
      </p:sp>
      <p:sp>
        <p:nvSpPr>
          <p:cNvPr id="15" name="Shape 13"/>
          <p:cNvSpPr/>
          <p:nvPr/>
        </p:nvSpPr>
        <p:spPr>
          <a:xfrm>
            <a:off x="893233" y="2820724"/>
            <a:ext cx="2540000" cy="0"/>
          </a:xfrm>
          <a:prstGeom prst="line">
            <a:avLst/>
          </a:prstGeom>
          <a:noFill/>
          <a:ln w="6350">
            <a:solidFill>
              <a:srgbClr val="D5DCE4"/>
            </a:solidFill>
            <a:prstDash val="solid"/>
          </a:ln>
        </p:spPr>
      </p:sp>
      <p:sp>
        <p:nvSpPr>
          <p:cNvPr id="16" name="Text 14"/>
          <p:cNvSpPr/>
          <p:nvPr/>
        </p:nvSpPr>
        <p:spPr>
          <a:xfrm>
            <a:off x="893233" y="2936081"/>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Observability Modernization (MLA Strategy)</a:t>
            </a:r>
            <a:endParaRPr lang="en-US" sz="1300" dirty="0"/>
          </a:p>
        </p:txBody>
      </p:sp>
      <p:sp>
        <p:nvSpPr>
          <p:cNvPr id="17" name="Shape 15"/>
          <p:cNvSpPr/>
          <p:nvPr/>
        </p:nvSpPr>
        <p:spPr>
          <a:xfrm>
            <a:off x="3433233" y="2820724"/>
            <a:ext cx="5071533" cy="0"/>
          </a:xfrm>
          <a:prstGeom prst="line">
            <a:avLst/>
          </a:prstGeom>
          <a:noFill/>
          <a:ln w="6350">
            <a:solidFill>
              <a:srgbClr val="D5DCE4"/>
            </a:solidFill>
            <a:prstDash val="solid"/>
          </a:ln>
        </p:spPr>
      </p:sp>
      <p:sp>
        <p:nvSpPr>
          <p:cNvPr id="18" name="Text 16"/>
          <p:cNvSpPr/>
          <p:nvPr/>
        </p:nvSpPr>
        <p:spPr>
          <a:xfrm>
            <a:off x="3433233" y="2936081"/>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Formed namespace-level visibility models and led the migration of logging frameworks to GCP Cloud Logging.</a:t>
            </a:r>
            <a:endParaRPr lang="en-US" sz="1300" dirty="0"/>
          </a:p>
        </p:txBody>
      </p:sp>
      <p:sp>
        <p:nvSpPr>
          <p:cNvPr id="19" name="Shape 17"/>
          <p:cNvSpPr/>
          <p:nvPr/>
        </p:nvSpPr>
        <p:spPr>
          <a:xfrm>
            <a:off x="8504767" y="2820724"/>
            <a:ext cx="2794000" cy="0"/>
          </a:xfrm>
          <a:prstGeom prst="line">
            <a:avLst/>
          </a:prstGeom>
          <a:noFill/>
          <a:ln w="6350">
            <a:solidFill>
              <a:srgbClr val="D5DCE4"/>
            </a:solidFill>
            <a:prstDash val="solid"/>
          </a:ln>
        </p:spPr>
      </p:sp>
      <p:sp>
        <p:nvSpPr>
          <p:cNvPr id="20" name="Text 18"/>
          <p:cNvSpPr/>
          <p:nvPr/>
        </p:nvSpPr>
        <p:spPr>
          <a:xfrm>
            <a:off x="8504767" y="2936081"/>
            <a:ext cx="287782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MLA Strategy Confluence</a:t>
            </a:r>
            <a:endParaRPr lang="en-US" sz="1200" dirty="0"/>
          </a:p>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MLA Policy JIRA</a:t>
            </a:r>
            <a:endParaRPr lang="en-US" sz="1200" dirty="0"/>
          </a:p>
        </p:txBody>
      </p:sp>
      <p:sp>
        <p:nvSpPr>
          <p:cNvPr id="21" name="Shape 19"/>
          <p:cNvSpPr/>
          <p:nvPr/>
        </p:nvSpPr>
        <p:spPr>
          <a:xfrm>
            <a:off x="893233" y="3515784"/>
            <a:ext cx="2540000" cy="0"/>
          </a:xfrm>
          <a:prstGeom prst="line">
            <a:avLst/>
          </a:prstGeom>
          <a:noFill/>
          <a:ln w="6350">
            <a:solidFill>
              <a:srgbClr val="D5DCE4"/>
            </a:solidFill>
            <a:prstDash val="solid"/>
          </a:ln>
        </p:spPr>
      </p:sp>
      <p:sp>
        <p:nvSpPr>
          <p:cNvPr id="22" name="Text 20"/>
          <p:cNvSpPr/>
          <p:nvPr/>
        </p:nvSpPr>
        <p:spPr>
          <a:xfrm>
            <a:off x="893233" y="3631143"/>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Policy Standardization &amp; Governance</a:t>
            </a:r>
            <a:endParaRPr lang="en-US" sz="1300" dirty="0"/>
          </a:p>
        </p:txBody>
      </p:sp>
      <p:sp>
        <p:nvSpPr>
          <p:cNvPr id="23" name="Shape 21"/>
          <p:cNvSpPr/>
          <p:nvPr/>
        </p:nvSpPr>
        <p:spPr>
          <a:xfrm>
            <a:off x="3433233" y="3515784"/>
            <a:ext cx="5071533" cy="0"/>
          </a:xfrm>
          <a:prstGeom prst="line">
            <a:avLst/>
          </a:prstGeom>
          <a:noFill/>
          <a:ln w="6350">
            <a:solidFill>
              <a:srgbClr val="D5DCE4"/>
            </a:solidFill>
            <a:prstDash val="solid"/>
          </a:ln>
        </p:spPr>
      </p:sp>
      <p:sp>
        <p:nvSpPr>
          <p:cNvPr id="24" name="Text 22"/>
          <p:cNvSpPr/>
          <p:nvPr/>
        </p:nvSpPr>
        <p:spPr>
          <a:xfrm>
            <a:off x="3433233" y="3631143"/>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Audited and consolidated 70+ non-compliant policies, establishing a GitOps-based declarative policy workflow.</a:t>
            </a:r>
            <a:endParaRPr lang="en-US" sz="1300" dirty="0"/>
          </a:p>
        </p:txBody>
      </p:sp>
      <p:sp>
        <p:nvSpPr>
          <p:cNvPr id="25" name="Shape 23"/>
          <p:cNvSpPr/>
          <p:nvPr/>
        </p:nvSpPr>
        <p:spPr>
          <a:xfrm>
            <a:off x="8504767" y="3515784"/>
            <a:ext cx="2794000" cy="0"/>
          </a:xfrm>
          <a:prstGeom prst="line">
            <a:avLst/>
          </a:prstGeom>
          <a:noFill/>
          <a:ln w="6350">
            <a:solidFill>
              <a:srgbClr val="D5DCE4"/>
            </a:solidFill>
            <a:prstDash val="solid"/>
          </a:ln>
        </p:spPr>
      </p:sp>
      <p:sp>
        <p:nvSpPr>
          <p:cNvPr id="26" name="Text 24"/>
          <p:cNvSpPr/>
          <p:nvPr/>
        </p:nvSpPr>
        <p:spPr>
          <a:xfrm>
            <a:off x="8504767" y="3631143"/>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Policy Audit JIRA</a:t>
            </a:r>
            <a:endParaRPr lang="en-US" sz="1200" dirty="0"/>
          </a:p>
        </p:txBody>
      </p:sp>
      <p:sp>
        <p:nvSpPr>
          <p:cNvPr id="27" name="Shape 25"/>
          <p:cNvSpPr/>
          <p:nvPr/>
        </p:nvSpPr>
        <p:spPr>
          <a:xfrm>
            <a:off x="711200" y="4415103"/>
            <a:ext cx="10769600" cy="881261"/>
          </a:xfrm>
          <a:prstGeom prst="roundRect">
            <a:avLst>
              <a:gd name="adj" fmla="val 2882"/>
            </a:avLst>
          </a:prstGeom>
          <a:solidFill>
            <a:srgbClr val="F6EBDD"/>
          </a:solidFill>
          <a:ln/>
        </p:spPr>
      </p:sp>
      <p:sp>
        <p:nvSpPr>
          <p:cNvPr id="28" name="Shape 26"/>
          <p:cNvSpPr/>
          <p:nvPr/>
        </p:nvSpPr>
        <p:spPr>
          <a:xfrm>
            <a:off x="711200" y="4415103"/>
            <a:ext cx="10769600" cy="881261"/>
          </a:xfrm>
          <a:custGeom>
            <a:avLst/>
            <a:gdLst/>
            <a:ahLst/>
            <a:cxnLst/>
            <a:rect l="l" t="t" r="r" b="b"/>
            <a:pathLst>
              <a:path w="10769600" h="881261">
                <a:moveTo>
                  <a:pt x="38100" y="881261"/>
                </a:moveTo>
                <a:lnTo>
                  <a:pt x="25400" y="881261"/>
                </a:lnTo>
                <a:arcTo hR="25400" wR="25400" stAng="5400000" swAng="5400000"/>
                <a:lnTo>
                  <a:pt x="0" y="25400"/>
                </a:lnTo>
                <a:arcTo hR="25400" wR="25400" stAng="10800000" swAng="5400000"/>
                <a:lnTo>
                  <a:pt x="38100" y="0"/>
                </a:lnTo>
                <a:lnTo>
                  <a:pt x="38100" y="881261"/>
                </a:lnTo>
                <a:close/>
              </a:path>
            </a:pathLst>
          </a:custGeom>
          <a:solidFill>
            <a:srgbClr val="A4520F"/>
          </a:solidFill>
          <a:ln/>
        </p:spPr>
      </p:sp>
      <p:sp>
        <p:nvSpPr>
          <p:cNvPr id="29" name="Text 27"/>
          <p:cNvSpPr/>
          <p:nvPr/>
        </p:nvSpPr>
        <p:spPr>
          <a:xfrm>
            <a:off x="927100" y="4516703"/>
            <a:ext cx="1068717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Assumption challenged:</a:t>
            </a:r>
            <a:r>
              <a:rPr lang="en-US" sz="1200" dirty="0">
                <a:solidFill>
                  <a:srgbClr val="2B2F36"/>
                </a:solidFill>
                <a:latin typeface="IBM Plex Sans" pitchFamily="34" charset="0"/>
                <a:ea typeface="IBM Plex Sans" pitchFamily="34" charset="-122"/>
                <a:cs typeface="IBM Plex Sans" pitchFamily="34" charset="-120"/>
              </a:rPr>
              <a:t> Challenged the single shared ACM hub, under which any non-production change implemented on ACM-Prod put the 15+ production clusters at risk.</a:t>
            </a:r>
            <a:endParaRPr lang="en-US" sz="1200" dirty="0"/>
          </a:p>
        </p:txBody>
      </p:sp>
      <p:sp>
        <p:nvSpPr>
          <p:cNvPr id="30" name="Text 28"/>
          <p:cNvSpPr/>
          <p:nvPr/>
        </p:nvSpPr>
        <p:spPr>
          <a:xfrm>
            <a:off x="927100" y="4981443"/>
            <a:ext cx="10687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Divisional impact:</a:t>
            </a:r>
            <a:r>
              <a:rPr lang="en-US" sz="1200" dirty="0">
                <a:solidFill>
                  <a:srgbClr val="2B2F36"/>
                </a:solidFill>
                <a:latin typeface="IBM Plex Sans" pitchFamily="34" charset="0"/>
                <a:ea typeface="IBM Plex Sans" pitchFamily="34" charset="-122"/>
                <a:cs typeface="IBM Plex Sans" pitchFamily="34" charset="-120"/>
              </a:rPr>
              <a:t> A segregated ACM control plane, GitOps-governed policies and GCP Cloud Logging across the Fabric platform.</a:t>
            </a:r>
            <a:endParaRPr lang="en-US" sz="1200" dirty="0"/>
          </a:p>
        </p:txBody>
      </p:sp>
      <p:sp>
        <p:nvSpPr>
          <p:cNvPr id="31" name="Text 29"/>
          <p:cNvSpPr/>
          <p:nvPr/>
        </p:nvSpPr>
        <p:spPr>
          <a:xfrm>
            <a:off x="711200" y="6289080"/>
            <a:ext cx="2254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Thinks</a:t>
            </a:r>
            <a:endParaRPr lang="en-US" sz="1200" dirty="0"/>
          </a:p>
        </p:txBody>
      </p:sp>
      <p:sp>
        <p:nvSpPr>
          <p:cNvPr id="32" name="Text 30"/>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71430"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ENGAGES</a:t>
            </a:r>
            <a:endParaRPr lang="en-US" sz="1200" dirty="0"/>
          </a:p>
        </p:txBody>
      </p:sp>
      <p:sp>
        <p:nvSpPr>
          <p:cNvPr id="3" name="Text 1"/>
          <p:cNvSpPr/>
          <p:nvPr/>
        </p:nvSpPr>
        <p:spPr>
          <a:xfrm>
            <a:off x="1909630"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480800"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Team Leadership, Cross-Divisional Collaboration, and Talent Development</a:t>
            </a:r>
            <a:endParaRPr lang="en-US" sz="2400" dirty="0"/>
          </a:p>
        </p:txBody>
      </p:sp>
      <p:sp>
        <p:nvSpPr>
          <p:cNvPr id="5" name="Shape 3"/>
          <p:cNvSpPr/>
          <p:nvPr/>
        </p:nvSpPr>
        <p:spPr>
          <a:xfrm>
            <a:off x="714375" y="1354403"/>
            <a:ext cx="10763250" cy="3249679"/>
          </a:xfrm>
          <a:prstGeom prst="roundRect">
            <a:avLst>
              <a:gd name="adj" fmla="val 2247"/>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Team Leadership</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Runs sprint planning, manages velocity, and matches tasks to capability.</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Sprint Velocity JIRA</a:t>
            </a:r>
            <a:endParaRPr lang="en-US" sz="1200" dirty="0"/>
          </a:p>
        </p:txBody>
      </p:sp>
      <p:sp>
        <p:nvSpPr>
          <p:cNvPr id="15" name="Shape 13"/>
          <p:cNvSpPr/>
          <p:nvPr/>
        </p:nvSpPr>
        <p:spPr>
          <a:xfrm>
            <a:off x="893233" y="2470217"/>
            <a:ext cx="2540000" cy="0"/>
          </a:xfrm>
          <a:prstGeom prst="line">
            <a:avLst/>
          </a:prstGeom>
          <a:noFill/>
          <a:ln w="6350">
            <a:solidFill>
              <a:srgbClr val="D5DCE4"/>
            </a:solidFill>
            <a:prstDash val="solid"/>
          </a:ln>
        </p:spPr>
      </p:sp>
      <p:sp>
        <p:nvSpPr>
          <p:cNvPr id="16" name="Text 14"/>
          <p:cNvSpPr/>
          <p:nvPr/>
        </p:nvSpPr>
        <p:spPr>
          <a:xfrm>
            <a:off x="893233" y="258557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AI Community Mentoring</a:t>
            </a:r>
            <a:endParaRPr lang="en-US" sz="1300" dirty="0"/>
          </a:p>
        </p:txBody>
      </p:sp>
      <p:sp>
        <p:nvSpPr>
          <p:cNvPr id="17" name="Shape 15"/>
          <p:cNvSpPr/>
          <p:nvPr/>
        </p:nvSpPr>
        <p:spPr>
          <a:xfrm>
            <a:off x="3433233" y="2470217"/>
            <a:ext cx="5071533" cy="0"/>
          </a:xfrm>
          <a:prstGeom prst="line">
            <a:avLst/>
          </a:prstGeom>
          <a:noFill/>
          <a:ln w="6350">
            <a:solidFill>
              <a:srgbClr val="D5DCE4"/>
            </a:solidFill>
            <a:prstDash val="solid"/>
          </a:ln>
        </p:spPr>
      </p:sp>
      <p:sp>
        <p:nvSpPr>
          <p:cNvPr id="18" name="Text 16"/>
          <p:cNvSpPr/>
          <p:nvPr/>
        </p:nvSpPr>
        <p:spPr>
          <a:xfrm>
            <a:off x="3433233" y="258557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Mentors engineers from other divisions on GCP AI/ML deployment best practices.</a:t>
            </a:r>
            <a:endParaRPr lang="en-US" sz="1300" dirty="0"/>
          </a:p>
        </p:txBody>
      </p:sp>
      <p:sp>
        <p:nvSpPr>
          <p:cNvPr id="19" name="Shape 17"/>
          <p:cNvSpPr/>
          <p:nvPr/>
        </p:nvSpPr>
        <p:spPr>
          <a:xfrm>
            <a:off x="8504767" y="2470217"/>
            <a:ext cx="2794000" cy="0"/>
          </a:xfrm>
          <a:prstGeom prst="line">
            <a:avLst/>
          </a:prstGeom>
          <a:noFill/>
          <a:ln w="6350">
            <a:solidFill>
              <a:srgbClr val="D5DCE4"/>
            </a:solidFill>
            <a:prstDash val="solid"/>
          </a:ln>
        </p:spPr>
      </p:sp>
      <p:sp>
        <p:nvSpPr>
          <p:cNvPr id="20" name="Text 18"/>
          <p:cNvSpPr/>
          <p:nvPr/>
        </p:nvSpPr>
        <p:spPr>
          <a:xfrm>
            <a:off x="8504767" y="258557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 Mentors Confluence</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5"/>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Graduate Trainee Enablement</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5"/>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Guided Atharva Honrao from graduate to productive platform engineer, supporting Google AI certifications.</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5"/>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Graduate Onboarding Slides</a:t>
            </a:r>
            <a:endParaRPr lang="en-US" sz="1200" dirty="0"/>
          </a:p>
        </p:txBody>
      </p:sp>
      <p:sp>
        <p:nvSpPr>
          <p:cNvPr id="27" name="Shape 25"/>
          <p:cNvSpPr/>
          <p:nvPr/>
        </p:nvSpPr>
        <p:spPr>
          <a:xfrm>
            <a:off x="893233" y="3860338"/>
            <a:ext cx="2540000" cy="0"/>
          </a:xfrm>
          <a:prstGeom prst="line">
            <a:avLst/>
          </a:prstGeom>
          <a:noFill/>
          <a:ln w="6350">
            <a:solidFill>
              <a:srgbClr val="D5DCE4"/>
            </a:solidFill>
            <a:prstDash val="solid"/>
          </a:ln>
        </p:spPr>
      </p:sp>
      <p:sp>
        <p:nvSpPr>
          <p:cNvPr id="28" name="Text 26"/>
          <p:cNvSpPr/>
          <p:nvPr/>
        </p:nvSpPr>
        <p:spPr>
          <a:xfrm>
            <a:off x="893233" y="3975695"/>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Operations Enablement</a:t>
            </a:r>
            <a:endParaRPr lang="en-US" sz="1300" dirty="0"/>
          </a:p>
        </p:txBody>
      </p:sp>
      <p:sp>
        <p:nvSpPr>
          <p:cNvPr id="29" name="Shape 27"/>
          <p:cNvSpPr/>
          <p:nvPr/>
        </p:nvSpPr>
        <p:spPr>
          <a:xfrm>
            <a:off x="3433233" y="3860338"/>
            <a:ext cx="5071533" cy="0"/>
          </a:xfrm>
          <a:prstGeom prst="line">
            <a:avLst/>
          </a:prstGeom>
          <a:noFill/>
          <a:ln w="6350">
            <a:solidFill>
              <a:srgbClr val="D5DCE4"/>
            </a:solidFill>
            <a:prstDash val="solid"/>
          </a:ln>
        </p:spPr>
      </p:sp>
      <p:sp>
        <p:nvSpPr>
          <p:cNvPr id="30" name="Text 28"/>
          <p:cNvSpPr/>
          <p:nvPr/>
        </p:nvSpPr>
        <p:spPr>
          <a:xfrm>
            <a:off x="3433233" y="3975695"/>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Executed 5-day Terraform &amp; GitOps hands-on training to remove deployment bottlenecks.</a:t>
            </a:r>
            <a:endParaRPr lang="en-US" sz="1300" dirty="0"/>
          </a:p>
        </p:txBody>
      </p:sp>
      <p:sp>
        <p:nvSpPr>
          <p:cNvPr id="31" name="Shape 29"/>
          <p:cNvSpPr/>
          <p:nvPr/>
        </p:nvSpPr>
        <p:spPr>
          <a:xfrm>
            <a:off x="8504767" y="3860338"/>
            <a:ext cx="2794000" cy="0"/>
          </a:xfrm>
          <a:prstGeom prst="line">
            <a:avLst/>
          </a:prstGeom>
          <a:noFill/>
          <a:ln w="6350">
            <a:solidFill>
              <a:srgbClr val="D5DCE4"/>
            </a:solidFill>
            <a:prstDash val="solid"/>
          </a:ln>
        </p:spPr>
      </p:sp>
      <p:sp>
        <p:nvSpPr>
          <p:cNvPr id="32" name="Text 30"/>
          <p:cNvSpPr/>
          <p:nvPr/>
        </p:nvSpPr>
        <p:spPr>
          <a:xfrm>
            <a:off x="8504767" y="3975695"/>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Operations Training Feedback</a:t>
            </a:r>
            <a:endParaRPr lang="en-US" sz="1200" dirty="0"/>
          </a:p>
        </p:txBody>
      </p:sp>
      <p:sp>
        <p:nvSpPr>
          <p:cNvPr id="33" name="Text 31"/>
          <p:cNvSpPr/>
          <p:nvPr/>
        </p:nvSpPr>
        <p:spPr>
          <a:xfrm>
            <a:off x="711200" y="6289080"/>
            <a:ext cx="2401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Engages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355659"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INFLUENCES</a:t>
            </a:r>
            <a:endParaRPr lang="en-US" sz="1200" dirty="0"/>
          </a:p>
        </p:txBody>
      </p:sp>
      <p:sp>
        <p:nvSpPr>
          <p:cNvPr id="3" name="Text 1"/>
          <p:cNvSpPr/>
          <p:nvPr/>
        </p:nvSpPr>
        <p:spPr>
          <a:xfrm>
            <a:off x="2193859"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Stakeholder De-Escalation, Conflict Resolution, and Technical Authority</a:t>
            </a:r>
            <a:endParaRPr lang="en-US" sz="2400" dirty="0"/>
          </a:p>
        </p:txBody>
      </p:sp>
      <p:sp>
        <p:nvSpPr>
          <p:cNvPr id="5" name="Shape 3"/>
          <p:cNvSpPr/>
          <p:nvPr/>
        </p:nvSpPr>
        <p:spPr>
          <a:xfrm>
            <a:off x="714375" y="1354404"/>
            <a:ext cx="10763250" cy="3479073"/>
          </a:xfrm>
          <a:prstGeom prst="roundRect">
            <a:avLst>
              <a:gd name="adj" fmla="val 2099"/>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MD/Director Conflict Resolution</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Led a technical briefing for senior leaders to clarify OCP4 certificate workflows, resolving friction over a $1.69B critical payments outage.</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P1 Certificate Workflow</a:t>
            </a:r>
            <a:endParaRPr lang="en-US" sz="1200" dirty="0"/>
          </a:p>
        </p:txBody>
      </p:sp>
      <p:sp>
        <p:nvSpPr>
          <p:cNvPr id="15" name="Shape 13"/>
          <p:cNvSpPr/>
          <p:nvPr/>
        </p:nvSpPr>
        <p:spPr>
          <a:xfrm>
            <a:off x="893233" y="2701330"/>
            <a:ext cx="2540000" cy="0"/>
          </a:xfrm>
          <a:prstGeom prst="line">
            <a:avLst/>
          </a:prstGeom>
          <a:noFill/>
          <a:ln w="6350">
            <a:solidFill>
              <a:srgbClr val="D5DCE4"/>
            </a:solidFill>
            <a:prstDash val="solid"/>
          </a:ln>
        </p:spPr>
      </p:sp>
      <p:sp>
        <p:nvSpPr>
          <p:cNvPr id="16" name="Text 14"/>
          <p:cNvSpPr/>
          <p:nvPr/>
        </p:nvSpPr>
        <p:spPr>
          <a:xfrm>
            <a:off x="893233" y="2816690"/>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IPSec Production Remediation</a:t>
            </a:r>
            <a:endParaRPr lang="en-US" sz="1300" dirty="0"/>
          </a:p>
        </p:txBody>
      </p:sp>
      <p:sp>
        <p:nvSpPr>
          <p:cNvPr id="17" name="Shape 15"/>
          <p:cNvSpPr/>
          <p:nvPr/>
        </p:nvSpPr>
        <p:spPr>
          <a:xfrm>
            <a:off x="3433233" y="2701330"/>
            <a:ext cx="5071533" cy="0"/>
          </a:xfrm>
          <a:prstGeom prst="line">
            <a:avLst/>
          </a:prstGeom>
          <a:noFill/>
          <a:ln w="6350">
            <a:solidFill>
              <a:srgbClr val="D5DCE4"/>
            </a:solidFill>
            <a:prstDash val="solid"/>
          </a:ln>
        </p:spPr>
      </p:sp>
      <p:sp>
        <p:nvSpPr>
          <p:cNvPr id="18" name="Text 16"/>
          <p:cNvSpPr/>
          <p:nvPr/>
        </p:nvSpPr>
        <p:spPr>
          <a:xfrm>
            <a:off x="3433233" y="2816690"/>
            <a:ext cx="506670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De-escalated a Director-level escalation over a 3-month IPSec encryption gap on production cluster 'degcpp1' through structured task execution plans.</a:t>
            </a:r>
            <a:endParaRPr lang="en-US" sz="1300" dirty="0"/>
          </a:p>
        </p:txBody>
      </p:sp>
      <p:sp>
        <p:nvSpPr>
          <p:cNvPr id="19" name="Shape 17"/>
          <p:cNvSpPr/>
          <p:nvPr/>
        </p:nvSpPr>
        <p:spPr>
          <a:xfrm>
            <a:off x="8504767" y="2701330"/>
            <a:ext cx="2794000" cy="0"/>
          </a:xfrm>
          <a:prstGeom prst="line">
            <a:avLst/>
          </a:prstGeom>
          <a:noFill/>
          <a:ln w="6350">
            <a:solidFill>
              <a:srgbClr val="D5DCE4"/>
            </a:solidFill>
            <a:prstDash val="solid"/>
          </a:ln>
        </p:spPr>
      </p:sp>
      <p:sp>
        <p:nvSpPr>
          <p:cNvPr id="20" name="Text 18"/>
          <p:cNvSpPr/>
          <p:nvPr/>
        </p:nvSpPr>
        <p:spPr>
          <a:xfrm>
            <a:off x="8504767" y="2816690"/>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IPSec Status Email</a:t>
            </a:r>
            <a:endParaRPr lang="en-US" sz="1200" dirty="0"/>
          </a:p>
        </p:txBody>
      </p:sp>
      <p:sp>
        <p:nvSpPr>
          <p:cNvPr id="21" name="Shape 19"/>
          <p:cNvSpPr/>
          <p:nvPr/>
        </p:nvSpPr>
        <p:spPr>
          <a:xfrm>
            <a:off x="893233" y="3627506"/>
            <a:ext cx="2540000" cy="0"/>
          </a:xfrm>
          <a:prstGeom prst="line">
            <a:avLst/>
          </a:prstGeom>
          <a:noFill/>
          <a:ln w="6350">
            <a:solidFill>
              <a:srgbClr val="D5DCE4"/>
            </a:solidFill>
            <a:prstDash val="solid"/>
          </a:ln>
        </p:spPr>
      </p:sp>
      <p:sp>
        <p:nvSpPr>
          <p:cNvPr id="22" name="Text 20"/>
          <p:cNvSpPr/>
          <p:nvPr/>
        </p:nvSpPr>
        <p:spPr>
          <a:xfrm>
            <a:off x="893233" y="3742863"/>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Prisma False Positive Guidance</a:t>
            </a:r>
            <a:endParaRPr lang="en-US" sz="1300" dirty="0"/>
          </a:p>
        </p:txBody>
      </p:sp>
      <p:sp>
        <p:nvSpPr>
          <p:cNvPr id="23" name="Shape 21"/>
          <p:cNvSpPr/>
          <p:nvPr/>
        </p:nvSpPr>
        <p:spPr>
          <a:xfrm>
            <a:off x="3433233" y="3627506"/>
            <a:ext cx="5071533" cy="0"/>
          </a:xfrm>
          <a:prstGeom prst="line">
            <a:avLst/>
          </a:prstGeom>
          <a:noFill/>
          <a:ln w="6350">
            <a:solidFill>
              <a:srgbClr val="D5DCE4"/>
            </a:solidFill>
            <a:prstDash val="solid"/>
          </a:ln>
        </p:spPr>
      </p:sp>
      <p:sp>
        <p:nvSpPr>
          <p:cNvPr id="24" name="Text 22"/>
          <p:cNvSpPr/>
          <p:nvPr/>
        </p:nvSpPr>
        <p:spPr>
          <a:xfrm>
            <a:off x="3433233" y="3742863"/>
            <a:ext cx="5066707"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Showed the flagged environment variables were false positives and influenced the Architect to adopt a two-track fix: teams mark them as false positives now; enableServiceLinks to be disabled by default across Fabric.</a:t>
            </a:r>
            <a:endParaRPr lang="en-US" sz="1300" dirty="0"/>
          </a:p>
        </p:txBody>
      </p:sp>
      <p:sp>
        <p:nvSpPr>
          <p:cNvPr id="25" name="Shape 23"/>
          <p:cNvSpPr/>
          <p:nvPr/>
        </p:nvSpPr>
        <p:spPr>
          <a:xfrm>
            <a:off x="8504767" y="3627506"/>
            <a:ext cx="2794000" cy="0"/>
          </a:xfrm>
          <a:prstGeom prst="line">
            <a:avLst/>
          </a:prstGeom>
          <a:noFill/>
          <a:ln w="6350">
            <a:solidFill>
              <a:srgbClr val="D5DCE4"/>
            </a:solidFill>
            <a:prstDash val="solid"/>
          </a:ln>
        </p:spPr>
      </p:sp>
      <p:sp>
        <p:nvSpPr>
          <p:cNvPr id="26" name="Text 24"/>
          <p:cNvSpPr/>
          <p:nvPr/>
        </p:nvSpPr>
        <p:spPr>
          <a:xfrm>
            <a:off x="8504767" y="3742863"/>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Prisma Recommendation Email</a:t>
            </a:r>
            <a:endParaRPr lang="en-US" sz="1200" dirty="0"/>
          </a:p>
        </p:txBody>
      </p:sp>
      <p:sp>
        <p:nvSpPr>
          <p:cNvPr id="27" name="Text 25"/>
          <p:cNvSpPr/>
          <p:nvPr/>
        </p:nvSpPr>
        <p:spPr>
          <a:xfrm>
            <a:off x="711200" y="6289080"/>
            <a:ext cx="2587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Influences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3539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ACHIEVES</a:t>
            </a:r>
            <a:endParaRPr lang="en-US" sz="1200" dirty="0"/>
          </a:p>
        </p:txBody>
      </p:sp>
      <p:sp>
        <p:nvSpPr>
          <p:cNvPr id="3" name="Text 1"/>
          <p:cNvSpPr/>
          <p:nvPr/>
        </p:nvSpPr>
        <p:spPr>
          <a:xfrm>
            <a:off x="197359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Overcoming Complex Obstacles to Deliver Critical Strategic Goals</a:t>
            </a:r>
            <a:endParaRPr lang="en-US" sz="2400" dirty="0"/>
          </a:p>
        </p:txBody>
      </p:sp>
      <p:sp>
        <p:nvSpPr>
          <p:cNvPr id="5" name="Shape 3"/>
          <p:cNvSpPr/>
          <p:nvPr/>
        </p:nvSpPr>
        <p:spPr>
          <a:xfrm>
            <a:off x="714375" y="1354404"/>
            <a:ext cx="10763250" cy="2785732"/>
          </a:xfrm>
          <a:prstGeom prst="roundRect">
            <a:avLst>
              <a:gd name="adj" fmla="val 2621"/>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NPA4 Landing Zone Migration</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With only a 3-day window left by a change freeze, secured a 2-week Sentinel policy grace period and resolved the technical blockers to complete the migration.</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NPA4 Approval Email</a:t>
            </a:r>
            <a:endParaRPr lang="en-US" sz="1200" dirty="0"/>
          </a:p>
        </p:txBody>
      </p:sp>
      <p:sp>
        <p:nvSpPr>
          <p:cNvPr id="15" name="Shape 13"/>
          <p:cNvSpPr/>
          <p:nvPr/>
        </p:nvSpPr>
        <p:spPr>
          <a:xfrm>
            <a:off x="893233" y="2701330"/>
            <a:ext cx="2540000" cy="0"/>
          </a:xfrm>
          <a:prstGeom prst="line">
            <a:avLst/>
          </a:prstGeom>
          <a:noFill/>
          <a:ln w="6350">
            <a:solidFill>
              <a:srgbClr val="D5DCE4"/>
            </a:solidFill>
            <a:prstDash val="solid"/>
          </a:ln>
        </p:spPr>
      </p:sp>
      <p:sp>
        <p:nvSpPr>
          <p:cNvPr id="16" name="Text 14"/>
          <p:cNvSpPr/>
          <p:nvPr/>
        </p:nvSpPr>
        <p:spPr>
          <a:xfrm>
            <a:off x="893233" y="2816690"/>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Vertex AI Platform Enablement</a:t>
            </a:r>
            <a:endParaRPr lang="en-US" sz="1300" dirty="0"/>
          </a:p>
        </p:txBody>
      </p:sp>
      <p:sp>
        <p:nvSpPr>
          <p:cNvPr id="17" name="Shape 15"/>
          <p:cNvSpPr/>
          <p:nvPr/>
        </p:nvSpPr>
        <p:spPr>
          <a:xfrm>
            <a:off x="3433233" y="2701330"/>
            <a:ext cx="5071533" cy="0"/>
          </a:xfrm>
          <a:prstGeom prst="line">
            <a:avLst/>
          </a:prstGeom>
          <a:noFill/>
          <a:ln w="6350">
            <a:solidFill>
              <a:srgbClr val="D5DCE4"/>
            </a:solidFill>
            <a:prstDash val="solid"/>
          </a:ln>
        </p:spPr>
      </p:sp>
      <p:sp>
        <p:nvSpPr>
          <p:cNvPr id="18" name="Text 16"/>
          <p:cNvSpPr/>
          <p:nvPr/>
        </p:nvSpPr>
        <p:spPr>
          <a:xfrm>
            <a:off x="3433233" y="2816690"/>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Designed a compliant sandbox workspace for secure AI model development within existing regulatory constraints.</a:t>
            </a:r>
            <a:endParaRPr lang="en-US" sz="1300" dirty="0"/>
          </a:p>
        </p:txBody>
      </p:sp>
      <p:sp>
        <p:nvSpPr>
          <p:cNvPr id="19" name="Shape 17"/>
          <p:cNvSpPr/>
          <p:nvPr/>
        </p:nvSpPr>
        <p:spPr>
          <a:xfrm>
            <a:off x="8504767" y="2701330"/>
            <a:ext cx="2794000" cy="0"/>
          </a:xfrm>
          <a:prstGeom prst="line">
            <a:avLst/>
          </a:prstGeom>
          <a:noFill/>
          <a:ln w="6350">
            <a:solidFill>
              <a:srgbClr val="D5DCE4"/>
            </a:solidFill>
            <a:prstDash val="solid"/>
          </a:ln>
        </p:spPr>
      </p:sp>
      <p:sp>
        <p:nvSpPr>
          <p:cNvPr id="20" name="Text 18"/>
          <p:cNvSpPr/>
          <p:nvPr/>
        </p:nvSpPr>
        <p:spPr>
          <a:xfrm>
            <a:off x="8504767" y="2816690"/>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Vertex AI Enablement JIRA</a:t>
            </a:r>
            <a:endParaRPr lang="en-US" sz="1200" dirty="0"/>
          </a:p>
        </p:txBody>
      </p:sp>
      <p:sp>
        <p:nvSpPr>
          <p:cNvPr id="21" name="Shape 19"/>
          <p:cNvSpPr/>
          <p:nvPr/>
        </p:nvSpPr>
        <p:spPr>
          <a:xfrm>
            <a:off x="893233" y="3396391"/>
            <a:ext cx="2540000" cy="0"/>
          </a:xfrm>
          <a:prstGeom prst="line">
            <a:avLst/>
          </a:prstGeom>
          <a:noFill/>
          <a:ln w="6350">
            <a:solidFill>
              <a:srgbClr val="D5DCE4"/>
            </a:solidFill>
            <a:prstDash val="solid"/>
          </a:ln>
        </p:spPr>
      </p:sp>
      <p:sp>
        <p:nvSpPr>
          <p:cNvPr id="22" name="Text 20"/>
          <p:cNvSpPr/>
          <p:nvPr/>
        </p:nvSpPr>
        <p:spPr>
          <a:xfrm>
            <a:off x="893233" y="3511748"/>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Centralized Monitoring Integration</a:t>
            </a:r>
            <a:endParaRPr lang="en-US" sz="1300" dirty="0"/>
          </a:p>
        </p:txBody>
      </p:sp>
      <p:sp>
        <p:nvSpPr>
          <p:cNvPr id="23" name="Shape 21"/>
          <p:cNvSpPr/>
          <p:nvPr/>
        </p:nvSpPr>
        <p:spPr>
          <a:xfrm>
            <a:off x="3433233" y="3396391"/>
            <a:ext cx="5071533" cy="0"/>
          </a:xfrm>
          <a:prstGeom prst="line">
            <a:avLst/>
          </a:prstGeom>
          <a:noFill/>
          <a:ln w="6350">
            <a:solidFill>
              <a:srgbClr val="D5DCE4"/>
            </a:solidFill>
            <a:prstDash val="solid"/>
          </a:ln>
        </p:spPr>
      </p:sp>
      <p:sp>
        <p:nvSpPr>
          <p:cNvPr id="24" name="Text 22"/>
          <p:cNvSpPr/>
          <p:nvPr/>
        </p:nvSpPr>
        <p:spPr>
          <a:xfrm>
            <a:off x="3433233" y="3511748"/>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Integrated centralized Grafana with the central ACM-Hub, bypassing network barriers.</a:t>
            </a:r>
            <a:endParaRPr lang="en-US" sz="1300" dirty="0"/>
          </a:p>
        </p:txBody>
      </p:sp>
      <p:sp>
        <p:nvSpPr>
          <p:cNvPr id="25" name="Shape 23"/>
          <p:cNvSpPr/>
          <p:nvPr/>
        </p:nvSpPr>
        <p:spPr>
          <a:xfrm>
            <a:off x="8504767" y="3396391"/>
            <a:ext cx="2794000" cy="0"/>
          </a:xfrm>
          <a:prstGeom prst="line">
            <a:avLst/>
          </a:prstGeom>
          <a:noFill/>
          <a:ln w="6350">
            <a:solidFill>
              <a:srgbClr val="D5DCE4"/>
            </a:solidFill>
            <a:prstDash val="solid"/>
          </a:ln>
        </p:spPr>
      </p:sp>
      <p:sp>
        <p:nvSpPr>
          <p:cNvPr id="26" name="Text 24"/>
          <p:cNvSpPr/>
          <p:nvPr/>
        </p:nvSpPr>
        <p:spPr>
          <a:xfrm>
            <a:off x="8504767" y="3511748"/>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Centralized Grafana Link</a:t>
            </a:r>
            <a:endParaRPr lang="en-US" sz="1200" dirty="0"/>
          </a:p>
        </p:txBody>
      </p:sp>
      <p:sp>
        <p:nvSpPr>
          <p:cNvPr id="27" name="Text 25"/>
          <p:cNvSpPr/>
          <p:nvPr/>
        </p:nvSpPr>
        <p:spPr>
          <a:xfrm>
            <a:off x="711200" y="6289080"/>
            <a:ext cx="24482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Achieves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36638"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DESIGNS</a:t>
            </a:r>
            <a:endParaRPr lang="en-US" sz="1200" dirty="0"/>
          </a:p>
        </p:txBody>
      </p:sp>
      <p:sp>
        <p:nvSpPr>
          <p:cNvPr id="3" name="Text 1"/>
          <p:cNvSpPr/>
          <p:nvPr/>
        </p:nvSpPr>
        <p:spPr>
          <a:xfrm>
            <a:off x="1874838"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Designing Scalable, Clean, and Governed Architectures</a:t>
            </a:r>
            <a:endParaRPr lang="en-US" sz="2400" dirty="0"/>
          </a:p>
        </p:txBody>
      </p:sp>
      <p:sp>
        <p:nvSpPr>
          <p:cNvPr id="5" name="Shape 3"/>
          <p:cNvSpPr/>
          <p:nvPr/>
        </p:nvSpPr>
        <p:spPr>
          <a:xfrm>
            <a:off x="714375" y="1354404"/>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Multi-Hub ACM Architecture</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Engineered separate Dev/UAT hub clusters with independent control planes, separating environment configuration risk.</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ACM Design Doc</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Multi-Repo Landing Zone</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Separated test from production setups, introducing repo-level RBAC and merge validation pipelines.</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Landing Zone Pitch Slides</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ADR Governance Framework</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Established mandatory architecture templates across 36 clusters to document and prevent anti-patterns.</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f-ADR Guidelines</a:t>
            </a:r>
            <a:endParaRPr lang="en-US" sz="1200" dirty="0"/>
          </a:p>
        </p:txBody>
      </p:sp>
      <p:sp>
        <p:nvSpPr>
          <p:cNvPr id="27" name="Text 25"/>
          <p:cNvSpPr/>
          <p:nvPr/>
        </p:nvSpPr>
        <p:spPr>
          <a:xfrm>
            <a:off x="711200" y="6289080"/>
            <a:ext cx="2359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Designs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15748"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DELIVERS</a:t>
            </a:r>
            <a:endParaRPr lang="en-US" sz="1200" dirty="0"/>
          </a:p>
        </p:txBody>
      </p:sp>
      <p:sp>
        <p:nvSpPr>
          <p:cNvPr id="3" name="Text 1"/>
          <p:cNvSpPr/>
          <p:nvPr/>
        </p:nvSpPr>
        <p:spPr>
          <a:xfrm>
            <a:off x="1953948" y="444500"/>
            <a:ext cx="13279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Divisional-Scale Execution under Regulatory and Operational Pressure</a:t>
            </a:r>
            <a:endParaRPr lang="en-US" sz="2400" dirty="0"/>
          </a:p>
        </p:txBody>
      </p:sp>
      <p:sp>
        <p:nvSpPr>
          <p:cNvPr id="5" name="Shape 3"/>
          <p:cNvSpPr/>
          <p:nvPr/>
        </p:nvSpPr>
        <p:spPr>
          <a:xfrm>
            <a:off x="714375" y="1354404"/>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India Payments Localization</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Deployed localized, compliant Fabric 2.0 infrastructure in India within a tight 4-month timeline.</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India Delivery Notice</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Bafir 5-Year Network Bug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Diagnosed and resolved a chronic 5-year network issue causing a 1% transaction drop rate in the Bafir payment app.</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Bafir Bug Resolution Email</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OCP4 Multi-Cluster Migration</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Structured and executed the safe migration of 15+ production clusters from OCP3.</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OCP4 Cluster Inventory</a:t>
            </a:r>
            <a:endParaRPr lang="en-US" sz="1200" dirty="0"/>
          </a:p>
        </p:txBody>
      </p:sp>
      <p:sp>
        <p:nvSpPr>
          <p:cNvPr id="27" name="Shape 25"/>
          <p:cNvSpPr/>
          <p:nvPr/>
        </p:nvSpPr>
        <p:spPr>
          <a:xfrm>
            <a:off x="711200" y="4064595"/>
            <a:ext cx="10769600" cy="667941"/>
          </a:xfrm>
          <a:prstGeom prst="roundRect">
            <a:avLst>
              <a:gd name="adj" fmla="val 3803"/>
            </a:avLst>
          </a:prstGeom>
          <a:solidFill>
            <a:srgbClr val="F6EBDD"/>
          </a:solidFill>
          <a:ln/>
        </p:spPr>
      </p:sp>
      <p:sp>
        <p:nvSpPr>
          <p:cNvPr id="28" name="Shape 26"/>
          <p:cNvSpPr/>
          <p:nvPr/>
        </p:nvSpPr>
        <p:spPr>
          <a:xfrm>
            <a:off x="711200" y="4064595"/>
            <a:ext cx="10769600" cy="667941"/>
          </a:xfrm>
          <a:custGeom>
            <a:avLst/>
            <a:gdLst/>
            <a:ahLst/>
            <a:cxnLst/>
            <a:rect l="l" t="t" r="r" b="b"/>
            <a:pathLst>
              <a:path w="10769600" h="667941">
                <a:moveTo>
                  <a:pt x="38100" y="667941"/>
                </a:moveTo>
                <a:lnTo>
                  <a:pt x="25400" y="667941"/>
                </a:lnTo>
                <a:arcTo hR="25400" wR="25400" stAng="5400000" swAng="5400000"/>
                <a:lnTo>
                  <a:pt x="0" y="25400"/>
                </a:lnTo>
                <a:arcTo hR="25400" wR="25400" stAng="10800000" swAng="5400000"/>
                <a:lnTo>
                  <a:pt x="38100" y="0"/>
                </a:lnTo>
                <a:lnTo>
                  <a:pt x="38100" y="667941"/>
                </a:lnTo>
                <a:close/>
              </a:path>
            </a:pathLst>
          </a:custGeom>
          <a:solidFill>
            <a:srgbClr val="A4520F"/>
          </a:solidFill>
          <a:ln/>
        </p:spPr>
      </p:sp>
      <p:sp>
        <p:nvSpPr>
          <p:cNvPr id="29" name="Text 27"/>
          <p:cNvSpPr/>
          <p:nvPr/>
        </p:nvSpPr>
        <p:spPr>
          <a:xfrm>
            <a:off x="927100" y="4166195"/>
            <a:ext cx="10687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Assumption challenged:</a:t>
            </a:r>
            <a:r>
              <a:rPr lang="en-US" sz="1200" dirty="0">
                <a:solidFill>
                  <a:srgbClr val="2B2F36"/>
                </a:solidFill>
                <a:latin typeface="IBM Plex Sans" pitchFamily="34" charset="0"/>
                <a:ea typeface="IBM Plex Sans" pitchFamily="34" charset="-122"/>
                <a:cs typeface="IBM Plex Sans" pitchFamily="34" charset="-120"/>
              </a:rPr>
              <a:t> Did not accept a 5-year-old Bafir transaction-drop issue as permanent; diagnosed it and drove it to resolution.</a:t>
            </a:r>
            <a:endParaRPr lang="en-US" sz="1200" dirty="0"/>
          </a:p>
        </p:txBody>
      </p:sp>
      <p:sp>
        <p:nvSpPr>
          <p:cNvPr id="30" name="Text 28"/>
          <p:cNvSpPr/>
          <p:nvPr/>
        </p:nvSpPr>
        <p:spPr>
          <a:xfrm>
            <a:off x="927100" y="4417616"/>
            <a:ext cx="10687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Divisional impact:</a:t>
            </a:r>
            <a:r>
              <a:rPr lang="en-US" sz="1200" dirty="0">
                <a:solidFill>
                  <a:srgbClr val="2B2F36"/>
                </a:solidFill>
                <a:latin typeface="IBM Plex Sans" pitchFamily="34" charset="0"/>
                <a:ea typeface="IBM Plex Sans" pitchFamily="34" charset="-122"/>
                <a:cs typeface="IBM Plex Sans" pitchFamily="34" charset="-120"/>
              </a:rPr>
              <a:t> Regulatory compliance for India payments, protected payment pipelines, and 15+ production clusters moved off OCP3.</a:t>
            </a:r>
            <a:endParaRPr lang="en-US" sz="1200" dirty="0"/>
          </a:p>
        </p:txBody>
      </p:sp>
      <p:sp>
        <p:nvSpPr>
          <p:cNvPr id="31" name="Text 29"/>
          <p:cNvSpPr/>
          <p:nvPr/>
        </p:nvSpPr>
        <p:spPr>
          <a:xfrm>
            <a:off x="711200" y="6289080"/>
            <a:ext cx="23761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Delivers</a:t>
            </a:r>
            <a:endParaRPr lang="en-US" sz="1200" dirty="0"/>
          </a:p>
        </p:txBody>
      </p:sp>
      <p:sp>
        <p:nvSpPr>
          <p:cNvPr id="32" name="Text 30"/>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5616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OPERATES</a:t>
            </a:r>
            <a:endParaRPr lang="en-US" sz="1200" dirty="0"/>
          </a:p>
        </p:txBody>
      </p:sp>
      <p:sp>
        <p:nvSpPr>
          <p:cNvPr id="3" name="Text 1"/>
          <p:cNvSpPr/>
          <p:nvPr/>
        </p:nvSpPr>
        <p:spPr>
          <a:xfrm>
            <a:off x="199436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Incident Management, Rapid Restoration, and Automation</a:t>
            </a:r>
            <a:endParaRPr lang="en-US" sz="2400" dirty="0"/>
          </a:p>
        </p:txBody>
      </p:sp>
      <p:sp>
        <p:nvSpPr>
          <p:cNvPr id="5" name="Shape 3"/>
          <p:cNvSpPr/>
          <p:nvPr/>
        </p:nvSpPr>
        <p:spPr>
          <a:xfrm>
            <a:off x="714375" y="1354404"/>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P1 Incident Diagnosis</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Isolated and recovered broken Artifactory secrets during a high-stakes outage affecting 50+ applications.</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Outage Recovery Email</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Emergency Rebuilds</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Led a 2-day complete cluster recovery of 'inonpp1a' to secure client fail-back targets during catastrophic corruption.</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Emergency Rebuild Thanks</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Regression Automation</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Coded Python-based testing modules, eliminating 6–8 hours of manual cluster validation.</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Regression Pull Request</a:t>
            </a:r>
            <a:endParaRPr lang="en-US" sz="1200" dirty="0"/>
          </a:p>
        </p:txBody>
      </p:sp>
      <p:sp>
        <p:nvSpPr>
          <p:cNvPr id="27" name="Text 25"/>
          <p:cNvSpPr/>
          <p:nvPr/>
        </p:nvSpPr>
        <p:spPr>
          <a:xfrm>
            <a:off x="711200" y="6289080"/>
            <a:ext cx="24654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Operates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7230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CONTROLS</a:t>
            </a:r>
            <a:endParaRPr lang="en-US" sz="1200" dirty="0"/>
          </a:p>
        </p:txBody>
      </p:sp>
      <p:sp>
        <p:nvSpPr>
          <p:cNvPr id="3" name="Text 1"/>
          <p:cNvSpPr/>
          <p:nvPr/>
        </p:nvSpPr>
        <p:spPr>
          <a:xfrm>
            <a:off x="201050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Risk Mitigation, Access Governance, and Secure-by-Default Architecture</a:t>
            </a:r>
            <a:endParaRPr lang="en-US" sz="2400" dirty="0"/>
          </a:p>
        </p:txBody>
      </p:sp>
      <p:sp>
        <p:nvSpPr>
          <p:cNvPr id="5" name="Shape 3"/>
          <p:cNvSpPr/>
          <p:nvPr/>
        </p:nvSpPr>
        <p:spPr>
          <a:xfrm>
            <a:off x="714375" y="1354404"/>
            <a:ext cx="10763250" cy="2785732"/>
          </a:xfrm>
          <a:prstGeom prst="roundRect">
            <a:avLst>
              <a:gd name="adj" fmla="val 2621"/>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Credential Monitoring</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Owned PaaS Confluence credential remediation; conducted retrospective secure coding coaching.</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Coaching Whiteboard View</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CyberArk SSH Integration</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Replaced shared root keys with secure CyberArk access, establishing full individual audit trails.</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CyberArk Confluence Guide</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Ingress TLS Hardening &amp; Port Blocking</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Traced APT findings to the shared IngressController and Ingress VIP; completed the risk assessment, mitigation design and PoC for 600+ tenant applications. Production rollout in progress.</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APT Findings Analysis</a:t>
            </a:r>
            <a:endParaRPr lang="en-US" sz="1200" dirty="0"/>
          </a:p>
        </p:txBody>
      </p:sp>
      <p:sp>
        <p:nvSpPr>
          <p:cNvPr id="27" name="Text 25"/>
          <p:cNvSpPr/>
          <p:nvPr/>
        </p:nvSpPr>
        <p:spPr>
          <a:xfrm>
            <a:off x="711200" y="6289080"/>
            <a:ext cx="24040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Controls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2272771"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LEADERSHIP KOMPASS</a:t>
            </a:r>
            <a:endParaRPr lang="en-US" sz="1200" dirty="0"/>
          </a:p>
        </p:txBody>
      </p:sp>
      <p:sp>
        <p:nvSpPr>
          <p:cNvPr id="3" name="Text 1"/>
          <p:cNvSpPr/>
          <p:nvPr/>
        </p:nvSpPr>
        <p:spPr>
          <a:xfrm>
            <a:off x="3110971" y="444500"/>
            <a:ext cx="1335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Behaviours 1–4</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Expected Behaviours of Leaders at the Bank</a:t>
            </a:r>
            <a:endParaRPr lang="en-US" sz="2400" dirty="0"/>
          </a:p>
        </p:txBody>
      </p:sp>
      <p:sp>
        <p:nvSpPr>
          <p:cNvPr id="5" name="Shape 3"/>
          <p:cNvSpPr/>
          <p:nvPr/>
        </p:nvSpPr>
        <p:spPr>
          <a:xfrm>
            <a:off x="714375" y="1354404"/>
            <a:ext cx="10763250" cy="3216606"/>
          </a:xfrm>
          <a:prstGeom prst="roundRect">
            <a:avLst>
              <a:gd name="adj" fmla="val 2270"/>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BEHAVIOUR</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HOW I DEMONSTRATE IT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1. Role-Modeling Integrity &amp; Accountability</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Owns production incidents (e.g., the inonpp1a outage) and runs transparent post-mortems.</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Outage Recovery Mail</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2. Encouraging Proactive Problem-Solving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Celebrates bold solutions like the ACM Segregation strategy.</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21" name="Shape 19"/>
          <p:cNvSpPr/>
          <p:nvPr/>
        </p:nvSpPr>
        <p:spPr>
          <a:xfrm>
            <a:off x="893233" y="3132206"/>
            <a:ext cx="2540000" cy="0"/>
          </a:xfrm>
          <a:prstGeom prst="line">
            <a:avLst/>
          </a:prstGeom>
          <a:noFill/>
          <a:ln w="6350">
            <a:solidFill>
              <a:srgbClr val="D5DCE4"/>
            </a:solidFill>
            <a:prstDash val="solid"/>
          </a:ln>
        </p:spPr>
      </p:sp>
      <p:sp>
        <p:nvSpPr>
          <p:cNvPr id="22" name="Text 20"/>
          <p:cNvSpPr/>
          <p:nvPr/>
        </p:nvSpPr>
        <p:spPr>
          <a:xfrm>
            <a:off x="893233" y="324756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3. Structured Mentoring</a:t>
            </a:r>
            <a:endParaRPr lang="en-US" sz="1300" dirty="0"/>
          </a:p>
        </p:txBody>
      </p:sp>
      <p:sp>
        <p:nvSpPr>
          <p:cNvPr id="23" name="Shape 21"/>
          <p:cNvSpPr/>
          <p:nvPr/>
        </p:nvSpPr>
        <p:spPr>
          <a:xfrm>
            <a:off x="3433233" y="3132206"/>
            <a:ext cx="5071533" cy="0"/>
          </a:xfrm>
          <a:prstGeom prst="line">
            <a:avLst/>
          </a:prstGeom>
          <a:noFill/>
          <a:ln w="6350">
            <a:solidFill>
              <a:srgbClr val="D5DCE4"/>
            </a:solidFill>
            <a:prstDash val="solid"/>
          </a:ln>
        </p:spPr>
      </p:sp>
      <p:sp>
        <p:nvSpPr>
          <p:cNvPr id="24" name="Text 22"/>
          <p:cNvSpPr/>
          <p:nvPr/>
        </p:nvSpPr>
        <p:spPr>
          <a:xfrm>
            <a:off x="3433233" y="324756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Evolved graduate Atharva Honrao into a productive platform engineer.</a:t>
            </a:r>
            <a:endParaRPr lang="en-US" sz="1300" dirty="0"/>
          </a:p>
        </p:txBody>
      </p:sp>
      <p:sp>
        <p:nvSpPr>
          <p:cNvPr id="25" name="Shape 23"/>
          <p:cNvSpPr/>
          <p:nvPr/>
        </p:nvSpPr>
        <p:spPr>
          <a:xfrm>
            <a:off x="8504767" y="3132206"/>
            <a:ext cx="2794000" cy="0"/>
          </a:xfrm>
          <a:prstGeom prst="line">
            <a:avLst/>
          </a:prstGeom>
          <a:noFill/>
          <a:ln w="6350">
            <a:solidFill>
              <a:srgbClr val="D5DCE4"/>
            </a:solidFill>
            <a:prstDash val="solid"/>
          </a:ln>
        </p:spPr>
      </p:sp>
      <p:sp>
        <p:nvSpPr>
          <p:cNvPr id="26" name="Text 24"/>
          <p:cNvSpPr/>
          <p:nvPr/>
        </p:nvSpPr>
        <p:spPr>
          <a:xfrm>
            <a:off x="8504767" y="324756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Graduate Onboarding Tracker</a:t>
            </a:r>
            <a:endParaRPr lang="en-US" sz="1200" dirty="0"/>
          </a:p>
        </p:txBody>
      </p:sp>
      <p:sp>
        <p:nvSpPr>
          <p:cNvPr id="27" name="Shape 25"/>
          <p:cNvSpPr/>
          <p:nvPr/>
        </p:nvSpPr>
        <p:spPr>
          <a:xfrm>
            <a:off x="893233" y="3827264"/>
            <a:ext cx="2540000" cy="0"/>
          </a:xfrm>
          <a:prstGeom prst="line">
            <a:avLst/>
          </a:prstGeom>
          <a:noFill/>
          <a:ln w="6350">
            <a:solidFill>
              <a:srgbClr val="D5DCE4"/>
            </a:solidFill>
            <a:prstDash val="solid"/>
          </a:ln>
        </p:spPr>
      </p:sp>
      <p:sp>
        <p:nvSpPr>
          <p:cNvPr id="28" name="Text 26"/>
          <p:cNvSpPr/>
          <p:nvPr/>
        </p:nvSpPr>
        <p:spPr>
          <a:xfrm>
            <a:off x="893233" y="394262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4. Constructive Feedback Culture</a:t>
            </a:r>
            <a:endParaRPr lang="en-US" sz="1300" dirty="0"/>
          </a:p>
        </p:txBody>
      </p:sp>
      <p:sp>
        <p:nvSpPr>
          <p:cNvPr id="29" name="Shape 27"/>
          <p:cNvSpPr/>
          <p:nvPr/>
        </p:nvSpPr>
        <p:spPr>
          <a:xfrm>
            <a:off x="3433233" y="3827264"/>
            <a:ext cx="5071533" cy="0"/>
          </a:xfrm>
          <a:prstGeom prst="line">
            <a:avLst/>
          </a:prstGeom>
          <a:noFill/>
          <a:ln w="6350">
            <a:solidFill>
              <a:srgbClr val="D5DCE4"/>
            </a:solidFill>
            <a:prstDash val="solid"/>
          </a:ln>
        </p:spPr>
      </p:sp>
      <p:sp>
        <p:nvSpPr>
          <p:cNvPr id="30" name="Text 28"/>
          <p:cNvSpPr/>
          <p:nvPr/>
        </p:nvSpPr>
        <p:spPr>
          <a:xfrm>
            <a:off x="3433233" y="394262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Built monthly retrospectives for honest and secure feedback exchange.</a:t>
            </a:r>
            <a:endParaRPr lang="en-US" sz="1300" dirty="0"/>
          </a:p>
        </p:txBody>
      </p:sp>
      <p:sp>
        <p:nvSpPr>
          <p:cNvPr id="31" name="Shape 29"/>
          <p:cNvSpPr/>
          <p:nvPr/>
        </p:nvSpPr>
        <p:spPr>
          <a:xfrm>
            <a:off x="8504767" y="3827264"/>
            <a:ext cx="2794000" cy="0"/>
          </a:xfrm>
          <a:prstGeom prst="line">
            <a:avLst/>
          </a:prstGeom>
          <a:noFill/>
          <a:ln w="6350">
            <a:solidFill>
              <a:srgbClr val="D5DCE4"/>
            </a:solidFill>
            <a:prstDash val="solid"/>
          </a:ln>
        </p:spPr>
      </p:sp>
      <p:sp>
        <p:nvSpPr>
          <p:cNvPr id="32" name="Text 30"/>
          <p:cNvSpPr/>
          <p:nvPr/>
        </p:nvSpPr>
        <p:spPr>
          <a:xfrm>
            <a:off x="8504767" y="3942624"/>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33" name="Text 31"/>
          <p:cNvSpPr/>
          <p:nvPr/>
        </p:nvSpPr>
        <p:spPr>
          <a:xfrm>
            <a:off x="711200" y="6289080"/>
            <a:ext cx="2824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Leadership Kompass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2272771"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LEADERSHIP KOMPASS</a:t>
            </a:r>
            <a:endParaRPr lang="en-US" sz="1200" dirty="0"/>
          </a:p>
        </p:txBody>
      </p:sp>
      <p:sp>
        <p:nvSpPr>
          <p:cNvPr id="3" name="Text 1"/>
          <p:cNvSpPr/>
          <p:nvPr/>
        </p:nvSpPr>
        <p:spPr>
          <a:xfrm>
            <a:off x="3110971" y="444500"/>
            <a:ext cx="1335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Behaviours 5–8</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Expected Behaviours of Leaders at the Bank</a:t>
            </a:r>
            <a:endParaRPr lang="en-US" sz="2400" dirty="0"/>
          </a:p>
        </p:txBody>
      </p:sp>
      <p:sp>
        <p:nvSpPr>
          <p:cNvPr id="5" name="Shape 3"/>
          <p:cNvSpPr/>
          <p:nvPr/>
        </p:nvSpPr>
        <p:spPr>
          <a:xfrm>
            <a:off x="714375" y="1354404"/>
            <a:ext cx="10763250" cy="3216606"/>
          </a:xfrm>
          <a:prstGeom prst="roundRect">
            <a:avLst>
              <a:gd name="adj" fmla="val 2270"/>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BEHAVIOUR</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HOW I DEMONSTRATE IT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5. Connecting Decisions to Business Value</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Connects platform reliability to 600+ tenant application revenue and cost-saving.</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Prioritized Backlog Board</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6. Silo Breaking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Built a robust operations handover and hands-on training to minimize post-implementation errors.</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Operations Training Survey</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7. Promoting Belonging &amp; Valuing Contributions</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Encourages quieter voices and publicly calls out great work.</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27" name="Shape 25"/>
          <p:cNvSpPr/>
          <p:nvPr/>
        </p:nvSpPr>
        <p:spPr>
          <a:xfrm>
            <a:off x="893233" y="3827264"/>
            <a:ext cx="2540000" cy="0"/>
          </a:xfrm>
          <a:prstGeom prst="line">
            <a:avLst/>
          </a:prstGeom>
          <a:noFill/>
          <a:ln w="6350">
            <a:solidFill>
              <a:srgbClr val="D5DCE4"/>
            </a:solidFill>
            <a:prstDash val="solid"/>
          </a:ln>
        </p:spPr>
      </p:sp>
      <p:sp>
        <p:nvSpPr>
          <p:cNvPr id="28" name="Text 26"/>
          <p:cNvSpPr/>
          <p:nvPr/>
        </p:nvSpPr>
        <p:spPr>
          <a:xfrm>
            <a:off x="893233" y="394262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8. Vision Alignment</a:t>
            </a:r>
            <a:endParaRPr lang="en-US" sz="1300" dirty="0"/>
          </a:p>
        </p:txBody>
      </p:sp>
      <p:sp>
        <p:nvSpPr>
          <p:cNvPr id="29" name="Shape 27"/>
          <p:cNvSpPr/>
          <p:nvPr/>
        </p:nvSpPr>
        <p:spPr>
          <a:xfrm>
            <a:off x="3433233" y="3827264"/>
            <a:ext cx="5071533" cy="0"/>
          </a:xfrm>
          <a:prstGeom prst="line">
            <a:avLst/>
          </a:prstGeom>
          <a:noFill/>
          <a:ln w="6350">
            <a:solidFill>
              <a:srgbClr val="D5DCE4"/>
            </a:solidFill>
            <a:prstDash val="solid"/>
          </a:ln>
        </p:spPr>
      </p:sp>
      <p:sp>
        <p:nvSpPr>
          <p:cNvPr id="30" name="Text 28"/>
          <p:cNvSpPr/>
          <p:nvPr/>
        </p:nvSpPr>
        <p:spPr>
          <a:xfrm>
            <a:off x="3433233" y="394262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Connects daily engineering excellence directly to the bank's digital mission.</a:t>
            </a:r>
            <a:endParaRPr lang="en-US" sz="1300" dirty="0"/>
          </a:p>
        </p:txBody>
      </p:sp>
      <p:sp>
        <p:nvSpPr>
          <p:cNvPr id="31" name="Shape 29"/>
          <p:cNvSpPr/>
          <p:nvPr/>
        </p:nvSpPr>
        <p:spPr>
          <a:xfrm>
            <a:off x="8504767" y="3827264"/>
            <a:ext cx="2794000" cy="0"/>
          </a:xfrm>
          <a:prstGeom prst="line">
            <a:avLst/>
          </a:prstGeom>
          <a:noFill/>
          <a:ln w="6350">
            <a:solidFill>
              <a:srgbClr val="D5DCE4"/>
            </a:solidFill>
            <a:prstDash val="solid"/>
          </a:ln>
        </p:spPr>
      </p:sp>
      <p:sp>
        <p:nvSpPr>
          <p:cNvPr id="32" name="Text 30"/>
          <p:cNvSpPr/>
          <p:nvPr/>
        </p:nvSpPr>
        <p:spPr>
          <a:xfrm>
            <a:off x="8504767" y="3942624"/>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33" name="Text 31"/>
          <p:cNvSpPr/>
          <p:nvPr/>
        </p:nvSpPr>
        <p:spPr>
          <a:xfrm>
            <a:off x="711200" y="6289080"/>
            <a:ext cx="2824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Leadership Kompass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8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0A458"/>
                </a:solidFill>
                <a:latin typeface="IBM Plex Sans" pitchFamily="34" charset="0"/>
                <a:ea typeface="IBM Plex Sans" pitchFamily="34" charset="-122"/>
                <a:cs typeface="IBM Plex Sans" pitchFamily="34" charset="-120"/>
              </a:rPr>
              <a:t>WHY I AM READY FOR VP</a:t>
            </a:r>
            <a:endParaRPr lang="en-US" sz="1200" dirty="0"/>
          </a:p>
        </p:txBody>
      </p:sp>
      <p:sp>
        <p:nvSpPr>
          <p:cNvPr id="3" name="Shape 1"/>
          <p:cNvSpPr/>
          <p:nvPr/>
        </p:nvSpPr>
        <p:spPr>
          <a:xfrm>
            <a:off x="812800" y="1089620"/>
            <a:ext cx="3318933" cy="0"/>
          </a:xfrm>
          <a:prstGeom prst="line">
            <a:avLst/>
          </a:prstGeom>
          <a:noFill/>
          <a:ln w="25400">
            <a:solidFill>
              <a:srgbClr val="E0A458"/>
            </a:solidFill>
            <a:prstDash val="solid"/>
          </a:ln>
        </p:spPr>
      </p:sp>
      <p:sp>
        <p:nvSpPr>
          <p:cNvPr id="4" name="Text 2"/>
          <p:cNvSpPr/>
          <p:nvPr/>
        </p:nvSpPr>
        <p:spPr>
          <a:xfrm>
            <a:off x="812800"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01</a:t>
            </a:r>
            <a:endParaRPr lang="en-US" sz="1200" dirty="0"/>
          </a:p>
        </p:txBody>
      </p:sp>
      <p:sp>
        <p:nvSpPr>
          <p:cNvPr id="5" name="Text 3"/>
          <p:cNvSpPr/>
          <p:nvPr/>
        </p:nvSpPr>
        <p:spPr>
          <a:xfrm>
            <a:off x="812800"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4 Thinking</a:t>
            </a:r>
            <a:endParaRPr lang="en-US" sz="1800" dirty="0"/>
          </a:p>
        </p:txBody>
      </p:sp>
      <p:sp>
        <p:nvSpPr>
          <p:cNvPr id="6" name="Text 4"/>
          <p:cNvSpPr/>
          <p:nvPr/>
        </p:nvSpPr>
        <p:spPr>
          <a:xfrm>
            <a:off x="812800"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identify systemic risks, challenge assumptions and create sustainable platform-level solutions.</a:t>
            </a:r>
            <a:endParaRPr lang="en-US" sz="1300" dirty="0"/>
          </a:p>
        </p:txBody>
      </p:sp>
      <p:sp>
        <p:nvSpPr>
          <p:cNvPr id="7" name="Shape 5"/>
          <p:cNvSpPr/>
          <p:nvPr/>
        </p:nvSpPr>
        <p:spPr>
          <a:xfrm>
            <a:off x="4436533" y="1089620"/>
            <a:ext cx="3318933" cy="0"/>
          </a:xfrm>
          <a:prstGeom prst="line">
            <a:avLst/>
          </a:prstGeom>
          <a:noFill/>
          <a:ln w="25400">
            <a:solidFill>
              <a:srgbClr val="E0A458"/>
            </a:solidFill>
            <a:prstDash val="solid"/>
          </a:ln>
        </p:spPr>
      </p:sp>
      <p:sp>
        <p:nvSpPr>
          <p:cNvPr id="8" name="Text 6"/>
          <p:cNvSpPr/>
          <p:nvPr/>
        </p:nvSpPr>
        <p:spPr>
          <a:xfrm>
            <a:off x="4436533"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02</a:t>
            </a:r>
            <a:endParaRPr lang="en-US" sz="1200" dirty="0"/>
          </a:p>
        </p:txBody>
      </p:sp>
      <p:sp>
        <p:nvSpPr>
          <p:cNvPr id="9" name="Text 7"/>
          <p:cNvSpPr/>
          <p:nvPr/>
        </p:nvSpPr>
        <p:spPr>
          <a:xfrm>
            <a:off x="4436533"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4 Delivery</a:t>
            </a:r>
            <a:endParaRPr lang="en-US" sz="1800" dirty="0"/>
          </a:p>
        </p:txBody>
      </p:sp>
      <p:sp>
        <p:nvSpPr>
          <p:cNvPr id="10" name="Text 8"/>
          <p:cNvSpPr/>
          <p:nvPr/>
        </p:nvSpPr>
        <p:spPr>
          <a:xfrm>
            <a:off x="4436533"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personally apply deep technical expertise to remove difficult blockers and deliver high-impact outcomes.</a:t>
            </a:r>
            <a:endParaRPr lang="en-US" sz="1300" dirty="0"/>
          </a:p>
        </p:txBody>
      </p:sp>
      <p:sp>
        <p:nvSpPr>
          <p:cNvPr id="11" name="Shape 9"/>
          <p:cNvSpPr/>
          <p:nvPr/>
        </p:nvSpPr>
        <p:spPr>
          <a:xfrm>
            <a:off x="8060267" y="1089620"/>
            <a:ext cx="3318933" cy="0"/>
          </a:xfrm>
          <a:prstGeom prst="line">
            <a:avLst/>
          </a:prstGeom>
          <a:noFill/>
          <a:ln w="25400">
            <a:solidFill>
              <a:srgbClr val="B9CDE0"/>
            </a:solidFill>
            <a:prstDash val="solid"/>
          </a:ln>
        </p:spPr>
      </p:sp>
      <p:sp>
        <p:nvSpPr>
          <p:cNvPr id="12" name="Text 10"/>
          <p:cNvSpPr/>
          <p:nvPr/>
        </p:nvSpPr>
        <p:spPr>
          <a:xfrm>
            <a:off x="8060267"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03</a:t>
            </a:r>
            <a:endParaRPr lang="en-US" sz="1200" dirty="0"/>
          </a:p>
        </p:txBody>
      </p:sp>
      <p:sp>
        <p:nvSpPr>
          <p:cNvPr id="13" name="Text 11"/>
          <p:cNvSpPr/>
          <p:nvPr/>
        </p:nvSpPr>
        <p:spPr>
          <a:xfrm>
            <a:off x="8060267"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3 Breadth</a:t>
            </a:r>
            <a:endParaRPr lang="en-US" sz="1800" dirty="0"/>
          </a:p>
        </p:txBody>
      </p:sp>
      <p:sp>
        <p:nvSpPr>
          <p:cNvPr id="14" name="Text 12"/>
          <p:cNvSpPr/>
          <p:nvPr/>
        </p:nvSpPr>
        <p:spPr>
          <a:xfrm>
            <a:off x="8060267"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demonstrate strong design, controls, operations, business alignment, engagement and influence.</a:t>
            </a:r>
            <a:endParaRPr lang="en-US" sz="1300" dirty="0"/>
          </a:p>
        </p:txBody>
      </p:sp>
      <p:sp>
        <p:nvSpPr>
          <p:cNvPr id="15" name="Text 13"/>
          <p:cNvSpPr/>
          <p:nvPr/>
        </p:nvSpPr>
        <p:spPr>
          <a:xfrm>
            <a:off x="812800" y="5085159"/>
            <a:ext cx="10883392" cy="985441"/>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F5F7FA"/>
                </a:solidFill>
                <a:latin typeface="IBM Plex Sans" pitchFamily="34" charset="0"/>
                <a:ea typeface="IBM Plex Sans" pitchFamily="34" charset="-122"/>
                <a:cs typeface="IBM Plex Sans" pitchFamily="34" charset="-120"/>
              </a:rPr>
              <a:t>“My case for VP is not based on the number of projects I have completed. It is based on the change in the scope and nature of my impact. I am increasingly shaping the solution, solving the difficult technical problems, enabling others and improving the engineering system around me.”</a:t>
            </a:r>
            <a:endParaRPr lang="en-US" sz="1800" dirty="0"/>
          </a:p>
        </p:txBody>
      </p:sp>
      <p:sp>
        <p:nvSpPr>
          <p:cNvPr id="16" name="Text 14"/>
          <p:cNvSpPr/>
          <p:nvPr/>
        </p:nvSpPr>
        <p:spPr>
          <a:xfrm>
            <a:off x="812800" y="6289080"/>
            <a:ext cx="2386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Saket Badal · VP Assessment</a:t>
            </a:r>
            <a:endParaRPr lang="en-US" sz="1200" dirty="0"/>
          </a:p>
        </p:txBody>
      </p:sp>
      <p:sp>
        <p:nvSpPr>
          <p:cNvPr id="17" name="Text 15"/>
          <p:cNvSpPr/>
          <p:nvPr/>
        </p:nvSpPr>
        <p:spPr>
          <a:xfrm>
            <a:off x="107838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Tech Track Promotion: VP Assessment">
  <a:themeElements>
    <a:clrScheme name="Tech Track Promotion: VP Assessment">
      <a:dk1>
        <a:srgbClr val="0F4C81"/>
      </a:dk1>
      <a:lt1>
        <a:srgbClr val="F5F7FA"/>
      </a:lt1>
      <a:dk2>
        <a:srgbClr val="49779F"/>
      </a:dk2>
      <a:lt2>
        <a:srgbClr val="DEE6EE"/>
      </a:lt2>
      <a:accent1>
        <a:srgbClr val="E0A458"/>
      </a:accent1>
      <a:accent2>
        <a:srgbClr val="B9CDE0"/>
      </a:accent2>
      <a:accent3>
        <a:srgbClr val="A4520F"/>
      </a:accent3>
      <a:accent4>
        <a:srgbClr val="2B2F36"/>
      </a:accent4>
      <a:accent5>
        <a:srgbClr val="5B6573"/>
      </a:accent5>
      <a:accent6>
        <a:srgbClr val="D6E2EE"/>
      </a:accent6>
      <a:hlink>
        <a:srgbClr val="0563C1"/>
      </a:hlink>
      <a:folHlink>
        <a:srgbClr val="954F72"/>
      </a:folHlink>
    </a:clrScheme>
    <a:fontScheme name="Tech Track Promotion: VP Assessm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Track Promotion: VP Assessment</dc:title>
  <dc:subject/>
  <dc:creator/>
  <cp:lastModifiedBy/>
  <cp:revision>1</cp:revision>
  <dcterms:created xsi:type="dcterms:W3CDTF">2026-10-11T11:23:51Z</dcterms:created>
  <dcterms:modified xsi:type="dcterms:W3CDTF">2026-10-11T11:23:51Z</dcterms:modified>
</cp:coreProperties>
</file>